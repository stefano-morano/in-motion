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57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26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792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the team and the one-line pitch: a personalized meditation experience built from particles.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purpose, the setting, where the installation lives, and how emotion is captured without a questionnaire.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concept of the mandala and why it grounds the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agent framework: perception, knowledge, rationality, action. This is the outline for the rest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end to end: world, perception, rationality and knowledge, action. Emphasize it's a single local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eye opening ratio and the empirically measured blink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Russell face algorithm plus how Claude extends it for humor, lies, and shyness.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Whisper voice capture, the nose-based gesture signal, and why the audio streams stay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ten-state machine end to end, from Welcome to Final Feedback, and the restart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a generated phrase becomes a cached array of particle positions: rendered to an offscreen canvas, thresholded, sampled, scaled and centered.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particles are anchored to the 478-landmark face mesh via a fixed triangle and barycentric coordinates, so each particle always lives at the same relative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three particle forces: seek, repulsion, swarm. Open with the Reeves 1982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iso principle and how Q1-Q4 map to musical descent.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Transformer-VAE architecture and why a VAE preserves musical material while changing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 from MIDI selection to rendered stereo audio.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mandala image generation: particle counts, resolution, and how the narrative and duration shape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web porting effort and the two core frameworks: Firebase and Uvicorn.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login screen and explain the Firebase auth cache check plus the two sign-in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registration screen and explain that the answers are used to personalize the meditation via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core app screen and emphasize the minimal, low-friction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for every sequence, the system generates a short text from the particle narrative and reads it aloud via text-to-speech.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session calendar and the per-session valence/arousal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design challenge of classifying emotion: why external sensors were rejected, and how facial recognition plus storytelling, elaborated by Claude, solved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talk, thank the audience, and open the floor to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rcRect/>
          <a:stretch/>
        </p:blipFill>
        <p:spPr>
          <a:xfrm>
            <a:off x="9525000" y="-95250"/>
            <a:ext cx="10477500" cy="10477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5070D">
                  <a:alpha val="100000"/>
                </a:srgbClr>
              </a:gs>
              <a:gs pos="38000">
                <a:srgbClr val="05070D">
                  <a:alpha val="100000"/>
                </a:srgbClr>
              </a:gs>
              <a:gs pos="62000">
                <a:srgbClr val="05070D">
                  <a:alpha val="55000"/>
                </a:srgbClr>
              </a:gs>
              <a:gs pos="100000">
                <a:srgbClr val="05070D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1047750" y="762000"/>
            <a:ext cx="19745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504" dirty="0">
                <a:solidFill>
                  <a:srgbClr val="62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IN‑MOTION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47750" y="3810000"/>
            <a:ext cx="102679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PERSONALIZED MEDITATION EXPERIENCE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4338638"/>
            <a:ext cx="9614535" cy="1939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353"/>
              </a:lnSpc>
              <a:buNone/>
            </a:pPr>
            <a:r>
              <a:rPr lang="en-US" sz="7200" b="1" kern="0" spc="-72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Face, words, music and mandala.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1047750" y="6583412"/>
            <a:ext cx="79629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drawn from the same particles.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047750" y="9339263"/>
            <a:ext cx="807381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Hamin Jang · Alessandro Cupini · Stefano Morano · Aldo Pinelli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3364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58877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47750" y="1619250"/>
            <a:ext cx="769580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It’s For, and Where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1047750" y="3048000"/>
            <a:ext cx="7962900" cy="3105150"/>
          </a:xfrm>
          <a:prstGeom prst="roundRect">
            <a:avLst>
              <a:gd name="adj" fmla="val 6135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476375" y="3419475"/>
            <a:ext cx="78162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76375" y="3833812"/>
            <a:ext cx="731882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person a few minutes of attention to themselves — and return something entirely their own: the mandala.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277350" y="3048000"/>
            <a:ext cx="7962900" cy="3105150"/>
          </a:xfrm>
          <a:prstGeom prst="roundRect">
            <a:avLst>
              <a:gd name="adj" fmla="val 6135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705975" y="3419475"/>
            <a:ext cx="78162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05975" y="3833812"/>
            <a:ext cx="731882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and individual. A quiet, dimly lit room — not an installation for crowds.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047750" y="6419850"/>
            <a:ext cx="7962900" cy="3105150"/>
          </a:xfrm>
          <a:prstGeom prst="roundRect">
            <a:avLst>
              <a:gd name="adj" fmla="val 6135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476375" y="6791325"/>
            <a:ext cx="78162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76375" y="7205663"/>
            <a:ext cx="731882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Decompression spaces: museums, wellness centers, trade fairs, quiet corners of companies and universities.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277350" y="6419850"/>
            <a:ext cx="7962900" cy="3105150"/>
          </a:xfrm>
          <a:prstGeom prst="roundRect">
            <a:avLst>
              <a:gd name="adj" fmla="val 6135"/>
            </a:avLst>
          </a:prstGeom>
          <a:solidFill>
            <a:srgbClr val="171D33"/>
          </a:solidFill>
          <a:ln w="9525">
            <a:solidFill>
              <a:srgbClr val="7EC9E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9705975" y="6791325"/>
            <a:ext cx="78162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EMOTION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05975" y="7205663"/>
            <a:ext cx="7318820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questionnaire. The person speaks freely, eyes closed. Whisper transcribes locally — facial recognition from </a:t>
            </a:r>
            <a:r>
              <a:rPr lang="en-US" sz="2025" dirty="0" err="1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</a:t>
            </a:r>
            <a:r>
              <a:rPr lang="en-US" sz="202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coordinates — Claude derives the phrases, the mandala’s character, and the emotion that guides the music.</a:t>
            </a:r>
            <a:endParaRPr lang="en-US" sz="2025" dirty="0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B03DBB19-4CF4-F214-F318-3E4EFA5CD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3364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58877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47750" y="1619250"/>
            <a:ext cx="485746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Mandala</a:t>
            </a:r>
            <a:endParaRPr lang="en-US" sz="5100" dirty="0"/>
          </a:p>
        </p:txBody>
      </p:sp>
      <p:sp>
        <p:nvSpPr>
          <p:cNvPr id="6" name="Text 4"/>
          <p:cNvSpPr/>
          <p:nvPr/>
        </p:nvSpPr>
        <p:spPr>
          <a:xfrm>
            <a:off x="1047750" y="3143250"/>
            <a:ext cx="8829675" cy="992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Sanskrit, </a:t>
            </a:r>
            <a:r>
              <a:rPr lang="en-US" sz="24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mandala </a:t>
            </a:r>
            <a:r>
              <a:rPr lang="en-US" sz="24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 “circle” — and by extension, “world.” A deeper reading makes it a container of essence.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47750" y="4440436"/>
            <a:ext cx="8829675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an ornament. It is a map you enter mentally, moving toward the center — only to see it destroyed at the end. Even attachment to what is beautiful produces suffering.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47750" y="6200477"/>
            <a:ext cx="8829675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follows the same path: your face breaks apart, becomes words, then a mandala. In the end, it’s you who lets it go — by moving your head.</a:t>
            </a:r>
            <a:endParaRPr lang="en-US" sz="2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11000" y="2190750"/>
            <a:ext cx="5905500" cy="590550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A9CD658-DAFE-3DFF-219B-17325AD36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3364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58877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47750" y="1619250"/>
            <a:ext cx="941665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System Is an Agent</a:t>
            </a:r>
            <a:endParaRPr lang="en-US" sz="5100" dirty="0"/>
          </a:p>
        </p:txBody>
      </p:sp>
      <p:sp>
        <p:nvSpPr>
          <p:cNvPr id="6" name="Text 4"/>
          <p:cNvSpPr/>
          <p:nvPr/>
        </p:nvSpPr>
        <p:spPr>
          <a:xfrm>
            <a:off x="1047750" y="2514600"/>
            <a:ext cx="94736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design dimensions of an agent are also the outline of this talk.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047750" y="3352800"/>
            <a:ext cx="426434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3786188"/>
            <a:ext cx="426434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perceives the world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4334768"/>
            <a:ext cx="3876675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047750" y="4572893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Webcam · 478 landmarks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47750" y="5098628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 · Whisper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7750" y="5624364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opening, gesture energy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53025" y="3352800"/>
            <a:ext cx="426434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53025" y="3786188"/>
            <a:ext cx="399297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knows about itself and the environment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53025" y="4654748"/>
            <a:ext cx="3876675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153025" y="4892873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transcribed narrative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53025" y="5418609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 classified Q1–Q4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53025" y="5944344"/>
            <a:ext cx="3992975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Phrases, color and shape of the mandala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58300" y="3352800"/>
            <a:ext cx="426434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58300" y="3786188"/>
            <a:ext cx="426434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 that decides what to do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58300" y="4334768"/>
            <a:ext cx="3876675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258300" y="4572893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12-state state machine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58300" y="5098628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confirmation thresholds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58300" y="5624364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nets on every gesture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363575" y="3352800"/>
            <a:ext cx="426434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363575" y="3786188"/>
            <a:ext cx="426434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influences the environment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363575" y="4334768"/>
            <a:ext cx="3876675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3363575" y="4572893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13,664 particles 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363575" y="5098628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generated from the emotion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363575" y="5624364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mandala as an image</a:t>
            </a:r>
            <a:endParaRPr lang="en-US" sz="1800" dirty="0"/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6B2E899A-500E-1675-1015-100B5526F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3364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58877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19534" y="1534048"/>
            <a:ext cx="80962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5100" dirty="0"/>
          </a:p>
        </p:txBody>
      </p:sp>
      <p:grpSp>
        <p:nvGrpSpPr>
          <p:cNvPr id="85" name="Gruppo 84">
            <a:extLst>
              <a:ext uri="{FF2B5EF4-FFF2-40B4-BE49-F238E27FC236}">
                <a16:creationId xmlns:a16="http://schemas.microsoft.com/office/drawing/2014/main" id="{60CC9F44-D6EB-6D50-63AE-848E05EC359B}"/>
              </a:ext>
            </a:extLst>
          </p:cNvPr>
          <p:cNvGrpSpPr/>
          <p:nvPr/>
        </p:nvGrpSpPr>
        <p:grpSpPr>
          <a:xfrm>
            <a:off x="1609144" y="2741015"/>
            <a:ext cx="14836804" cy="6495751"/>
            <a:chOff x="3040380" y="3471220"/>
            <a:chExt cx="11247120" cy="4105656"/>
          </a:xfrm>
        </p:grpSpPr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16BF9A7C-BBA9-CFF5-0010-AA11D94C7D50}"/>
                </a:ext>
              </a:extLst>
            </p:cNvPr>
            <p:cNvSpPr txBox="1"/>
            <p:nvPr/>
          </p:nvSpPr>
          <p:spPr>
            <a:xfrm>
              <a:off x="3040380" y="3571804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100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WORLD</a:t>
              </a:r>
              <a:endParaRPr lang="en-US" sz="10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0AAF5CA2-7BEC-D00A-BA09-B93CDFBD8C47}"/>
                </a:ext>
              </a:extLst>
            </p:cNvPr>
            <p:cNvSpPr txBox="1"/>
            <p:nvPr/>
          </p:nvSpPr>
          <p:spPr>
            <a:xfrm>
              <a:off x="5097780" y="3571804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100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PERCEPTION</a:t>
              </a:r>
              <a:endParaRPr lang="en-US" sz="1000" dirty="0"/>
            </a:p>
          </p:txBody>
        </p:sp>
        <p:sp>
          <p:nvSpPr>
            <p:cNvPr id="27" name="Text 4">
              <a:extLst>
                <a:ext uri="{FF2B5EF4-FFF2-40B4-BE49-F238E27FC236}">
                  <a16:creationId xmlns:a16="http://schemas.microsoft.com/office/drawing/2014/main" id="{F897FC3B-30CE-3FC6-D1DF-3D0A63AC9759}"/>
                </a:ext>
              </a:extLst>
            </p:cNvPr>
            <p:cNvSpPr txBox="1"/>
            <p:nvPr/>
          </p:nvSpPr>
          <p:spPr>
            <a:xfrm>
              <a:off x="7932420" y="3571804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100" dirty="0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RATIONALITY · KNOWLEDGE</a:t>
              </a:r>
              <a:endParaRPr lang="en-US" sz="1000" dirty="0"/>
            </a:p>
          </p:txBody>
        </p:sp>
        <p:sp>
          <p:nvSpPr>
            <p:cNvPr id="28" name="Text 5">
              <a:extLst>
                <a:ext uri="{FF2B5EF4-FFF2-40B4-BE49-F238E27FC236}">
                  <a16:creationId xmlns:a16="http://schemas.microsoft.com/office/drawing/2014/main" id="{FCE2F67C-02DE-FCC2-B66E-F3C68BE935E9}"/>
                </a:ext>
              </a:extLst>
            </p:cNvPr>
            <p:cNvSpPr txBox="1"/>
            <p:nvPr/>
          </p:nvSpPr>
          <p:spPr>
            <a:xfrm>
              <a:off x="10858500" y="3571804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100" dirty="0">
                  <a:solidFill>
                    <a:srgbClr val="C9A0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ACTION</a:t>
              </a:r>
              <a:endParaRPr lang="en-US" sz="1000" dirty="0"/>
            </a:p>
          </p:txBody>
        </p:sp>
        <p:sp>
          <p:nvSpPr>
            <p:cNvPr id="29" name="Shape 6">
              <a:extLst>
                <a:ext uri="{FF2B5EF4-FFF2-40B4-BE49-F238E27FC236}">
                  <a16:creationId xmlns:a16="http://schemas.microsoft.com/office/drawing/2014/main" id="{FACA6BD4-551C-4877-9DEF-743D4C526D9D}"/>
                </a:ext>
              </a:extLst>
            </p:cNvPr>
            <p:cNvSpPr/>
            <p:nvPr/>
          </p:nvSpPr>
          <p:spPr>
            <a:xfrm>
              <a:off x="3040380" y="3919276"/>
              <a:ext cx="1600200" cy="914400"/>
            </a:xfrm>
            <a:prstGeom prst="roundRect">
              <a:avLst>
                <a:gd name="adj" fmla="val 5000"/>
              </a:avLst>
            </a:prstGeom>
            <a:solidFill>
              <a:srgbClr val="141B33"/>
            </a:solidFill>
            <a:ln w="15875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30" name="Text 7">
              <a:extLst>
                <a:ext uri="{FF2B5EF4-FFF2-40B4-BE49-F238E27FC236}">
                  <a16:creationId xmlns:a16="http://schemas.microsoft.com/office/drawing/2014/main" id="{AA21509C-CE76-98CB-0CD0-45BECB999C25}"/>
                </a:ext>
              </a:extLst>
            </p:cNvPr>
            <p:cNvSpPr txBox="1"/>
            <p:nvPr/>
          </p:nvSpPr>
          <p:spPr>
            <a:xfrm>
              <a:off x="3095244" y="4038148"/>
              <a:ext cx="149047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Webcam</a:t>
              </a:r>
              <a:endParaRPr lang="en-US" sz="1200" dirty="0"/>
            </a:p>
          </p:txBody>
        </p:sp>
        <p:sp>
          <p:nvSpPr>
            <p:cNvPr id="31" name="Text 8">
              <a:extLst>
                <a:ext uri="{FF2B5EF4-FFF2-40B4-BE49-F238E27FC236}">
                  <a16:creationId xmlns:a16="http://schemas.microsoft.com/office/drawing/2014/main" id="{E3B63161-DEE5-61F4-A3DE-D7799DD7E274}"/>
                </a:ext>
              </a:extLst>
            </p:cNvPr>
            <p:cNvSpPr txBox="1"/>
            <p:nvPr/>
          </p:nvSpPr>
          <p:spPr>
            <a:xfrm>
              <a:off x="3095244" y="4339900"/>
              <a:ext cx="149047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30 fps</a:t>
              </a:r>
              <a:endParaRPr lang="en-US" sz="950" dirty="0"/>
            </a:p>
          </p:txBody>
        </p:sp>
        <p:sp>
          <p:nvSpPr>
            <p:cNvPr id="32" name="Shape 9">
              <a:extLst>
                <a:ext uri="{FF2B5EF4-FFF2-40B4-BE49-F238E27FC236}">
                  <a16:creationId xmlns:a16="http://schemas.microsoft.com/office/drawing/2014/main" id="{63D0B75F-569E-03A2-29CB-752C2F33028D}"/>
                </a:ext>
              </a:extLst>
            </p:cNvPr>
            <p:cNvSpPr/>
            <p:nvPr/>
          </p:nvSpPr>
          <p:spPr>
            <a:xfrm>
              <a:off x="3040380" y="6022396"/>
              <a:ext cx="1600200" cy="914400"/>
            </a:xfrm>
            <a:prstGeom prst="roundRect">
              <a:avLst>
                <a:gd name="adj" fmla="val 5000"/>
              </a:avLst>
            </a:prstGeom>
            <a:solidFill>
              <a:srgbClr val="141B33"/>
            </a:solidFill>
            <a:ln w="15875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33" name="Text 10">
              <a:extLst>
                <a:ext uri="{FF2B5EF4-FFF2-40B4-BE49-F238E27FC236}">
                  <a16:creationId xmlns:a16="http://schemas.microsoft.com/office/drawing/2014/main" id="{B4E06157-46F2-939D-CEAF-F4DADEBC6B45}"/>
                </a:ext>
              </a:extLst>
            </p:cNvPr>
            <p:cNvSpPr txBox="1"/>
            <p:nvPr/>
          </p:nvSpPr>
          <p:spPr>
            <a:xfrm>
              <a:off x="3095244" y="6141268"/>
              <a:ext cx="149047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Microphone</a:t>
              </a:r>
              <a:endParaRPr lang="en-US" sz="1200" dirty="0"/>
            </a:p>
          </p:txBody>
        </p:sp>
        <p:sp>
          <p:nvSpPr>
            <p:cNvPr id="34" name="Text 11">
              <a:extLst>
                <a:ext uri="{FF2B5EF4-FFF2-40B4-BE49-F238E27FC236}">
                  <a16:creationId xmlns:a16="http://schemas.microsoft.com/office/drawing/2014/main" id="{F1DD229D-6B78-E856-0513-4304DBC227F8}"/>
                </a:ext>
              </a:extLst>
            </p:cNvPr>
            <p:cNvSpPr txBox="1"/>
            <p:nvPr/>
          </p:nvSpPr>
          <p:spPr>
            <a:xfrm>
              <a:off x="3095244" y="6443020"/>
              <a:ext cx="149047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 kHz mono</a:t>
              </a:r>
              <a:endParaRPr lang="en-US" sz="950" dirty="0"/>
            </a:p>
          </p:txBody>
        </p:sp>
        <p:sp>
          <p:nvSpPr>
            <p:cNvPr id="35" name="Shape 12">
              <a:extLst>
                <a:ext uri="{FF2B5EF4-FFF2-40B4-BE49-F238E27FC236}">
                  <a16:creationId xmlns:a16="http://schemas.microsoft.com/office/drawing/2014/main" id="{8A14DA4A-981E-EB8E-560F-CF978016296C}"/>
                </a:ext>
              </a:extLst>
            </p:cNvPr>
            <p:cNvSpPr/>
            <p:nvPr/>
          </p:nvSpPr>
          <p:spPr>
            <a:xfrm>
              <a:off x="5097780" y="3919276"/>
              <a:ext cx="2331720" cy="914400"/>
            </a:xfrm>
            <a:prstGeom prst="roundRect">
              <a:avLst>
                <a:gd name="adj" fmla="val 5000"/>
              </a:avLst>
            </a:prstGeom>
            <a:solidFill>
              <a:srgbClr val="141B33"/>
            </a:solidFill>
            <a:ln w="15875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36" name="Text 13">
              <a:extLst>
                <a:ext uri="{FF2B5EF4-FFF2-40B4-BE49-F238E27FC236}">
                  <a16:creationId xmlns:a16="http://schemas.microsoft.com/office/drawing/2014/main" id="{CE6943D3-E520-C512-82CF-51A4C04354F3}"/>
                </a:ext>
              </a:extLst>
            </p:cNvPr>
            <p:cNvSpPr txBox="1"/>
            <p:nvPr/>
          </p:nvSpPr>
          <p:spPr>
            <a:xfrm>
              <a:off x="5152644" y="4038148"/>
              <a:ext cx="222199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volto.py</a:t>
              </a:r>
              <a:endParaRPr lang="en-US" sz="1200" dirty="0"/>
            </a:p>
          </p:txBody>
        </p:sp>
        <p:sp>
          <p:nvSpPr>
            <p:cNvPr id="37" name="Text 14">
              <a:extLst>
                <a:ext uri="{FF2B5EF4-FFF2-40B4-BE49-F238E27FC236}">
                  <a16:creationId xmlns:a16="http://schemas.microsoft.com/office/drawing/2014/main" id="{41A7B17A-DFF1-A504-F02D-2FF25B165E70}"/>
                </a:ext>
              </a:extLst>
            </p:cNvPr>
            <p:cNvSpPr txBox="1"/>
            <p:nvPr/>
          </p:nvSpPr>
          <p:spPr>
            <a:xfrm>
              <a:off x="5152644" y="4339900"/>
              <a:ext cx="22219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MediaPipe · 478 landmarks</a:t>
              </a:r>
              <a:endParaRPr lang="en-US" sz="950" dirty="0"/>
            </a:p>
          </p:txBody>
        </p:sp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1A483C88-216A-5D99-79C3-3A14F3619679}"/>
                </a:ext>
              </a:extLst>
            </p:cNvPr>
            <p:cNvSpPr/>
            <p:nvPr/>
          </p:nvSpPr>
          <p:spPr>
            <a:xfrm>
              <a:off x="5097780" y="4970836"/>
              <a:ext cx="2331720" cy="914400"/>
            </a:xfrm>
            <a:prstGeom prst="roundRect">
              <a:avLst>
                <a:gd name="adj" fmla="val 5000"/>
              </a:avLst>
            </a:prstGeom>
            <a:solidFill>
              <a:srgbClr val="141B33"/>
            </a:solidFill>
            <a:ln w="15875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EB0234BE-6B3B-1DDD-34E9-A2C82F3D1B2C}"/>
                </a:ext>
              </a:extLst>
            </p:cNvPr>
            <p:cNvSpPr txBox="1"/>
            <p:nvPr/>
          </p:nvSpPr>
          <p:spPr>
            <a:xfrm>
              <a:off x="5152644" y="5089708"/>
              <a:ext cx="222199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occhi.py · movimento.py</a:t>
              </a:r>
              <a:endParaRPr lang="en-US" sz="1100" dirty="0"/>
            </a:p>
          </p:txBody>
        </p:sp>
        <p:sp>
          <p:nvSpPr>
            <p:cNvPr id="40" name="Text 17">
              <a:extLst>
                <a:ext uri="{FF2B5EF4-FFF2-40B4-BE49-F238E27FC236}">
                  <a16:creationId xmlns:a16="http://schemas.microsoft.com/office/drawing/2014/main" id="{F60FECD8-E45A-5AE9-FED4-22D72B63100C}"/>
                </a:ext>
              </a:extLst>
            </p:cNvPr>
            <p:cNvSpPr txBox="1"/>
            <p:nvPr/>
          </p:nvSpPr>
          <p:spPr>
            <a:xfrm>
              <a:off x="5152644" y="5391460"/>
              <a:ext cx="22219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eye opening · energy of the gesture</a:t>
              </a:r>
              <a:endParaRPr lang="en-US" sz="950" dirty="0"/>
            </a:p>
          </p:txBody>
        </p:sp>
        <p:sp>
          <p:nvSpPr>
            <p:cNvPr id="41" name="Shape 18">
              <a:extLst>
                <a:ext uri="{FF2B5EF4-FFF2-40B4-BE49-F238E27FC236}">
                  <a16:creationId xmlns:a16="http://schemas.microsoft.com/office/drawing/2014/main" id="{D15CD6D5-8077-4DB5-8FE8-817DFC47FF2C}"/>
                </a:ext>
              </a:extLst>
            </p:cNvPr>
            <p:cNvSpPr/>
            <p:nvPr/>
          </p:nvSpPr>
          <p:spPr>
            <a:xfrm>
              <a:off x="5097780" y="6022396"/>
              <a:ext cx="2331720" cy="914400"/>
            </a:xfrm>
            <a:prstGeom prst="roundRect">
              <a:avLst>
                <a:gd name="adj" fmla="val 5000"/>
              </a:avLst>
            </a:prstGeom>
            <a:solidFill>
              <a:srgbClr val="141B33"/>
            </a:solidFill>
            <a:ln w="15875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42" name="Text 19">
              <a:extLst>
                <a:ext uri="{FF2B5EF4-FFF2-40B4-BE49-F238E27FC236}">
                  <a16:creationId xmlns:a16="http://schemas.microsoft.com/office/drawing/2014/main" id="{A4221BBA-AE25-47B5-9E04-56DB4DE7ED97}"/>
                </a:ext>
              </a:extLst>
            </p:cNvPr>
            <p:cNvSpPr txBox="1"/>
            <p:nvPr/>
          </p:nvSpPr>
          <p:spPr>
            <a:xfrm>
              <a:off x="5152644" y="6141268"/>
              <a:ext cx="222199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ascolto.py</a:t>
              </a:r>
              <a:endParaRPr lang="en-US" sz="1200" dirty="0"/>
            </a:p>
          </p:txBody>
        </p:sp>
        <p:sp>
          <p:nvSpPr>
            <p:cNvPr id="43" name="Text 20">
              <a:extLst>
                <a:ext uri="{FF2B5EF4-FFF2-40B4-BE49-F238E27FC236}">
                  <a16:creationId xmlns:a16="http://schemas.microsoft.com/office/drawing/2014/main" id="{74BDE773-3811-E545-B9EE-F2E4B83758B7}"/>
                </a:ext>
              </a:extLst>
            </p:cNvPr>
            <p:cNvSpPr txBox="1"/>
            <p:nvPr/>
          </p:nvSpPr>
          <p:spPr>
            <a:xfrm>
              <a:off x="5152644" y="6443020"/>
              <a:ext cx="22219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Whisper, local</a:t>
              </a:r>
              <a:endParaRPr lang="en-US" sz="950" dirty="0"/>
            </a:p>
          </p:txBody>
        </p:sp>
        <p:sp>
          <p:nvSpPr>
            <p:cNvPr id="44" name="Shape 21">
              <a:extLst>
                <a:ext uri="{FF2B5EF4-FFF2-40B4-BE49-F238E27FC236}">
                  <a16:creationId xmlns:a16="http://schemas.microsoft.com/office/drawing/2014/main" id="{CBD51D50-E4F5-CB91-8A98-1BCC2FF64162}"/>
                </a:ext>
              </a:extLst>
            </p:cNvPr>
            <p:cNvSpPr/>
            <p:nvPr/>
          </p:nvSpPr>
          <p:spPr>
            <a:xfrm>
              <a:off x="7932420" y="3919276"/>
              <a:ext cx="2423160" cy="1600200"/>
            </a:xfrm>
            <a:prstGeom prst="roundRect">
              <a:avLst>
                <a:gd name="adj" fmla="val 2857"/>
              </a:avLst>
            </a:prstGeom>
            <a:solidFill>
              <a:srgbClr val="141B33"/>
            </a:solidFill>
            <a:ln w="15875">
              <a:solidFill>
                <a:srgbClr val="E8B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45" name="Text 22">
              <a:extLst>
                <a:ext uri="{FF2B5EF4-FFF2-40B4-BE49-F238E27FC236}">
                  <a16:creationId xmlns:a16="http://schemas.microsoft.com/office/drawing/2014/main" id="{D95EF302-E70D-0E73-87C0-4317F5EBD7E4}"/>
                </a:ext>
              </a:extLst>
            </p:cNvPr>
            <p:cNvSpPr txBox="1"/>
            <p:nvPr/>
          </p:nvSpPr>
          <p:spPr>
            <a:xfrm>
              <a:off x="7987284" y="4038148"/>
              <a:ext cx="231343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esperienza.py</a:t>
              </a:r>
              <a:endParaRPr lang="en-US" sz="1400" dirty="0"/>
            </a:p>
          </p:txBody>
        </p:sp>
        <p:sp>
          <p:nvSpPr>
            <p:cNvPr id="46" name="Text 23">
              <a:extLst>
                <a:ext uri="{FF2B5EF4-FFF2-40B4-BE49-F238E27FC236}">
                  <a16:creationId xmlns:a16="http://schemas.microsoft.com/office/drawing/2014/main" id="{CFDD744E-9707-EF20-D454-CDF58B051A26}"/>
                </a:ext>
              </a:extLst>
            </p:cNvPr>
            <p:cNvSpPr txBox="1"/>
            <p:nvPr/>
          </p:nvSpPr>
          <p:spPr>
            <a:xfrm>
              <a:off x="7987284" y="4339900"/>
              <a:ext cx="2313432" cy="10698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state machine</a:t>
              </a:r>
              <a:endParaRPr lang="en-US" sz="9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 states · never blocking</a:t>
              </a:r>
              <a:endParaRPr lang="en-US" sz="950" dirty="0"/>
            </a:p>
          </p:txBody>
        </p:sp>
        <p:sp>
          <p:nvSpPr>
            <p:cNvPr id="47" name="Shape 24">
              <a:extLst>
                <a:ext uri="{FF2B5EF4-FFF2-40B4-BE49-F238E27FC236}">
                  <a16:creationId xmlns:a16="http://schemas.microsoft.com/office/drawing/2014/main" id="{6BC6FCC0-B290-635B-461A-08D7D6F3FD2A}"/>
                </a:ext>
              </a:extLst>
            </p:cNvPr>
            <p:cNvSpPr/>
            <p:nvPr/>
          </p:nvSpPr>
          <p:spPr>
            <a:xfrm>
              <a:off x="7932420" y="5702356"/>
              <a:ext cx="2423160" cy="1371600"/>
            </a:xfrm>
            <a:prstGeom prst="roundRect">
              <a:avLst>
                <a:gd name="adj" fmla="val 3333"/>
              </a:avLst>
            </a:prstGeom>
            <a:solidFill>
              <a:srgbClr val="141B33"/>
            </a:solidFill>
            <a:ln w="15875">
              <a:solidFill>
                <a:srgbClr val="E8B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48" name="Text 25">
              <a:extLst>
                <a:ext uri="{FF2B5EF4-FFF2-40B4-BE49-F238E27FC236}">
                  <a16:creationId xmlns:a16="http://schemas.microsoft.com/office/drawing/2014/main" id="{EB949782-D684-A96C-221F-9C8A5B5D247B}"/>
                </a:ext>
              </a:extLst>
            </p:cNvPr>
            <p:cNvSpPr txBox="1"/>
            <p:nvPr/>
          </p:nvSpPr>
          <p:spPr>
            <a:xfrm>
              <a:off x="7987284" y="5821228"/>
              <a:ext cx="231343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testi.py  →  Claude</a:t>
              </a:r>
              <a:endParaRPr lang="en-US" sz="1300" dirty="0"/>
            </a:p>
          </p:txBody>
        </p:sp>
        <p:sp>
          <p:nvSpPr>
            <p:cNvPr id="49" name="Text 26">
              <a:extLst>
                <a:ext uri="{FF2B5EF4-FFF2-40B4-BE49-F238E27FC236}">
                  <a16:creationId xmlns:a16="http://schemas.microsoft.com/office/drawing/2014/main" id="{D0F6EBE2-A811-469B-678E-7F7EB96B885D}"/>
                </a:ext>
              </a:extLst>
            </p:cNvPr>
            <p:cNvSpPr txBox="1"/>
            <p:nvPr/>
          </p:nvSpPr>
          <p:spPr>
            <a:xfrm>
              <a:off x="7987284" y="6209159"/>
              <a:ext cx="2313432" cy="841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structured output</a:t>
              </a:r>
              <a:endParaRPr lang="en-US" sz="9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phrases · mandala · Q1-Q4</a:t>
              </a:r>
              <a:endParaRPr lang="en-US" sz="950" dirty="0"/>
            </a:p>
          </p:txBody>
        </p:sp>
        <p:sp>
          <p:nvSpPr>
            <p:cNvPr id="50" name="Shape 27">
              <a:extLst>
                <a:ext uri="{FF2B5EF4-FFF2-40B4-BE49-F238E27FC236}">
                  <a16:creationId xmlns:a16="http://schemas.microsoft.com/office/drawing/2014/main" id="{B455432F-AE5D-5B26-82A5-EE8E32224A90}"/>
                </a:ext>
              </a:extLst>
            </p:cNvPr>
            <p:cNvSpPr/>
            <p:nvPr/>
          </p:nvSpPr>
          <p:spPr>
            <a:xfrm>
              <a:off x="10858500" y="3919276"/>
              <a:ext cx="1965960" cy="1097280"/>
            </a:xfrm>
            <a:prstGeom prst="roundRect">
              <a:avLst>
                <a:gd name="adj" fmla="val 4167"/>
              </a:avLst>
            </a:prstGeom>
            <a:solidFill>
              <a:srgbClr val="141B33"/>
            </a:solidFill>
            <a:ln w="15875">
              <a:solidFill>
                <a:srgbClr val="C9A0D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1" name="Text 28">
              <a:extLst>
                <a:ext uri="{FF2B5EF4-FFF2-40B4-BE49-F238E27FC236}">
                  <a16:creationId xmlns:a16="http://schemas.microsoft.com/office/drawing/2014/main" id="{24F2B1BB-3403-A16C-002F-17B6FD0E60C9}"/>
                </a:ext>
              </a:extLst>
            </p:cNvPr>
            <p:cNvSpPr txBox="1"/>
            <p:nvPr/>
          </p:nvSpPr>
          <p:spPr>
            <a:xfrm>
              <a:off x="10913364" y="4038148"/>
              <a:ext cx="185623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C9A0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scena.py</a:t>
              </a:r>
              <a:endParaRPr lang="en-US" sz="1200" dirty="0"/>
            </a:p>
          </p:txBody>
        </p:sp>
        <p:sp>
          <p:nvSpPr>
            <p:cNvPr id="52" name="Text 29">
              <a:extLst>
                <a:ext uri="{FF2B5EF4-FFF2-40B4-BE49-F238E27FC236}">
                  <a16:creationId xmlns:a16="http://schemas.microsoft.com/office/drawing/2014/main" id="{8E21AF31-4A11-A14A-8CFC-D74BE4828BAF}"/>
                </a:ext>
              </a:extLst>
            </p:cNvPr>
            <p:cNvSpPr txBox="1"/>
            <p:nvPr/>
          </p:nvSpPr>
          <p:spPr>
            <a:xfrm>
              <a:off x="10913364" y="4339900"/>
              <a:ext cx="185623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/prepare /scene</a:t>
              </a:r>
              <a:endParaRPr lang="en-US" sz="9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/mandala</a:t>
              </a:r>
              <a:endParaRPr lang="en-US" sz="950" dirty="0"/>
            </a:p>
          </p:txBody>
        </p:sp>
        <p:sp>
          <p:nvSpPr>
            <p:cNvPr id="53" name="Shape 30">
              <a:extLst>
                <a:ext uri="{FF2B5EF4-FFF2-40B4-BE49-F238E27FC236}">
                  <a16:creationId xmlns:a16="http://schemas.microsoft.com/office/drawing/2014/main" id="{4D32C2EB-B760-C719-A7FA-779AF06DD721}"/>
                </a:ext>
              </a:extLst>
            </p:cNvPr>
            <p:cNvSpPr/>
            <p:nvPr/>
          </p:nvSpPr>
          <p:spPr>
            <a:xfrm>
              <a:off x="10858500" y="5199436"/>
              <a:ext cx="1965960" cy="1097280"/>
            </a:xfrm>
            <a:prstGeom prst="roundRect">
              <a:avLst>
                <a:gd name="adj" fmla="val 4167"/>
              </a:avLst>
            </a:prstGeom>
            <a:solidFill>
              <a:srgbClr val="141B33"/>
            </a:solidFill>
            <a:ln w="15875">
              <a:solidFill>
                <a:srgbClr val="C9A0D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4" name="Text 31">
              <a:extLst>
                <a:ext uri="{FF2B5EF4-FFF2-40B4-BE49-F238E27FC236}">
                  <a16:creationId xmlns:a16="http://schemas.microsoft.com/office/drawing/2014/main" id="{8CFA4A0E-CEF6-8773-C96B-D77AA6AE3F0C}"/>
                </a:ext>
              </a:extLst>
            </p:cNvPr>
            <p:cNvSpPr txBox="1"/>
            <p:nvPr/>
          </p:nvSpPr>
          <p:spPr>
            <a:xfrm>
              <a:off x="10913364" y="5318308"/>
              <a:ext cx="185623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C9A0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musica.py</a:t>
              </a:r>
              <a:endParaRPr lang="en-US" sz="1200" dirty="0"/>
            </a:p>
          </p:txBody>
        </p:sp>
        <p:sp>
          <p:nvSpPr>
            <p:cNvPr id="55" name="Text 32">
              <a:extLst>
                <a:ext uri="{FF2B5EF4-FFF2-40B4-BE49-F238E27FC236}">
                  <a16:creationId xmlns:a16="http://schemas.microsoft.com/office/drawing/2014/main" id="{C382F9AA-71AE-B125-6F49-739D89E0AF30}"/>
                </a:ext>
              </a:extLst>
            </p:cNvPr>
            <p:cNvSpPr txBox="1"/>
            <p:nvPr/>
          </p:nvSpPr>
          <p:spPr>
            <a:xfrm>
              <a:off x="10913364" y="5620060"/>
              <a:ext cx="185623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pad + track</a:t>
              </a:r>
              <a:endParaRPr lang="en-US" sz="950" dirty="0"/>
            </a:p>
          </p:txBody>
        </p:sp>
        <p:sp>
          <p:nvSpPr>
            <p:cNvPr id="56" name="Shape 33">
              <a:extLst>
                <a:ext uri="{FF2B5EF4-FFF2-40B4-BE49-F238E27FC236}">
                  <a16:creationId xmlns:a16="http://schemas.microsoft.com/office/drawing/2014/main" id="{48CBAC57-1474-6927-9A20-859AB4891DD0}"/>
                </a:ext>
              </a:extLst>
            </p:cNvPr>
            <p:cNvSpPr/>
            <p:nvPr/>
          </p:nvSpPr>
          <p:spPr>
            <a:xfrm>
              <a:off x="10858500" y="6479596"/>
              <a:ext cx="1965960" cy="1097280"/>
            </a:xfrm>
            <a:prstGeom prst="roundRect">
              <a:avLst>
                <a:gd name="adj" fmla="val 4167"/>
              </a:avLst>
            </a:prstGeom>
            <a:solidFill>
              <a:srgbClr val="141B33"/>
            </a:solidFill>
            <a:ln w="15875">
              <a:solidFill>
                <a:srgbClr val="C9A0D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7" name="Text 34">
              <a:extLst>
                <a:ext uri="{FF2B5EF4-FFF2-40B4-BE49-F238E27FC236}">
                  <a16:creationId xmlns:a16="http://schemas.microsoft.com/office/drawing/2014/main" id="{98CD5673-F7FB-09A8-FCC1-16EAC6CE8F6D}"/>
                </a:ext>
              </a:extLst>
            </p:cNvPr>
            <p:cNvSpPr txBox="1"/>
            <p:nvPr/>
          </p:nvSpPr>
          <p:spPr>
            <a:xfrm>
              <a:off x="10913364" y="6598468"/>
              <a:ext cx="185623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C9A0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mandala.py</a:t>
              </a:r>
              <a:endParaRPr lang="en-US" sz="1200" dirty="0"/>
            </a:p>
          </p:txBody>
        </p:sp>
        <p:sp>
          <p:nvSpPr>
            <p:cNvPr id="58" name="Text 35">
              <a:extLst>
                <a:ext uri="{FF2B5EF4-FFF2-40B4-BE49-F238E27FC236}">
                  <a16:creationId xmlns:a16="http://schemas.microsoft.com/office/drawing/2014/main" id="{730AA03E-2212-E3CC-52C1-235033480F78}"/>
                </a:ext>
              </a:extLst>
            </p:cNvPr>
            <p:cNvSpPr txBox="1"/>
            <p:nvPr/>
          </p:nvSpPr>
          <p:spPr>
            <a:xfrm>
              <a:off x="10913364" y="6900220"/>
              <a:ext cx="185623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PNG 2400 px</a:t>
              </a:r>
              <a:endParaRPr lang="en-US" sz="950" dirty="0"/>
            </a:p>
          </p:txBody>
        </p:sp>
        <p:sp>
          <p:nvSpPr>
            <p:cNvPr id="59" name="Shape 36">
              <a:extLst>
                <a:ext uri="{FF2B5EF4-FFF2-40B4-BE49-F238E27FC236}">
                  <a16:creationId xmlns:a16="http://schemas.microsoft.com/office/drawing/2014/main" id="{0B1E0DDB-C727-D7DB-EE65-F1C37DFA8AAA}"/>
                </a:ext>
              </a:extLst>
            </p:cNvPr>
            <p:cNvSpPr/>
            <p:nvPr/>
          </p:nvSpPr>
          <p:spPr>
            <a:xfrm>
              <a:off x="13327380" y="3919276"/>
              <a:ext cx="960120" cy="1097280"/>
            </a:xfrm>
            <a:prstGeom prst="roundRect">
              <a:avLst>
                <a:gd name="adj" fmla="val 4762"/>
              </a:avLst>
            </a:prstGeom>
            <a:solidFill>
              <a:srgbClr val="141B33"/>
            </a:solidFill>
            <a:ln w="15875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0" name="Text 37">
              <a:extLst>
                <a:ext uri="{FF2B5EF4-FFF2-40B4-BE49-F238E27FC236}">
                  <a16:creationId xmlns:a16="http://schemas.microsoft.com/office/drawing/2014/main" id="{30DDDF0C-FD72-58A5-054D-0317E5D3ED7D}"/>
                </a:ext>
              </a:extLst>
            </p:cNvPr>
            <p:cNvSpPr txBox="1"/>
            <p:nvPr/>
          </p:nvSpPr>
          <p:spPr>
            <a:xfrm>
              <a:off x="13382244" y="4038148"/>
              <a:ext cx="85039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 err="1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Three.js</a:t>
              </a:r>
              <a:endParaRPr lang="en-US" sz="1100" dirty="0"/>
            </a:p>
          </p:txBody>
        </p:sp>
        <p:sp>
          <p:nvSpPr>
            <p:cNvPr id="61" name="Text 38">
              <a:extLst>
                <a:ext uri="{FF2B5EF4-FFF2-40B4-BE49-F238E27FC236}">
                  <a16:creationId xmlns:a16="http://schemas.microsoft.com/office/drawing/2014/main" id="{EDDFC042-7C11-7388-EDFF-147134DAD8A5}"/>
                </a:ext>
              </a:extLst>
            </p:cNvPr>
            <p:cNvSpPr txBox="1"/>
            <p:nvPr/>
          </p:nvSpPr>
          <p:spPr>
            <a:xfrm>
              <a:off x="13382244" y="4339900"/>
              <a:ext cx="85039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13,664</a:t>
              </a:r>
              <a:endParaRPr lang="en-US" sz="9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particles</a:t>
              </a:r>
              <a:endParaRPr lang="en-US" sz="950" dirty="0"/>
            </a:p>
          </p:txBody>
        </p:sp>
        <p:sp>
          <p:nvSpPr>
            <p:cNvPr id="62" name="Shape 39">
              <a:extLst>
                <a:ext uri="{FF2B5EF4-FFF2-40B4-BE49-F238E27FC236}">
                  <a16:creationId xmlns:a16="http://schemas.microsoft.com/office/drawing/2014/main" id="{05281BA7-FC89-3C7F-46B9-FF68FA60EC1C}"/>
                </a:ext>
              </a:extLst>
            </p:cNvPr>
            <p:cNvSpPr/>
            <p:nvPr/>
          </p:nvSpPr>
          <p:spPr>
            <a:xfrm>
              <a:off x="13327380" y="5199436"/>
              <a:ext cx="960120" cy="1097280"/>
            </a:xfrm>
            <a:prstGeom prst="roundRect">
              <a:avLst>
                <a:gd name="adj" fmla="val 4762"/>
              </a:avLst>
            </a:prstGeom>
            <a:solidFill>
              <a:srgbClr val="141B33"/>
            </a:solidFill>
            <a:ln w="15875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3" name="Text 40">
              <a:extLst>
                <a:ext uri="{FF2B5EF4-FFF2-40B4-BE49-F238E27FC236}">
                  <a16:creationId xmlns:a16="http://schemas.microsoft.com/office/drawing/2014/main" id="{664818F1-3196-DCE0-5C53-99D4CE67F70C}"/>
                </a:ext>
              </a:extLst>
            </p:cNvPr>
            <p:cNvSpPr txBox="1"/>
            <p:nvPr/>
          </p:nvSpPr>
          <p:spPr>
            <a:xfrm>
              <a:off x="13382244" y="5318308"/>
              <a:ext cx="85039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audio</a:t>
              </a:r>
              <a:endParaRPr lang="en-US" sz="1100" dirty="0"/>
            </a:p>
          </p:txBody>
        </p:sp>
        <p:sp>
          <p:nvSpPr>
            <p:cNvPr id="64" name="Shape 41">
              <a:extLst>
                <a:ext uri="{FF2B5EF4-FFF2-40B4-BE49-F238E27FC236}">
                  <a16:creationId xmlns:a16="http://schemas.microsoft.com/office/drawing/2014/main" id="{354C3470-E274-64FF-DB98-388270B943F0}"/>
                </a:ext>
              </a:extLst>
            </p:cNvPr>
            <p:cNvSpPr/>
            <p:nvPr/>
          </p:nvSpPr>
          <p:spPr>
            <a:xfrm>
              <a:off x="13327380" y="6479596"/>
              <a:ext cx="960120" cy="1097280"/>
            </a:xfrm>
            <a:prstGeom prst="roundRect">
              <a:avLst>
                <a:gd name="adj" fmla="val 4762"/>
              </a:avLst>
            </a:prstGeom>
            <a:solidFill>
              <a:srgbClr val="141B33"/>
            </a:solidFill>
            <a:ln w="15875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5" name="Text 42">
              <a:extLst>
                <a:ext uri="{FF2B5EF4-FFF2-40B4-BE49-F238E27FC236}">
                  <a16:creationId xmlns:a16="http://schemas.microsoft.com/office/drawing/2014/main" id="{43A27C78-6535-04C8-C47B-9106B0829228}"/>
                </a:ext>
              </a:extLst>
            </p:cNvPr>
            <p:cNvSpPr txBox="1"/>
            <p:nvPr/>
          </p:nvSpPr>
          <p:spPr>
            <a:xfrm>
              <a:off x="13382244" y="6598468"/>
              <a:ext cx="85039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image</a:t>
              </a:r>
              <a:endParaRPr lang="en-US" sz="1000" dirty="0"/>
            </a:p>
          </p:txBody>
        </p:sp>
        <p:sp>
          <p:nvSpPr>
            <p:cNvPr id="66" name="Shape 43">
              <a:extLst>
                <a:ext uri="{FF2B5EF4-FFF2-40B4-BE49-F238E27FC236}">
                  <a16:creationId xmlns:a16="http://schemas.microsoft.com/office/drawing/2014/main" id="{2E04FB26-1B4E-03A3-CC62-849930B8DCFD}"/>
                </a:ext>
              </a:extLst>
            </p:cNvPr>
            <p:cNvSpPr/>
            <p:nvPr/>
          </p:nvSpPr>
          <p:spPr>
            <a:xfrm>
              <a:off x="4640580" y="4376476"/>
              <a:ext cx="457200" cy="0"/>
            </a:xfrm>
            <a:prstGeom prst="line">
              <a:avLst/>
            </a:prstGeom>
            <a:noFill/>
            <a:ln w="1778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7" name="Shape 44">
              <a:extLst>
                <a:ext uri="{FF2B5EF4-FFF2-40B4-BE49-F238E27FC236}">
                  <a16:creationId xmlns:a16="http://schemas.microsoft.com/office/drawing/2014/main" id="{A3BD9256-26EF-7FD7-0B2A-7E206E9CB593}"/>
                </a:ext>
              </a:extLst>
            </p:cNvPr>
            <p:cNvSpPr/>
            <p:nvPr/>
          </p:nvSpPr>
          <p:spPr>
            <a:xfrm>
              <a:off x="4640580" y="6479596"/>
              <a:ext cx="457200" cy="0"/>
            </a:xfrm>
            <a:prstGeom prst="line">
              <a:avLst/>
            </a:prstGeom>
            <a:noFill/>
            <a:ln w="1778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8" name="Shape 45">
              <a:extLst>
                <a:ext uri="{FF2B5EF4-FFF2-40B4-BE49-F238E27FC236}">
                  <a16:creationId xmlns:a16="http://schemas.microsoft.com/office/drawing/2014/main" id="{481F2936-0881-F321-C5AB-C10CF69A1B8B}"/>
                </a:ext>
              </a:extLst>
            </p:cNvPr>
            <p:cNvSpPr/>
            <p:nvPr/>
          </p:nvSpPr>
          <p:spPr>
            <a:xfrm>
              <a:off x="6259068" y="4833676"/>
              <a:ext cx="0" cy="137160"/>
            </a:xfrm>
            <a:prstGeom prst="line">
              <a:avLst/>
            </a:prstGeom>
            <a:noFill/>
            <a:ln w="1778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9" name="Shape 46">
              <a:extLst>
                <a:ext uri="{FF2B5EF4-FFF2-40B4-BE49-F238E27FC236}">
                  <a16:creationId xmlns:a16="http://schemas.microsoft.com/office/drawing/2014/main" id="{3222AD2B-7EB7-9A1A-2CD3-1F709886201A}"/>
                </a:ext>
              </a:extLst>
            </p:cNvPr>
            <p:cNvSpPr/>
            <p:nvPr/>
          </p:nvSpPr>
          <p:spPr>
            <a:xfrm>
              <a:off x="7429500" y="4376476"/>
              <a:ext cx="502920" cy="0"/>
            </a:xfrm>
            <a:prstGeom prst="line">
              <a:avLst/>
            </a:prstGeom>
            <a:noFill/>
            <a:ln w="1778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0" name="Shape 47">
              <a:extLst>
                <a:ext uri="{FF2B5EF4-FFF2-40B4-BE49-F238E27FC236}">
                  <a16:creationId xmlns:a16="http://schemas.microsoft.com/office/drawing/2014/main" id="{02710C05-762D-8B42-6EDA-8B11A5E89EAC}"/>
                </a:ext>
              </a:extLst>
            </p:cNvPr>
            <p:cNvSpPr/>
            <p:nvPr/>
          </p:nvSpPr>
          <p:spPr>
            <a:xfrm>
              <a:off x="7429500" y="5290876"/>
              <a:ext cx="502920" cy="0"/>
            </a:xfrm>
            <a:prstGeom prst="line">
              <a:avLst/>
            </a:prstGeom>
            <a:noFill/>
            <a:ln w="1778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1" name="Shape 48">
              <a:extLst>
                <a:ext uri="{FF2B5EF4-FFF2-40B4-BE49-F238E27FC236}">
                  <a16:creationId xmlns:a16="http://schemas.microsoft.com/office/drawing/2014/main" id="{C80187D2-A472-6DB6-987B-0433838994B0}"/>
                </a:ext>
              </a:extLst>
            </p:cNvPr>
            <p:cNvSpPr/>
            <p:nvPr/>
          </p:nvSpPr>
          <p:spPr>
            <a:xfrm>
              <a:off x="7429500" y="6479596"/>
              <a:ext cx="502920" cy="0"/>
            </a:xfrm>
            <a:prstGeom prst="line">
              <a:avLst/>
            </a:prstGeom>
            <a:noFill/>
            <a:ln w="1778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2" name="Shape 49">
              <a:extLst>
                <a:ext uri="{FF2B5EF4-FFF2-40B4-BE49-F238E27FC236}">
                  <a16:creationId xmlns:a16="http://schemas.microsoft.com/office/drawing/2014/main" id="{D2D4AA6A-BEEF-99EF-B831-623C20CBE0C5}"/>
                </a:ext>
              </a:extLst>
            </p:cNvPr>
            <p:cNvSpPr/>
            <p:nvPr/>
          </p:nvSpPr>
          <p:spPr>
            <a:xfrm>
              <a:off x="9139428" y="5519476"/>
              <a:ext cx="0" cy="182880"/>
            </a:xfrm>
            <a:prstGeom prst="line">
              <a:avLst/>
            </a:prstGeom>
            <a:noFill/>
            <a:ln w="17780">
              <a:solidFill>
                <a:srgbClr val="E8B87F"/>
              </a:solidFill>
              <a:prstDash val="solid"/>
              <a:headEnd type="triangle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3" name="Shape 50">
              <a:extLst>
                <a:ext uri="{FF2B5EF4-FFF2-40B4-BE49-F238E27FC236}">
                  <a16:creationId xmlns:a16="http://schemas.microsoft.com/office/drawing/2014/main" id="{7C555A0B-EA7A-5867-6472-F547A54D8BB0}"/>
                </a:ext>
              </a:extLst>
            </p:cNvPr>
            <p:cNvSpPr/>
            <p:nvPr/>
          </p:nvSpPr>
          <p:spPr>
            <a:xfrm>
              <a:off x="10355580" y="4467916"/>
              <a:ext cx="502920" cy="0"/>
            </a:xfrm>
            <a:prstGeom prst="line">
              <a:avLst/>
            </a:prstGeom>
            <a:noFill/>
            <a:ln w="17780">
              <a:solidFill>
                <a:srgbClr val="C9A0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4" name="Shape 51">
              <a:extLst>
                <a:ext uri="{FF2B5EF4-FFF2-40B4-BE49-F238E27FC236}">
                  <a16:creationId xmlns:a16="http://schemas.microsoft.com/office/drawing/2014/main" id="{B90CC111-6A08-05A8-9069-1C7013B8F622}"/>
                </a:ext>
              </a:extLst>
            </p:cNvPr>
            <p:cNvSpPr/>
            <p:nvPr/>
          </p:nvSpPr>
          <p:spPr>
            <a:xfrm>
              <a:off x="10355580" y="5336596"/>
              <a:ext cx="502920" cy="411480"/>
            </a:xfrm>
            <a:prstGeom prst="line">
              <a:avLst/>
            </a:prstGeom>
            <a:noFill/>
            <a:ln w="17780">
              <a:solidFill>
                <a:srgbClr val="C9A0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5" name="Shape 52">
              <a:extLst>
                <a:ext uri="{FF2B5EF4-FFF2-40B4-BE49-F238E27FC236}">
                  <a16:creationId xmlns:a16="http://schemas.microsoft.com/office/drawing/2014/main" id="{B031E8C9-FE89-7A02-C01C-53DBA21F4B4F}"/>
                </a:ext>
              </a:extLst>
            </p:cNvPr>
            <p:cNvSpPr/>
            <p:nvPr/>
          </p:nvSpPr>
          <p:spPr>
            <a:xfrm>
              <a:off x="10355580" y="5428036"/>
              <a:ext cx="502920" cy="1600200"/>
            </a:xfrm>
            <a:prstGeom prst="line">
              <a:avLst/>
            </a:prstGeom>
            <a:noFill/>
            <a:ln w="17780">
              <a:solidFill>
                <a:srgbClr val="C9A0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6" name="Shape 53">
              <a:extLst>
                <a:ext uri="{FF2B5EF4-FFF2-40B4-BE49-F238E27FC236}">
                  <a16:creationId xmlns:a16="http://schemas.microsoft.com/office/drawing/2014/main" id="{D2E665B8-C3E6-EFA3-4D0E-7A0E70B5B0AE}"/>
                </a:ext>
              </a:extLst>
            </p:cNvPr>
            <p:cNvSpPr/>
            <p:nvPr/>
          </p:nvSpPr>
          <p:spPr>
            <a:xfrm>
              <a:off x="12824460" y="4467916"/>
              <a:ext cx="502920" cy="0"/>
            </a:xfrm>
            <a:prstGeom prst="line">
              <a:avLst/>
            </a:prstGeom>
            <a:noFill/>
            <a:ln w="1778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7" name="Shape 54">
              <a:extLst>
                <a:ext uri="{FF2B5EF4-FFF2-40B4-BE49-F238E27FC236}">
                  <a16:creationId xmlns:a16="http://schemas.microsoft.com/office/drawing/2014/main" id="{197E6F2A-A7CC-DEEE-D687-7D758DD87E6B}"/>
                </a:ext>
              </a:extLst>
            </p:cNvPr>
            <p:cNvSpPr/>
            <p:nvPr/>
          </p:nvSpPr>
          <p:spPr>
            <a:xfrm>
              <a:off x="12824460" y="5748076"/>
              <a:ext cx="502920" cy="0"/>
            </a:xfrm>
            <a:prstGeom prst="line">
              <a:avLst/>
            </a:prstGeom>
            <a:noFill/>
            <a:ln w="1778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8" name="Shape 55">
              <a:extLst>
                <a:ext uri="{FF2B5EF4-FFF2-40B4-BE49-F238E27FC236}">
                  <a16:creationId xmlns:a16="http://schemas.microsoft.com/office/drawing/2014/main" id="{C0F035EA-519C-88DD-8B83-AC3E36F83BC2}"/>
                </a:ext>
              </a:extLst>
            </p:cNvPr>
            <p:cNvSpPr/>
            <p:nvPr/>
          </p:nvSpPr>
          <p:spPr>
            <a:xfrm>
              <a:off x="12824460" y="7028236"/>
              <a:ext cx="502920" cy="0"/>
            </a:xfrm>
            <a:prstGeom prst="line">
              <a:avLst/>
            </a:prstGeom>
            <a:noFill/>
            <a:ln w="1778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9" name="Text 56">
              <a:extLst>
                <a:ext uri="{FF2B5EF4-FFF2-40B4-BE49-F238E27FC236}">
                  <a16:creationId xmlns:a16="http://schemas.microsoft.com/office/drawing/2014/main" id="{F4CB3935-205A-59BF-1641-BEE0C47BC590}"/>
                </a:ext>
              </a:extLst>
            </p:cNvPr>
            <p:cNvSpPr txBox="1"/>
            <p:nvPr/>
          </p:nvSpPr>
          <p:spPr>
            <a:xfrm>
              <a:off x="10858499" y="3471220"/>
              <a:ext cx="3429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endParaRPr lang="en-US" sz="900" dirty="0"/>
            </a:p>
          </p:txBody>
        </p:sp>
        <p:sp>
          <p:nvSpPr>
            <p:cNvPr id="80" name="Text 57">
              <a:extLst>
                <a:ext uri="{FF2B5EF4-FFF2-40B4-BE49-F238E27FC236}">
                  <a16:creationId xmlns:a16="http://schemas.microsoft.com/office/drawing/2014/main" id="{B54DEB9F-2339-CC19-67F5-E152BB838EC4}"/>
                </a:ext>
              </a:extLst>
            </p:cNvPr>
            <p:cNvSpPr txBox="1"/>
            <p:nvPr/>
          </p:nvSpPr>
          <p:spPr>
            <a:xfrm>
              <a:off x="8206740" y="5510332"/>
              <a:ext cx="8686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i="1" dirty="0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narrative</a:t>
              </a:r>
              <a:endParaRPr lang="en-US" sz="900" dirty="0"/>
            </a:p>
          </p:txBody>
        </p:sp>
        <p:sp>
          <p:nvSpPr>
            <p:cNvPr id="81" name="Text 58">
              <a:extLst>
                <a:ext uri="{FF2B5EF4-FFF2-40B4-BE49-F238E27FC236}">
                  <a16:creationId xmlns:a16="http://schemas.microsoft.com/office/drawing/2014/main" id="{260D0F97-BE26-3A99-1155-330D72A7F438}"/>
                </a:ext>
              </a:extLst>
            </p:cNvPr>
            <p:cNvSpPr txBox="1"/>
            <p:nvPr/>
          </p:nvSpPr>
          <p:spPr>
            <a:xfrm>
              <a:off x="9240012" y="5510332"/>
              <a:ext cx="8686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i="1" dirty="0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phrases</a:t>
              </a:r>
              <a:endParaRPr lang="en-US" sz="900" dirty="0"/>
            </a:p>
          </p:txBody>
        </p:sp>
        <p:sp>
          <p:nvSpPr>
            <p:cNvPr id="82" name="Text 38">
              <a:extLst>
                <a:ext uri="{FF2B5EF4-FFF2-40B4-BE49-F238E27FC236}">
                  <a16:creationId xmlns:a16="http://schemas.microsoft.com/office/drawing/2014/main" id="{E1BA0E28-5FC8-E1B9-E4C2-D25448A09291}"/>
                </a:ext>
              </a:extLst>
            </p:cNvPr>
            <p:cNvSpPr txBox="1"/>
            <p:nvPr/>
          </p:nvSpPr>
          <p:spPr>
            <a:xfrm>
              <a:off x="13382244" y="6827068"/>
              <a:ext cx="85039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cs typeface="Calibri" pitchFamily="34" charset="-120"/>
                </a:rPr>
                <a:t>PNG </a:t>
              </a:r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cs typeface="Calibri" pitchFamily="34" charset="-120"/>
                </a:rPr>
                <a:t>2400x2400 </a:t>
              </a:r>
              <a:r>
                <a:rPr lang="en-US" sz="950" dirty="0" err="1">
                  <a:solidFill>
                    <a:srgbClr val="E8EEF7"/>
                  </a:solidFill>
                  <a:latin typeface="Calibri" pitchFamily="34" charset="0"/>
                  <a:cs typeface="Calibri" pitchFamily="34" charset="-120"/>
                </a:rPr>
                <a:t>px</a:t>
              </a:r>
              <a:endParaRPr lang="en-US" sz="950" dirty="0"/>
            </a:p>
          </p:txBody>
        </p:sp>
        <p:sp>
          <p:nvSpPr>
            <p:cNvPr id="83" name="Text 38">
              <a:extLst>
                <a:ext uri="{FF2B5EF4-FFF2-40B4-BE49-F238E27FC236}">
                  <a16:creationId xmlns:a16="http://schemas.microsoft.com/office/drawing/2014/main" id="{E2550FBE-2AD7-598F-8FDA-6229C0EB71A3}"/>
                </a:ext>
              </a:extLst>
            </p:cNvPr>
            <p:cNvSpPr txBox="1"/>
            <p:nvPr/>
          </p:nvSpPr>
          <p:spPr>
            <a:xfrm>
              <a:off x="13382244" y="5559027"/>
              <a:ext cx="85039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cs typeface="Calibri" pitchFamily="34" charset="-120"/>
                </a:rPr>
                <a:t>44,100 Hz</a:t>
              </a:r>
              <a:endParaRPr lang="en-US" sz="950" dirty="0"/>
            </a:p>
          </p:txBody>
        </p:sp>
        <p:sp>
          <p:nvSpPr>
            <p:cNvPr id="84" name="Text 25">
              <a:extLst>
                <a:ext uri="{FF2B5EF4-FFF2-40B4-BE49-F238E27FC236}">
                  <a16:creationId xmlns:a16="http://schemas.microsoft.com/office/drawing/2014/main" id="{508CD0CB-141B-C4C3-7173-E59D1B4863EC}"/>
                </a:ext>
              </a:extLst>
            </p:cNvPr>
            <p:cNvSpPr txBox="1"/>
            <p:nvPr/>
          </p:nvSpPr>
          <p:spPr>
            <a:xfrm>
              <a:off x="7960069" y="4324442"/>
              <a:ext cx="231343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B87F"/>
                  </a:solidFill>
                  <a:latin typeface="Calibri"/>
                  <a:ea typeface="Calibri"/>
                  <a:cs typeface="Calibri"/>
                </a:rPr>
                <a:t>emozioni.py  →  Claude</a:t>
              </a:r>
              <a:endParaRPr lang="en-US" sz="1300" dirty="0"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86" name="Immagine 85">
            <a:extLst>
              <a:ext uri="{FF2B5EF4-FFF2-40B4-BE49-F238E27FC236}">
                <a16:creationId xmlns:a16="http://schemas.microsoft.com/office/drawing/2014/main" id="{3714BABB-A0DD-7C82-3E3C-A0ADEF888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9867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02537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206353" y="762000"/>
            <a:ext cx="207168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Eyes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585946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Opening Ratio</a:t>
            </a:r>
            <a:endParaRPr lang="en-US" sz="5100" dirty="0"/>
          </a:p>
        </p:txBody>
      </p:sp>
      <p:sp>
        <p:nvSpPr>
          <p:cNvPr id="14" name="Shape 12"/>
          <p:cNvSpPr/>
          <p:nvPr/>
        </p:nvSpPr>
        <p:spPr>
          <a:xfrm>
            <a:off x="1047750" y="3143250"/>
            <a:ext cx="7239000" cy="1657350"/>
          </a:xfrm>
          <a:prstGeom prst="roundRect">
            <a:avLst>
              <a:gd name="adj" fmla="val 11494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514475" y="3752850"/>
            <a:ext cx="114575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=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2850728" y="3962400"/>
            <a:ext cx="1072902" cy="19050"/>
          </a:xfrm>
          <a:prstGeom prst="rect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945978" y="3533775"/>
            <a:ext cx="9896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3009156" y="4038600"/>
            <a:ext cx="83224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47750" y="6125636"/>
            <a:ext cx="7456170" cy="1233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points per eye, out of 478 total. An empirical threshold, measured with </a:t>
            </a:r>
            <a:r>
              <a:rPr lang="en-US" sz="2025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taratura.py </a:t>
            </a:r>
            <a:r>
              <a:rPr lang="en-US" sz="202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 our own face and real lighting.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9636848" y="6164033"/>
            <a:ext cx="138376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eyes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341704" y="6164033"/>
            <a:ext cx="118184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eyes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636848" y="6616470"/>
            <a:ext cx="7810500" cy="571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EC9E8">
                  <a:alpha val="100000"/>
                </a:srgbClr>
              </a:gs>
              <a:gs pos="45000">
                <a:srgbClr val="2A3350">
                  <a:alpha val="100000"/>
                </a:srgbClr>
              </a:gs>
              <a:gs pos="45000">
                <a:srgbClr val="2A3350">
                  <a:alpha val="100000"/>
                </a:srgbClr>
              </a:gs>
              <a:gs pos="100000">
                <a:srgbClr val="DFE2EA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11921360" y="6483121"/>
            <a:ext cx="19050" cy="323850"/>
          </a:xfrm>
          <a:prstGeom prst="rect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13151573" y="6483121"/>
            <a:ext cx="19050" cy="323850"/>
          </a:xfrm>
          <a:prstGeom prst="rect">
            <a:avLst/>
          </a:prstGeom>
          <a:solidFill>
            <a:srgbClr val="DFE2EA">
              <a:alpha val="5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9636848" y="6730770"/>
            <a:ext cx="56309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589473" y="6730770"/>
            <a:ext cx="4979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542098" y="6730770"/>
            <a:ext cx="5641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494723" y="6730770"/>
            <a:ext cx="55974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951155" y="6730770"/>
            <a:ext cx="57239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636848" y="7359421"/>
            <a:ext cx="156306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0.117 </a:t>
            </a: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blink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04715" y="7359421"/>
            <a:ext cx="17260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 </a:t>
            </a: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200" dirty="0"/>
          </a:p>
        </p:txBody>
      </p:sp>
      <p:grpSp>
        <p:nvGrpSpPr>
          <p:cNvPr id="45" name="Gruppo 44">
            <a:extLst>
              <a:ext uri="{FF2B5EF4-FFF2-40B4-BE49-F238E27FC236}">
                <a16:creationId xmlns:a16="http://schemas.microsoft.com/office/drawing/2014/main" id="{475439ED-AFC8-9667-DE62-AC7AFDC30483}"/>
              </a:ext>
            </a:extLst>
          </p:cNvPr>
          <p:cNvGrpSpPr/>
          <p:nvPr/>
        </p:nvGrpSpPr>
        <p:grpSpPr>
          <a:xfrm>
            <a:off x="11180118" y="2456357"/>
            <a:ext cx="4933249" cy="2592985"/>
            <a:chOff x="6781013" y="6812353"/>
            <a:chExt cx="4032504" cy="2029968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52C57476-D08E-A0FA-73DC-410C87D60754}"/>
                </a:ext>
              </a:extLst>
            </p:cNvPr>
            <p:cNvSpPr/>
            <p:nvPr/>
          </p:nvSpPr>
          <p:spPr>
            <a:xfrm>
              <a:off x="6831305" y="7123249"/>
              <a:ext cx="3931920" cy="1417320"/>
            </a:xfrm>
            <a:prstGeom prst="ellipse">
              <a:avLst/>
            </a:prstGeom>
            <a:solidFill>
              <a:srgbClr val="0B1026"/>
            </a:solidFill>
            <a:ln w="25400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4D9BF2F1-40BF-A88F-48E9-D3ACDD15042E}"/>
                </a:ext>
              </a:extLst>
            </p:cNvPr>
            <p:cNvSpPr/>
            <p:nvPr/>
          </p:nvSpPr>
          <p:spPr>
            <a:xfrm>
              <a:off x="6831305" y="7831909"/>
              <a:ext cx="3931920" cy="0"/>
            </a:xfrm>
            <a:prstGeom prst="line">
              <a:avLst/>
            </a:prstGeom>
            <a:noFill/>
            <a:ln w="25400">
              <a:solidFill>
                <a:srgbClr val="E8B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34" name="Shape 4">
              <a:extLst>
                <a:ext uri="{FF2B5EF4-FFF2-40B4-BE49-F238E27FC236}">
                  <a16:creationId xmlns:a16="http://schemas.microsoft.com/office/drawing/2014/main" id="{D898852B-056C-EBEB-43FC-281C700401D0}"/>
                </a:ext>
              </a:extLst>
            </p:cNvPr>
            <p:cNvSpPr/>
            <p:nvPr/>
          </p:nvSpPr>
          <p:spPr>
            <a:xfrm>
              <a:off x="8010881" y="7223833"/>
              <a:ext cx="0" cy="1261872"/>
            </a:xfrm>
            <a:prstGeom prst="line">
              <a:avLst/>
            </a:prstGeom>
            <a:noFill/>
            <a:ln w="25400">
              <a:solidFill>
                <a:srgbClr val="E88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35" name="Shape 5">
              <a:extLst>
                <a:ext uri="{FF2B5EF4-FFF2-40B4-BE49-F238E27FC236}">
                  <a16:creationId xmlns:a16="http://schemas.microsoft.com/office/drawing/2014/main" id="{C9C74B94-DA74-3E6F-C2D2-A5629268D706}"/>
                </a:ext>
              </a:extLst>
            </p:cNvPr>
            <p:cNvSpPr/>
            <p:nvPr/>
          </p:nvSpPr>
          <p:spPr>
            <a:xfrm flipH="1">
              <a:off x="9569361" y="7223833"/>
              <a:ext cx="0" cy="1261872"/>
            </a:xfrm>
            <a:prstGeom prst="line">
              <a:avLst/>
            </a:prstGeom>
            <a:noFill/>
            <a:ln w="25400">
              <a:solidFill>
                <a:srgbClr val="E88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36" name="Shape 6">
              <a:extLst>
                <a:ext uri="{FF2B5EF4-FFF2-40B4-BE49-F238E27FC236}">
                  <a16:creationId xmlns:a16="http://schemas.microsoft.com/office/drawing/2014/main" id="{B1C5541E-EB07-3C50-329E-8C34D0DD398C}"/>
                </a:ext>
              </a:extLst>
            </p:cNvPr>
            <p:cNvSpPr/>
            <p:nvPr/>
          </p:nvSpPr>
          <p:spPr>
            <a:xfrm>
              <a:off x="6781013" y="7781617"/>
              <a:ext cx="100584" cy="100584"/>
            </a:xfrm>
            <a:prstGeom prst="ellipse">
              <a:avLst/>
            </a:prstGeom>
            <a:solidFill>
              <a:srgbClr val="E8EEF7"/>
            </a:solidFill>
            <a:ln/>
          </p:spPr>
          <p:txBody>
            <a:bodyPr/>
            <a:lstStyle/>
            <a:p>
              <a:endParaRPr lang="en-IT"/>
            </a:p>
          </p:txBody>
        </p:sp>
        <p:sp>
          <p:nvSpPr>
            <p:cNvPr id="37" name="Shape 7">
              <a:extLst>
                <a:ext uri="{FF2B5EF4-FFF2-40B4-BE49-F238E27FC236}">
                  <a16:creationId xmlns:a16="http://schemas.microsoft.com/office/drawing/2014/main" id="{F72044CD-D804-F1D9-0B6E-64C2B649201B}"/>
                </a:ext>
              </a:extLst>
            </p:cNvPr>
            <p:cNvSpPr/>
            <p:nvPr/>
          </p:nvSpPr>
          <p:spPr>
            <a:xfrm>
              <a:off x="10712933" y="7781617"/>
              <a:ext cx="100584" cy="100584"/>
            </a:xfrm>
            <a:prstGeom prst="ellipse">
              <a:avLst/>
            </a:prstGeom>
            <a:solidFill>
              <a:srgbClr val="E8EEF7"/>
            </a:solidFill>
            <a:ln/>
          </p:spPr>
          <p:txBody>
            <a:bodyPr/>
            <a:lstStyle/>
            <a:p>
              <a:endParaRPr lang="en-IT"/>
            </a:p>
          </p:txBody>
        </p:sp>
        <p:sp>
          <p:nvSpPr>
            <p:cNvPr id="38" name="Shape 8">
              <a:extLst>
                <a:ext uri="{FF2B5EF4-FFF2-40B4-BE49-F238E27FC236}">
                  <a16:creationId xmlns:a16="http://schemas.microsoft.com/office/drawing/2014/main" id="{49347F8D-9CB3-DA8D-60BB-8EF31CFDDE56}"/>
                </a:ext>
              </a:extLst>
            </p:cNvPr>
            <p:cNvSpPr/>
            <p:nvPr/>
          </p:nvSpPr>
          <p:spPr>
            <a:xfrm>
              <a:off x="7960589" y="7151143"/>
              <a:ext cx="100584" cy="100584"/>
            </a:xfrm>
            <a:prstGeom prst="ellipse">
              <a:avLst/>
            </a:prstGeom>
            <a:solidFill>
              <a:srgbClr val="E8EEF7"/>
            </a:solidFill>
            <a:ln/>
          </p:spPr>
          <p:txBody>
            <a:bodyPr/>
            <a:lstStyle/>
            <a:p>
              <a:endParaRPr lang="en-IT"/>
            </a:p>
          </p:txBody>
        </p:sp>
        <p:sp>
          <p:nvSpPr>
            <p:cNvPr id="39" name="Shape 9">
              <a:extLst>
                <a:ext uri="{FF2B5EF4-FFF2-40B4-BE49-F238E27FC236}">
                  <a16:creationId xmlns:a16="http://schemas.microsoft.com/office/drawing/2014/main" id="{AE62AA96-0697-E281-009D-F96FC17F0C80}"/>
                </a:ext>
              </a:extLst>
            </p:cNvPr>
            <p:cNvSpPr/>
            <p:nvPr/>
          </p:nvSpPr>
          <p:spPr>
            <a:xfrm>
              <a:off x="7960589" y="8430749"/>
              <a:ext cx="100584" cy="100584"/>
            </a:xfrm>
            <a:prstGeom prst="ellipse">
              <a:avLst/>
            </a:prstGeom>
            <a:solidFill>
              <a:srgbClr val="E8EEF7"/>
            </a:solidFill>
            <a:ln/>
          </p:spPr>
          <p:txBody>
            <a:bodyPr/>
            <a:lstStyle/>
            <a:p>
              <a:endParaRPr lang="en-IT"/>
            </a:p>
          </p:txBody>
        </p:sp>
        <p:sp>
          <p:nvSpPr>
            <p:cNvPr id="40" name="Shape 10">
              <a:extLst>
                <a:ext uri="{FF2B5EF4-FFF2-40B4-BE49-F238E27FC236}">
                  <a16:creationId xmlns:a16="http://schemas.microsoft.com/office/drawing/2014/main" id="{69981F41-141F-296F-40E8-1940A7010361}"/>
                </a:ext>
              </a:extLst>
            </p:cNvPr>
            <p:cNvSpPr/>
            <p:nvPr/>
          </p:nvSpPr>
          <p:spPr>
            <a:xfrm>
              <a:off x="9524026" y="7141813"/>
              <a:ext cx="100584" cy="100584"/>
            </a:xfrm>
            <a:prstGeom prst="ellipse">
              <a:avLst/>
            </a:prstGeom>
            <a:solidFill>
              <a:srgbClr val="E8EEF7"/>
            </a:solidFill>
            <a:ln/>
          </p:spPr>
          <p:txBody>
            <a:bodyPr/>
            <a:lstStyle/>
            <a:p>
              <a:endParaRPr lang="en-IT"/>
            </a:p>
          </p:txBody>
        </p:sp>
        <p:sp>
          <p:nvSpPr>
            <p:cNvPr id="41" name="Shape 11">
              <a:extLst>
                <a:ext uri="{FF2B5EF4-FFF2-40B4-BE49-F238E27FC236}">
                  <a16:creationId xmlns:a16="http://schemas.microsoft.com/office/drawing/2014/main" id="{3E854BD3-0D0A-23C3-E17C-3E48A0E30829}"/>
                </a:ext>
              </a:extLst>
            </p:cNvPr>
            <p:cNvSpPr/>
            <p:nvPr/>
          </p:nvSpPr>
          <p:spPr>
            <a:xfrm>
              <a:off x="9524026" y="8430751"/>
              <a:ext cx="100584" cy="100584"/>
            </a:xfrm>
            <a:prstGeom prst="ellipse">
              <a:avLst/>
            </a:prstGeom>
            <a:solidFill>
              <a:srgbClr val="E8EEF7"/>
            </a:solidFill>
            <a:ln/>
          </p:spPr>
          <p:txBody>
            <a:bodyPr/>
            <a:lstStyle/>
            <a:p>
              <a:endParaRPr lang="en-IT"/>
            </a:p>
          </p:txBody>
        </p:sp>
        <p:sp>
          <p:nvSpPr>
            <p:cNvPr id="42" name="Text 12">
              <a:extLst>
                <a:ext uri="{FF2B5EF4-FFF2-40B4-BE49-F238E27FC236}">
                  <a16:creationId xmlns:a16="http://schemas.microsoft.com/office/drawing/2014/main" id="{81C09991-407E-9AEF-C301-442CB4A85B7B}"/>
                </a:ext>
              </a:extLst>
            </p:cNvPr>
            <p:cNvSpPr txBox="1"/>
            <p:nvPr/>
          </p:nvSpPr>
          <p:spPr>
            <a:xfrm>
              <a:off x="6831305" y="8586289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width</a:t>
              </a:r>
              <a:endParaRPr lang="en-US" sz="1100" dirty="0"/>
            </a:p>
          </p:txBody>
        </p:sp>
        <p:sp>
          <p:nvSpPr>
            <p:cNvPr id="43" name="Text 13">
              <a:extLst>
                <a:ext uri="{FF2B5EF4-FFF2-40B4-BE49-F238E27FC236}">
                  <a16:creationId xmlns:a16="http://schemas.microsoft.com/office/drawing/2014/main" id="{1B37E560-01D9-72AB-D6BC-3697A0D18A27}"/>
                </a:ext>
              </a:extLst>
            </p:cNvPr>
            <p:cNvSpPr txBox="1"/>
            <p:nvPr/>
          </p:nvSpPr>
          <p:spPr>
            <a:xfrm>
              <a:off x="9035009" y="6812353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E88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height</a:t>
              </a:r>
              <a:endParaRPr lang="en-US" sz="1100" dirty="0"/>
            </a:p>
          </p:txBody>
        </p:sp>
      </p:grpSp>
      <p:pic>
        <p:nvPicPr>
          <p:cNvPr id="46" name="Immagine 45">
            <a:extLst>
              <a:ext uri="{FF2B5EF4-FFF2-40B4-BE49-F238E27FC236}">
                <a16:creationId xmlns:a16="http://schemas.microsoft.com/office/drawing/2014/main" id="{A9BD802F-631E-69B6-13F1-943FEBD76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9867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02537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206353" y="762000"/>
            <a:ext cx="214068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and Emotion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1012977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Readings of the Same Face</a:t>
            </a:r>
            <a:endParaRPr lang="en-US" sz="5100" dirty="0"/>
          </a:p>
        </p:txBody>
      </p:sp>
      <p:sp>
        <p:nvSpPr>
          <p:cNvPr id="14" name="Shape 12"/>
          <p:cNvSpPr/>
          <p:nvPr/>
        </p:nvSpPr>
        <p:spPr>
          <a:xfrm>
            <a:off x="1047750" y="3048000"/>
            <a:ext cx="7962900" cy="2839640"/>
          </a:xfrm>
          <a:prstGeom prst="roundRect">
            <a:avLst>
              <a:gd name="adj" fmla="val 3279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476375" y="3438525"/>
            <a:ext cx="78162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Russell Emotional Face Algorithm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76375" y="3871913"/>
            <a:ext cx="7318820" cy="1632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478 landmarks from MediaPipe compute, every second, heuristic weights on smile, duchenne and frown — enough to identify a known, visible emotion: a smile for happiness, a sulk for sadness.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77350" y="3048000"/>
            <a:ext cx="7962900" cy="2839640"/>
          </a:xfrm>
          <a:prstGeom prst="roundRect">
            <a:avLst>
              <a:gd name="adj" fmla="val 3279"/>
            </a:avLst>
          </a:prstGeom>
          <a:solidFill>
            <a:srgbClr val="171D33"/>
          </a:solidFill>
          <a:ln w="9525">
            <a:solidFill>
              <a:srgbClr val="7EC9E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705975" y="3438525"/>
            <a:ext cx="78162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in Context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05975" y="3871913"/>
            <a:ext cx="7318820" cy="1233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Claude call also factors in valence, arousal, smile arch, duchenne and frown for richer context — able to recognize humor, lies and shyness.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047750" y="8991600"/>
            <a:ext cx="166782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existing face-recognition model would have meant a long computation time. Since our features rely on the same landmarks, we kept this lighter approach.</a:t>
            </a:r>
            <a:endParaRPr lang="en-US" sz="1800" dirty="0"/>
          </a:p>
        </p:txBody>
      </p:sp>
      <p:pic>
        <p:nvPicPr>
          <p:cNvPr id="21" name="Picture 35">
            <a:extLst>
              <a:ext uri="{FF2B5EF4-FFF2-40B4-BE49-F238E27FC236}">
                <a16:creationId xmlns:a16="http://schemas.microsoft.com/office/drawing/2014/main" id="{CD1D65E5-08BF-28AF-4EF0-2D20BD51C7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46" b="3496"/>
          <a:stretch>
            <a:fillRect/>
          </a:stretch>
        </p:blipFill>
        <p:spPr>
          <a:xfrm>
            <a:off x="4280697" y="6334125"/>
            <a:ext cx="2539626" cy="233362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317500"/>
          </a:effectLst>
        </p:spPr>
      </p:pic>
      <p:pic>
        <p:nvPicPr>
          <p:cNvPr id="22" name="Picture 36">
            <a:extLst>
              <a:ext uri="{FF2B5EF4-FFF2-40B4-BE49-F238E27FC236}">
                <a16:creationId xmlns:a16="http://schemas.microsoft.com/office/drawing/2014/main" id="{F3376466-46D8-A7BD-3A04-04604FA75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2882" y="6842523"/>
            <a:ext cx="1351644" cy="1328966"/>
          </a:xfrm>
          <a:prstGeom prst="rect">
            <a:avLst/>
          </a:prstGeom>
        </p:spPr>
      </p:pic>
      <p:pic>
        <p:nvPicPr>
          <p:cNvPr id="23" name="Picture 34">
            <a:extLst>
              <a:ext uri="{FF2B5EF4-FFF2-40B4-BE49-F238E27FC236}">
                <a16:creationId xmlns:a16="http://schemas.microsoft.com/office/drawing/2014/main" id="{1BA7C9C2-C3BC-E0D3-5144-81F14946DC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2898" y="6985906"/>
            <a:ext cx="1047751" cy="1030061"/>
          </a:xfrm>
          <a:prstGeom prst="rect">
            <a:avLst/>
          </a:prstGeom>
        </p:spPr>
      </p:pic>
      <p:sp>
        <p:nvSpPr>
          <p:cNvPr id="25" name="Shape 46">
            <a:extLst>
              <a:ext uri="{FF2B5EF4-FFF2-40B4-BE49-F238E27FC236}">
                <a16:creationId xmlns:a16="http://schemas.microsoft.com/office/drawing/2014/main" id="{767F4163-433A-6363-EC4B-3B6794014308}"/>
              </a:ext>
            </a:extLst>
          </p:cNvPr>
          <p:cNvSpPr/>
          <p:nvPr/>
        </p:nvSpPr>
        <p:spPr>
          <a:xfrm flipV="1">
            <a:off x="7094316" y="7553739"/>
            <a:ext cx="4083212" cy="12081"/>
          </a:xfrm>
          <a:prstGeom prst="line">
            <a:avLst/>
          </a:prstGeom>
          <a:noFill/>
          <a:ln w="17780">
            <a:solidFill>
              <a:srgbClr val="8FD9EC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265623EB-5E92-A3C0-F535-553FB92A67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9867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02537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206353" y="762000"/>
            <a:ext cx="22042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and Gesture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574077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and Gesture</a:t>
            </a:r>
            <a:endParaRPr lang="en-US" sz="5100" dirty="0"/>
          </a:p>
        </p:txBody>
      </p:sp>
      <p:sp>
        <p:nvSpPr>
          <p:cNvPr id="14" name="Shape 12"/>
          <p:cNvSpPr/>
          <p:nvPr/>
        </p:nvSpPr>
        <p:spPr>
          <a:xfrm>
            <a:off x="1047825" y="4373217"/>
            <a:ext cx="5232350" cy="2835965"/>
          </a:xfrm>
          <a:prstGeom prst="roundRect">
            <a:avLst>
              <a:gd name="adj" fmla="val 3641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419300" y="4725642"/>
            <a:ext cx="49383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 &amp; Whisper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9300" y="5139980"/>
            <a:ext cx="4624082" cy="1824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locally — small model, int8, on CPU. Recording starts when the eyes close and ends when they reopen. Audio never leaves the computer; only the transcription does.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6527825" y="4373217"/>
            <a:ext cx="5232425" cy="2835965"/>
          </a:xfrm>
          <a:prstGeom prst="roundRect">
            <a:avLst>
              <a:gd name="adj" fmla="val 3641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899300" y="4725642"/>
            <a:ext cx="493842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 → Dispersal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99300" y="5139980"/>
            <a:ext cx="4624159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tip of the nose — the most protruding of the 478 points — we derive movement energy. Below a threshold, it’s breathing, not intent.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2007900" y="4373217"/>
            <a:ext cx="5232350" cy="2835965"/>
          </a:xfrm>
          <a:prstGeom prst="roundRect">
            <a:avLst>
              <a:gd name="adj" fmla="val 3641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2379375" y="4725642"/>
            <a:ext cx="49383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Streams, Opened Once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79375" y="5139980"/>
            <a:ext cx="4624082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Reconfiguring the sound card mid-stream causes an audible click. Mic, pad and track open at startup and stay open — only a switch turns on and off.</a:t>
            </a:r>
            <a:endParaRPr lang="en-US" sz="1875" dirty="0"/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FC262696-CCCE-F34D-7FA3-F44D947FF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01732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053135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234110" y="762000"/>
            <a:ext cx="172076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solidFill>
            <a:srgbClr val="7EC9E8">
              <a:alpha val="16000"/>
            </a:srgbClr>
          </a:solidFill>
          <a:ln w="9525">
            <a:solidFill>
              <a:srgbClr val="7EC9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642614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Twelve-State Machine</a:t>
            </a:r>
            <a:endParaRPr lang="en-US" sz="5100" dirty="0"/>
          </a:p>
        </p:txBody>
      </p:sp>
      <p:grpSp>
        <p:nvGrpSpPr>
          <p:cNvPr id="108" name="Gruppo 107">
            <a:extLst>
              <a:ext uri="{FF2B5EF4-FFF2-40B4-BE49-F238E27FC236}">
                <a16:creationId xmlns:a16="http://schemas.microsoft.com/office/drawing/2014/main" id="{87EBC846-FDC0-B7CB-B245-B217947B5F47}"/>
              </a:ext>
            </a:extLst>
          </p:cNvPr>
          <p:cNvGrpSpPr/>
          <p:nvPr/>
        </p:nvGrpSpPr>
        <p:grpSpPr>
          <a:xfrm>
            <a:off x="1567030" y="2543142"/>
            <a:ext cx="14944224" cy="6494011"/>
            <a:chOff x="521063" y="1762093"/>
            <a:chExt cx="11334025" cy="4299312"/>
          </a:xfrm>
        </p:grpSpPr>
        <p:sp>
          <p:nvSpPr>
            <p:cNvPr id="51" name="Shape 2">
              <a:extLst>
                <a:ext uri="{FF2B5EF4-FFF2-40B4-BE49-F238E27FC236}">
                  <a16:creationId xmlns:a16="http://schemas.microsoft.com/office/drawing/2014/main" id="{2F4961F6-BBFB-E1FC-DDE2-0BCCCCA8CAFB}"/>
                </a:ext>
              </a:extLst>
            </p:cNvPr>
            <p:cNvSpPr/>
            <p:nvPr/>
          </p:nvSpPr>
          <p:spPr>
            <a:xfrm>
              <a:off x="521063" y="2582187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5A7FB8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2" name="Text 3">
              <a:extLst>
                <a:ext uri="{FF2B5EF4-FFF2-40B4-BE49-F238E27FC236}">
                  <a16:creationId xmlns:a16="http://schemas.microsoft.com/office/drawing/2014/main" id="{EE3A9C00-B275-CA42-A4F8-B92B48ABF066}"/>
                </a:ext>
              </a:extLst>
            </p:cNvPr>
            <p:cNvSpPr txBox="1"/>
            <p:nvPr/>
          </p:nvSpPr>
          <p:spPr>
            <a:xfrm>
              <a:off x="557639" y="2582187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Welcome</a:t>
              </a:r>
              <a:endParaRPr lang="en-US" sz="950" dirty="0"/>
            </a:p>
          </p:txBody>
        </p:sp>
        <p:sp>
          <p:nvSpPr>
            <p:cNvPr id="53" name="Shape 4">
              <a:extLst>
                <a:ext uri="{FF2B5EF4-FFF2-40B4-BE49-F238E27FC236}">
                  <a16:creationId xmlns:a16="http://schemas.microsoft.com/office/drawing/2014/main" id="{94B301D4-CE6C-DE52-03E0-44D5F3ADB255}"/>
                </a:ext>
              </a:extLst>
            </p:cNvPr>
            <p:cNvSpPr/>
            <p:nvPr/>
          </p:nvSpPr>
          <p:spPr>
            <a:xfrm>
              <a:off x="1636631" y="3016527"/>
              <a:ext cx="150876" cy="0"/>
            </a:xfrm>
            <a:prstGeom prst="line">
              <a:avLst/>
            </a:prstGeom>
            <a:noFill/>
            <a:ln w="1651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4" name="Shape 5">
              <a:extLst>
                <a:ext uri="{FF2B5EF4-FFF2-40B4-BE49-F238E27FC236}">
                  <a16:creationId xmlns:a16="http://schemas.microsoft.com/office/drawing/2014/main" id="{C8FFEC12-D022-9B11-8AD8-DD27016A8AF5}"/>
                </a:ext>
              </a:extLst>
            </p:cNvPr>
            <p:cNvSpPr/>
            <p:nvPr/>
          </p:nvSpPr>
          <p:spPr>
            <a:xfrm>
              <a:off x="1787507" y="2582187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5A7FB8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5" name="Text 6">
              <a:extLst>
                <a:ext uri="{FF2B5EF4-FFF2-40B4-BE49-F238E27FC236}">
                  <a16:creationId xmlns:a16="http://schemas.microsoft.com/office/drawing/2014/main" id="{78535D2F-014F-F323-454A-CEA12948D8D0}"/>
                </a:ext>
              </a:extLst>
            </p:cNvPr>
            <p:cNvSpPr txBox="1"/>
            <p:nvPr/>
          </p:nvSpPr>
          <p:spPr>
            <a:xfrm>
              <a:off x="1824083" y="2582187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 err="1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Invitation</a:t>
              </a:r>
              <a:endParaRPr lang="en-US" sz="9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rgbClr val="E8EEF7"/>
                  </a:solidFill>
                  <a:latin typeface="Calibri" pitchFamily="34" charset="0"/>
                  <a:cs typeface="Calibri" pitchFamily="34" charset="-120"/>
                </a:rPr>
                <a:t>to speak</a:t>
              </a:r>
              <a:endParaRPr lang="en-US" sz="950" dirty="0"/>
            </a:p>
          </p:txBody>
        </p:sp>
        <p:sp>
          <p:nvSpPr>
            <p:cNvPr id="56" name="Shape 7">
              <a:extLst>
                <a:ext uri="{FF2B5EF4-FFF2-40B4-BE49-F238E27FC236}">
                  <a16:creationId xmlns:a16="http://schemas.microsoft.com/office/drawing/2014/main" id="{92094A7E-0F24-6942-B246-9D271B513BCB}"/>
                </a:ext>
              </a:extLst>
            </p:cNvPr>
            <p:cNvSpPr/>
            <p:nvPr/>
          </p:nvSpPr>
          <p:spPr>
            <a:xfrm>
              <a:off x="2903075" y="3016527"/>
              <a:ext cx="150876" cy="0"/>
            </a:xfrm>
            <a:prstGeom prst="line">
              <a:avLst/>
            </a:prstGeom>
            <a:noFill/>
            <a:ln w="1651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7" name="Shape 8">
              <a:extLst>
                <a:ext uri="{FF2B5EF4-FFF2-40B4-BE49-F238E27FC236}">
                  <a16:creationId xmlns:a16="http://schemas.microsoft.com/office/drawing/2014/main" id="{407AE071-7E35-BA12-723D-DB40B8B1B0B0}"/>
                </a:ext>
              </a:extLst>
            </p:cNvPr>
            <p:cNvSpPr/>
            <p:nvPr/>
          </p:nvSpPr>
          <p:spPr>
            <a:xfrm>
              <a:off x="3053951" y="2582187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E8B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8" name="Text 9">
              <a:extLst>
                <a:ext uri="{FF2B5EF4-FFF2-40B4-BE49-F238E27FC236}">
                  <a16:creationId xmlns:a16="http://schemas.microsoft.com/office/drawing/2014/main" id="{9EDF641B-63A8-0501-B1EB-30E91C8DA233}"/>
                </a:ext>
              </a:extLst>
            </p:cNvPr>
            <p:cNvSpPr txBox="1"/>
            <p:nvPr/>
          </p:nvSpPr>
          <p:spPr>
            <a:xfrm>
              <a:off x="3090527" y="2582187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 err="1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Listening</a:t>
              </a:r>
              <a:endParaRPr lang="en-US" sz="950" dirty="0"/>
            </a:p>
          </p:txBody>
        </p:sp>
        <p:sp>
          <p:nvSpPr>
            <p:cNvPr id="59" name="Shape 10">
              <a:extLst>
                <a:ext uri="{FF2B5EF4-FFF2-40B4-BE49-F238E27FC236}">
                  <a16:creationId xmlns:a16="http://schemas.microsoft.com/office/drawing/2014/main" id="{CA875C36-C5A9-BB01-445E-875675C397CF}"/>
                </a:ext>
              </a:extLst>
            </p:cNvPr>
            <p:cNvSpPr/>
            <p:nvPr/>
          </p:nvSpPr>
          <p:spPr>
            <a:xfrm>
              <a:off x="4169519" y="3016527"/>
              <a:ext cx="150876" cy="0"/>
            </a:xfrm>
            <a:prstGeom prst="line">
              <a:avLst/>
            </a:prstGeom>
            <a:noFill/>
            <a:ln w="1651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0" name="Shape 11">
              <a:extLst>
                <a:ext uri="{FF2B5EF4-FFF2-40B4-BE49-F238E27FC236}">
                  <a16:creationId xmlns:a16="http://schemas.microsoft.com/office/drawing/2014/main" id="{E8915D97-501E-F544-C7BF-2159EE5220DD}"/>
                </a:ext>
              </a:extLst>
            </p:cNvPr>
            <p:cNvSpPr/>
            <p:nvPr/>
          </p:nvSpPr>
          <p:spPr>
            <a:xfrm>
              <a:off x="4320395" y="2582187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5A7FB8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1" name="Text 12">
              <a:extLst>
                <a:ext uri="{FF2B5EF4-FFF2-40B4-BE49-F238E27FC236}">
                  <a16:creationId xmlns:a16="http://schemas.microsoft.com/office/drawing/2014/main" id="{5BC4A8CC-ED87-C461-B156-218EFF85F8EB}"/>
                </a:ext>
              </a:extLst>
            </p:cNvPr>
            <p:cNvSpPr txBox="1"/>
            <p:nvPr/>
          </p:nvSpPr>
          <p:spPr>
            <a:xfrm>
              <a:off x="4356971" y="2582187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 err="1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Waiting</a:t>
              </a:r>
              <a:endParaRPr lang="en-US" sz="950" dirty="0"/>
            </a:p>
          </p:txBody>
        </p:sp>
        <p:sp>
          <p:nvSpPr>
            <p:cNvPr id="62" name="Shape 13">
              <a:extLst>
                <a:ext uri="{FF2B5EF4-FFF2-40B4-BE49-F238E27FC236}">
                  <a16:creationId xmlns:a16="http://schemas.microsoft.com/office/drawing/2014/main" id="{D89A2ABB-888E-4C67-97D7-1C16DB0195DB}"/>
                </a:ext>
              </a:extLst>
            </p:cNvPr>
            <p:cNvSpPr/>
            <p:nvPr/>
          </p:nvSpPr>
          <p:spPr>
            <a:xfrm>
              <a:off x="5435963" y="3016527"/>
              <a:ext cx="150876" cy="0"/>
            </a:xfrm>
            <a:prstGeom prst="line">
              <a:avLst/>
            </a:prstGeom>
            <a:noFill/>
            <a:ln w="1651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3" name="Shape 14">
              <a:extLst>
                <a:ext uri="{FF2B5EF4-FFF2-40B4-BE49-F238E27FC236}">
                  <a16:creationId xmlns:a16="http://schemas.microsoft.com/office/drawing/2014/main" id="{69BBDE53-6D8A-D282-3BC2-79027CD66963}"/>
                </a:ext>
              </a:extLst>
            </p:cNvPr>
            <p:cNvSpPr/>
            <p:nvPr/>
          </p:nvSpPr>
          <p:spPr>
            <a:xfrm>
              <a:off x="5586839" y="2582187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5A7FB8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4" name="Text 15">
              <a:extLst>
                <a:ext uri="{FF2B5EF4-FFF2-40B4-BE49-F238E27FC236}">
                  <a16:creationId xmlns:a16="http://schemas.microsoft.com/office/drawing/2014/main" id="{4B41BE6B-E683-A243-6EA7-442B8BB0D731}"/>
                </a:ext>
              </a:extLst>
            </p:cNvPr>
            <p:cNvSpPr txBox="1"/>
            <p:nvPr/>
          </p:nvSpPr>
          <p:spPr>
            <a:xfrm>
              <a:off x="5623415" y="2582187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Display of personalized phrases</a:t>
              </a:r>
              <a:endParaRPr lang="en-US" sz="950" dirty="0"/>
            </a:p>
          </p:txBody>
        </p:sp>
        <p:sp>
          <p:nvSpPr>
            <p:cNvPr id="65" name="Shape 16">
              <a:extLst>
                <a:ext uri="{FF2B5EF4-FFF2-40B4-BE49-F238E27FC236}">
                  <a16:creationId xmlns:a16="http://schemas.microsoft.com/office/drawing/2014/main" id="{869E99B0-BD96-C2EA-1271-8EADDB8D1942}"/>
                </a:ext>
              </a:extLst>
            </p:cNvPr>
            <p:cNvSpPr/>
            <p:nvPr/>
          </p:nvSpPr>
          <p:spPr>
            <a:xfrm>
              <a:off x="6702407" y="3016527"/>
              <a:ext cx="150876" cy="0"/>
            </a:xfrm>
            <a:prstGeom prst="line">
              <a:avLst/>
            </a:prstGeom>
            <a:noFill/>
            <a:ln w="1651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6" name="Shape 17">
              <a:extLst>
                <a:ext uri="{FF2B5EF4-FFF2-40B4-BE49-F238E27FC236}">
                  <a16:creationId xmlns:a16="http://schemas.microsoft.com/office/drawing/2014/main" id="{B059B70A-7536-FFB9-23C7-5A3403006847}"/>
                </a:ext>
              </a:extLst>
            </p:cNvPr>
            <p:cNvSpPr/>
            <p:nvPr/>
          </p:nvSpPr>
          <p:spPr>
            <a:xfrm>
              <a:off x="6853283" y="2582187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5A7FB8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7" name="Text 18">
              <a:extLst>
                <a:ext uri="{FF2B5EF4-FFF2-40B4-BE49-F238E27FC236}">
                  <a16:creationId xmlns:a16="http://schemas.microsoft.com/office/drawing/2014/main" id="{8FC11C19-8A1A-CEBB-68FD-9DB8512F0B9D}"/>
                </a:ext>
              </a:extLst>
            </p:cNvPr>
            <p:cNvSpPr txBox="1"/>
            <p:nvPr/>
          </p:nvSpPr>
          <p:spPr>
            <a:xfrm>
              <a:off x="6889859" y="2582187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 err="1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Invitation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 meditate</a:t>
              </a:r>
              <a:endParaRPr lang="en-US" sz="950" dirty="0"/>
            </a:p>
          </p:txBody>
        </p:sp>
        <p:sp>
          <p:nvSpPr>
            <p:cNvPr id="68" name="Shape 19">
              <a:extLst>
                <a:ext uri="{FF2B5EF4-FFF2-40B4-BE49-F238E27FC236}">
                  <a16:creationId xmlns:a16="http://schemas.microsoft.com/office/drawing/2014/main" id="{C45DE482-ECE6-820D-001B-DC76F8C335F1}"/>
                </a:ext>
              </a:extLst>
            </p:cNvPr>
            <p:cNvSpPr/>
            <p:nvPr/>
          </p:nvSpPr>
          <p:spPr>
            <a:xfrm>
              <a:off x="7968851" y="3016527"/>
              <a:ext cx="150876" cy="0"/>
            </a:xfrm>
            <a:prstGeom prst="line">
              <a:avLst/>
            </a:prstGeom>
            <a:noFill/>
            <a:ln w="1651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9" name="Shape 20">
              <a:extLst>
                <a:ext uri="{FF2B5EF4-FFF2-40B4-BE49-F238E27FC236}">
                  <a16:creationId xmlns:a16="http://schemas.microsoft.com/office/drawing/2014/main" id="{4D414B22-0B56-15C7-E95F-ED9C99EFD1C2}"/>
                </a:ext>
              </a:extLst>
            </p:cNvPr>
            <p:cNvSpPr/>
            <p:nvPr/>
          </p:nvSpPr>
          <p:spPr>
            <a:xfrm>
              <a:off x="8119727" y="2582187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E8B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0" name="Text 21">
              <a:extLst>
                <a:ext uri="{FF2B5EF4-FFF2-40B4-BE49-F238E27FC236}">
                  <a16:creationId xmlns:a16="http://schemas.microsoft.com/office/drawing/2014/main" id="{0A667C68-232E-219D-F213-CA98307D2A26}"/>
                </a:ext>
              </a:extLst>
            </p:cNvPr>
            <p:cNvSpPr txBox="1"/>
            <p:nvPr/>
          </p:nvSpPr>
          <p:spPr>
            <a:xfrm>
              <a:off x="8156303" y="2582187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 err="1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Meditation</a:t>
              </a:r>
              <a:endParaRPr lang="en-US" sz="950" dirty="0"/>
            </a:p>
          </p:txBody>
        </p:sp>
        <p:sp>
          <p:nvSpPr>
            <p:cNvPr id="71" name="Shape 22">
              <a:extLst>
                <a:ext uri="{FF2B5EF4-FFF2-40B4-BE49-F238E27FC236}">
                  <a16:creationId xmlns:a16="http://schemas.microsoft.com/office/drawing/2014/main" id="{EFC22C79-3A95-FA5F-FD91-320FA35B7CEF}"/>
                </a:ext>
              </a:extLst>
            </p:cNvPr>
            <p:cNvSpPr/>
            <p:nvPr/>
          </p:nvSpPr>
          <p:spPr>
            <a:xfrm>
              <a:off x="9235295" y="3016527"/>
              <a:ext cx="150876" cy="0"/>
            </a:xfrm>
            <a:prstGeom prst="line">
              <a:avLst/>
            </a:prstGeom>
            <a:noFill/>
            <a:ln w="1651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2" name="Shape 23">
              <a:extLst>
                <a:ext uri="{FF2B5EF4-FFF2-40B4-BE49-F238E27FC236}">
                  <a16:creationId xmlns:a16="http://schemas.microsoft.com/office/drawing/2014/main" id="{E46F1DE9-3E51-12E2-8DBE-872C5B4B601C}"/>
                </a:ext>
              </a:extLst>
            </p:cNvPr>
            <p:cNvSpPr/>
            <p:nvPr/>
          </p:nvSpPr>
          <p:spPr>
            <a:xfrm>
              <a:off x="9386171" y="2582187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5A7FB8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3" name="Text 24">
              <a:extLst>
                <a:ext uri="{FF2B5EF4-FFF2-40B4-BE49-F238E27FC236}">
                  <a16:creationId xmlns:a16="http://schemas.microsoft.com/office/drawing/2014/main" id="{AD8CAEC6-9049-AD36-8E03-837E9C25533E}"/>
                </a:ext>
              </a:extLst>
            </p:cNvPr>
            <p:cNvSpPr txBox="1"/>
            <p:nvPr/>
          </p:nvSpPr>
          <p:spPr>
            <a:xfrm>
              <a:off x="9422747" y="2582187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Mandala</a:t>
              </a:r>
              <a:endParaRPr lang="en-US" sz="950" dirty="0"/>
            </a:p>
          </p:txBody>
        </p:sp>
        <p:sp>
          <p:nvSpPr>
            <p:cNvPr id="74" name="Shape 25">
              <a:extLst>
                <a:ext uri="{FF2B5EF4-FFF2-40B4-BE49-F238E27FC236}">
                  <a16:creationId xmlns:a16="http://schemas.microsoft.com/office/drawing/2014/main" id="{24042F28-E6A8-E432-4991-CC0A9D863591}"/>
                </a:ext>
              </a:extLst>
            </p:cNvPr>
            <p:cNvSpPr/>
            <p:nvPr/>
          </p:nvSpPr>
          <p:spPr>
            <a:xfrm>
              <a:off x="10501739" y="3016527"/>
              <a:ext cx="150876" cy="0"/>
            </a:xfrm>
            <a:prstGeom prst="line">
              <a:avLst/>
            </a:prstGeom>
            <a:noFill/>
            <a:ln w="1651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5" name="Shape 26">
              <a:extLst>
                <a:ext uri="{FF2B5EF4-FFF2-40B4-BE49-F238E27FC236}">
                  <a16:creationId xmlns:a16="http://schemas.microsoft.com/office/drawing/2014/main" id="{06CE316C-01BC-777C-DC95-ECF7D803745D}"/>
                </a:ext>
              </a:extLst>
            </p:cNvPr>
            <p:cNvSpPr/>
            <p:nvPr/>
          </p:nvSpPr>
          <p:spPr>
            <a:xfrm>
              <a:off x="10652615" y="2582187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E8B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6" name="Text 27">
              <a:extLst>
                <a:ext uri="{FF2B5EF4-FFF2-40B4-BE49-F238E27FC236}">
                  <a16:creationId xmlns:a16="http://schemas.microsoft.com/office/drawing/2014/main" id="{BA084FD8-B132-496B-6BBE-BD039C918E12}"/>
                </a:ext>
              </a:extLst>
            </p:cNvPr>
            <p:cNvSpPr txBox="1"/>
            <p:nvPr/>
          </p:nvSpPr>
          <p:spPr>
            <a:xfrm>
              <a:off x="10689191" y="2582187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 err="1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Mandala Destruction</a:t>
              </a:r>
              <a:endParaRPr lang="en-US" sz="950" dirty="0"/>
            </a:p>
          </p:txBody>
        </p:sp>
        <p:sp>
          <p:nvSpPr>
            <p:cNvPr id="77" name="Text 28">
              <a:extLst>
                <a:ext uri="{FF2B5EF4-FFF2-40B4-BE49-F238E27FC236}">
                  <a16:creationId xmlns:a16="http://schemas.microsoft.com/office/drawing/2014/main" id="{A162CB7B-ED09-14FF-4F19-F3279739BB4D}"/>
                </a:ext>
              </a:extLst>
            </p:cNvPr>
            <p:cNvSpPr txBox="1"/>
            <p:nvPr/>
          </p:nvSpPr>
          <p:spPr>
            <a:xfrm>
              <a:off x="2334029" y="3834915"/>
              <a:ext cx="12984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eyes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CLOSED</a:t>
              </a:r>
              <a:endParaRPr lang="en-US" sz="900" dirty="0"/>
            </a:p>
          </p:txBody>
        </p:sp>
        <p:sp>
          <p:nvSpPr>
            <p:cNvPr id="78" name="Shape 29">
              <a:extLst>
                <a:ext uri="{FF2B5EF4-FFF2-40B4-BE49-F238E27FC236}">
                  <a16:creationId xmlns:a16="http://schemas.microsoft.com/office/drawing/2014/main" id="{0BD33C76-47BC-87B5-F926-52BB468A3D49}"/>
                </a:ext>
              </a:extLst>
            </p:cNvPr>
            <p:cNvSpPr/>
            <p:nvPr/>
          </p:nvSpPr>
          <p:spPr>
            <a:xfrm>
              <a:off x="2983253" y="3524019"/>
              <a:ext cx="0" cy="292608"/>
            </a:xfrm>
            <a:prstGeom prst="line">
              <a:avLst/>
            </a:prstGeom>
            <a:noFill/>
            <a:ln w="15240">
              <a:solidFill>
                <a:srgbClr val="8FD9EC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9" name="Text 30">
              <a:extLst>
                <a:ext uri="{FF2B5EF4-FFF2-40B4-BE49-F238E27FC236}">
                  <a16:creationId xmlns:a16="http://schemas.microsoft.com/office/drawing/2014/main" id="{F378A501-F2DD-22C5-D041-6719E161F0AB}"/>
                </a:ext>
              </a:extLst>
            </p:cNvPr>
            <p:cNvSpPr txBox="1"/>
            <p:nvPr/>
          </p:nvSpPr>
          <p:spPr>
            <a:xfrm>
              <a:off x="3600472" y="3834915"/>
              <a:ext cx="12984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eyes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</a:t>
              </a:r>
              <a:endParaRPr lang="en-US" sz="900" dirty="0"/>
            </a:p>
          </p:txBody>
        </p:sp>
        <p:sp>
          <p:nvSpPr>
            <p:cNvPr id="80" name="Shape 31">
              <a:extLst>
                <a:ext uri="{FF2B5EF4-FFF2-40B4-BE49-F238E27FC236}">
                  <a16:creationId xmlns:a16="http://schemas.microsoft.com/office/drawing/2014/main" id="{C2E675F9-FB6C-A765-5D59-24E275123621}"/>
                </a:ext>
              </a:extLst>
            </p:cNvPr>
            <p:cNvSpPr/>
            <p:nvPr/>
          </p:nvSpPr>
          <p:spPr>
            <a:xfrm>
              <a:off x="4249696" y="3524019"/>
              <a:ext cx="0" cy="292608"/>
            </a:xfrm>
            <a:prstGeom prst="line">
              <a:avLst/>
            </a:prstGeom>
            <a:noFill/>
            <a:ln w="15240">
              <a:solidFill>
                <a:srgbClr val="8FD9EC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81" name="Text 32">
              <a:extLst>
                <a:ext uri="{FF2B5EF4-FFF2-40B4-BE49-F238E27FC236}">
                  <a16:creationId xmlns:a16="http://schemas.microsoft.com/office/drawing/2014/main" id="{211CB627-2A3A-A1EF-C99A-47A9A297882E}"/>
                </a:ext>
              </a:extLst>
            </p:cNvPr>
            <p:cNvSpPr txBox="1"/>
            <p:nvPr/>
          </p:nvSpPr>
          <p:spPr>
            <a:xfrm>
              <a:off x="7421068" y="3834915"/>
              <a:ext cx="12984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eyes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CLOSED</a:t>
              </a:r>
              <a:endParaRPr lang="en-US" sz="900" dirty="0"/>
            </a:p>
          </p:txBody>
        </p:sp>
        <p:sp>
          <p:nvSpPr>
            <p:cNvPr id="82" name="Shape 33">
              <a:extLst>
                <a:ext uri="{FF2B5EF4-FFF2-40B4-BE49-F238E27FC236}">
                  <a16:creationId xmlns:a16="http://schemas.microsoft.com/office/drawing/2014/main" id="{1BF0A702-1BCB-E314-0B15-A8A12E5053F2}"/>
                </a:ext>
              </a:extLst>
            </p:cNvPr>
            <p:cNvSpPr/>
            <p:nvPr/>
          </p:nvSpPr>
          <p:spPr>
            <a:xfrm>
              <a:off x="8070292" y="3524019"/>
              <a:ext cx="0" cy="292608"/>
            </a:xfrm>
            <a:prstGeom prst="line">
              <a:avLst/>
            </a:prstGeom>
            <a:noFill/>
            <a:ln w="15240">
              <a:solidFill>
                <a:srgbClr val="8FD9EC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83" name="Text 34">
              <a:extLst>
                <a:ext uri="{FF2B5EF4-FFF2-40B4-BE49-F238E27FC236}">
                  <a16:creationId xmlns:a16="http://schemas.microsoft.com/office/drawing/2014/main" id="{27F0F263-CA97-5AD1-D427-F107A276826F}"/>
                </a:ext>
              </a:extLst>
            </p:cNvPr>
            <p:cNvSpPr txBox="1"/>
            <p:nvPr/>
          </p:nvSpPr>
          <p:spPr>
            <a:xfrm>
              <a:off x="8687512" y="3834915"/>
              <a:ext cx="12984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eyes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</a:t>
              </a:r>
              <a:endParaRPr lang="en-US" sz="900" dirty="0"/>
            </a:p>
          </p:txBody>
        </p:sp>
        <p:sp>
          <p:nvSpPr>
            <p:cNvPr id="84" name="Shape 35">
              <a:extLst>
                <a:ext uri="{FF2B5EF4-FFF2-40B4-BE49-F238E27FC236}">
                  <a16:creationId xmlns:a16="http://schemas.microsoft.com/office/drawing/2014/main" id="{63E968E8-5319-20BD-6F16-22109A1A11A0}"/>
                </a:ext>
              </a:extLst>
            </p:cNvPr>
            <p:cNvSpPr/>
            <p:nvPr/>
          </p:nvSpPr>
          <p:spPr>
            <a:xfrm>
              <a:off x="9336736" y="3524019"/>
              <a:ext cx="0" cy="292608"/>
            </a:xfrm>
            <a:prstGeom prst="line">
              <a:avLst/>
            </a:prstGeom>
            <a:noFill/>
            <a:ln w="15240">
              <a:solidFill>
                <a:srgbClr val="8FD9EC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85" name="Text 36">
              <a:extLst>
                <a:ext uri="{FF2B5EF4-FFF2-40B4-BE49-F238E27FC236}">
                  <a16:creationId xmlns:a16="http://schemas.microsoft.com/office/drawing/2014/main" id="{F3FDD11E-9C0A-FB5A-B7FD-14C6D57B3F0C}"/>
                </a:ext>
              </a:extLst>
            </p:cNvPr>
            <p:cNvSpPr txBox="1"/>
            <p:nvPr/>
          </p:nvSpPr>
          <p:spPr>
            <a:xfrm>
              <a:off x="10556640" y="1762093"/>
              <a:ext cx="12984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E88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movement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E88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of the face</a:t>
              </a:r>
              <a:endParaRPr lang="en-US" sz="900" dirty="0"/>
            </a:p>
          </p:txBody>
        </p:sp>
        <p:sp>
          <p:nvSpPr>
            <p:cNvPr id="86" name="Shape 37">
              <a:extLst>
                <a:ext uri="{FF2B5EF4-FFF2-40B4-BE49-F238E27FC236}">
                  <a16:creationId xmlns:a16="http://schemas.microsoft.com/office/drawing/2014/main" id="{AA8EF6F7-7F34-A161-E7CA-3274E5EE4D95}"/>
                </a:ext>
              </a:extLst>
            </p:cNvPr>
            <p:cNvSpPr/>
            <p:nvPr/>
          </p:nvSpPr>
          <p:spPr>
            <a:xfrm flipV="1">
              <a:off x="11205861" y="2224591"/>
              <a:ext cx="9073" cy="269822"/>
            </a:xfrm>
            <a:prstGeom prst="line">
              <a:avLst/>
            </a:prstGeom>
            <a:noFill/>
            <a:ln w="15240">
              <a:solidFill>
                <a:srgbClr val="E8887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87" name="Shape 39">
              <a:extLst>
                <a:ext uri="{FF2B5EF4-FFF2-40B4-BE49-F238E27FC236}">
                  <a16:creationId xmlns:a16="http://schemas.microsoft.com/office/drawing/2014/main" id="{A4F73548-6B2A-72A2-5FEB-86D35137966D}"/>
                </a:ext>
              </a:extLst>
            </p:cNvPr>
            <p:cNvSpPr/>
            <p:nvPr/>
          </p:nvSpPr>
          <p:spPr>
            <a:xfrm>
              <a:off x="1078847" y="2326155"/>
              <a:ext cx="0" cy="237744"/>
            </a:xfrm>
            <a:prstGeom prst="line">
              <a:avLst/>
            </a:prstGeom>
            <a:noFill/>
            <a:ln w="1397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88" name="Text 40">
              <a:extLst>
                <a:ext uri="{FF2B5EF4-FFF2-40B4-BE49-F238E27FC236}">
                  <a16:creationId xmlns:a16="http://schemas.microsoft.com/office/drawing/2014/main" id="{214ADC3B-125F-0375-7949-D5BB9A19EAE7}"/>
                </a:ext>
              </a:extLst>
            </p:cNvPr>
            <p:cNvSpPr txBox="1"/>
            <p:nvPr/>
          </p:nvSpPr>
          <p:spPr>
            <a:xfrm>
              <a:off x="3908915" y="2015259"/>
              <a:ext cx="193852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i="1" dirty="0">
                  <a:solidFill>
                    <a:srgbClr val="8A97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when Claude responds</a:t>
              </a:r>
              <a:endParaRPr lang="en-US" sz="850" dirty="0"/>
            </a:p>
          </p:txBody>
        </p:sp>
        <p:sp>
          <p:nvSpPr>
            <p:cNvPr id="89" name="Shape 41">
              <a:extLst>
                <a:ext uri="{FF2B5EF4-FFF2-40B4-BE49-F238E27FC236}">
                  <a16:creationId xmlns:a16="http://schemas.microsoft.com/office/drawing/2014/main" id="{061FCD2B-1BC4-EA3D-0108-BC5C6B7BFC7D}"/>
                </a:ext>
              </a:extLst>
            </p:cNvPr>
            <p:cNvSpPr/>
            <p:nvPr/>
          </p:nvSpPr>
          <p:spPr>
            <a:xfrm>
              <a:off x="4878179" y="2326155"/>
              <a:ext cx="0" cy="237744"/>
            </a:xfrm>
            <a:prstGeom prst="line">
              <a:avLst/>
            </a:prstGeom>
            <a:noFill/>
            <a:ln w="1397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90" name="Text 42">
              <a:extLst>
                <a:ext uri="{FF2B5EF4-FFF2-40B4-BE49-F238E27FC236}">
                  <a16:creationId xmlns:a16="http://schemas.microsoft.com/office/drawing/2014/main" id="{40529798-FC22-7BBE-8626-106465B942D8}"/>
                </a:ext>
              </a:extLst>
            </p:cNvPr>
            <p:cNvSpPr txBox="1"/>
            <p:nvPr/>
          </p:nvSpPr>
          <p:spPr>
            <a:xfrm>
              <a:off x="5175359" y="2015259"/>
              <a:ext cx="193852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i="1" dirty="0">
                  <a:solidFill>
                    <a:srgbClr val="8A97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timed</a:t>
              </a:r>
              <a:endParaRPr lang="en-US" sz="850" dirty="0"/>
            </a:p>
          </p:txBody>
        </p:sp>
        <p:sp>
          <p:nvSpPr>
            <p:cNvPr id="91" name="Shape 43">
              <a:extLst>
                <a:ext uri="{FF2B5EF4-FFF2-40B4-BE49-F238E27FC236}">
                  <a16:creationId xmlns:a16="http://schemas.microsoft.com/office/drawing/2014/main" id="{EEE2701B-F88F-96FD-354E-0E6C0F9C7D46}"/>
                </a:ext>
              </a:extLst>
            </p:cNvPr>
            <p:cNvSpPr/>
            <p:nvPr/>
          </p:nvSpPr>
          <p:spPr>
            <a:xfrm>
              <a:off x="6144623" y="2326155"/>
              <a:ext cx="0" cy="237744"/>
            </a:xfrm>
            <a:prstGeom prst="line">
              <a:avLst/>
            </a:prstGeom>
            <a:noFill/>
            <a:ln w="1397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92" name="Text 44">
              <a:extLst>
                <a:ext uri="{FF2B5EF4-FFF2-40B4-BE49-F238E27FC236}">
                  <a16:creationId xmlns:a16="http://schemas.microsoft.com/office/drawing/2014/main" id="{CCE8780F-8A56-383D-5321-58B437D3CCAA}"/>
                </a:ext>
              </a:extLst>
            </p:cNvPr>
            <p:cNvSpPr txBox="1"/>
            <p:nvPr/>
          </p:nvSpPr>
          <p:spPr>
            <a:xfrm>
              <a:off x="8974691" y="2015259"/>
              <a:ext cx="193852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i="1" dirty="0">
                  <a:solidFill>
                    <a:srgbClr val="8A97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timed</a:t>
              </a:r>
              <a:endParaRPr lang="en-US" sz="850" dirty="0"/>
            </a:p>
          </p:txBody>
        </p:sp>
        <p:sp>
          <p:nvSpPr>
            <p:cNvPr id="93" name="Shape 45">
              <a:extLst>
                <a:ext uri="{FF2B5EF4-FFF2-40B4-BE49-F238E27FC236}">
                  <a16:creationId xmlns:a16="http://schemas.microsoft.com/office/drawing/2014/main" id="{3402446F-32DC-12BB-0501-E3AA0F52238C}"/>
                </a:ext>
              </a:extLst>
            </p:cNvPr>
            <p:cNvSpPr/>
            <p:nvPr/>
          </p:nvSpPr>
          <p:spPr>
            <a:xfrm>
              <a:off x="9943955" y="2326155"/>
              <a:ext cx="0" cy="237744"/>
            </a:xfrm>
            <a:prstGeom prst="line">
              <a:avLst/>
            </a:prstGeom>
            <a:noFill/>
            <a:ln w="1397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94" name="Shape 2">
              <a:extLst>
                <a:ext uri="{FF2B5EF4-FFF2-40B4-BE49-F238E27FC236}">
                  <a16:creationId xmlns:a16="http://schemas.microsoft.com/office/drawing/2014/main" id="{E64BF3A8-CBB9-19AA-A299-5F876C2D114D}"/>
                </a:ext>
              </a:extLst>
            </p:cNvPr>
            <p:cNvSpPr/>
            <p:nvPr/>
          </p:nvSpPr>
          <p:spPr>
            <a:xfrm>
              <a:off x="9388384" y="4500794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5A7FB8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95" name="Text 3">
              <a:extLst>
                <a:ext uri="{FF2B5EF4-FFF2-40B4-BE49-F238E27FC236}">
                  <a16:creationId xmlns:a16="http://schemas.microsoft.com/office/drawing/2014/main" id="{23DEB10D-F9B1-6C72-856A-3FD041367D3E}"/>
                </a:ext>
              </a:extLst>
            </p:cNvPr>
            <p:cNvSpPr txBox="1"/>
            <p:nvPr/>
          </p:nvSpPr>
          <p:spPr>
            <a:xfrm>
              <a:off x="9424960" y="4500794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50" b="1" dirty="0" err="1">
                  <a:solidFill>
                    <a:srgbClr val="E8EEF7"/>
                  </a:solidFill>
                  <a:ea typeface="Calibri"/>
                  <a:cs typeface="Calibri"/>
                </a:rPr>
                <a:t>Emotional</a:t>
              </a:r>
            </a:p>
            <a:p>
              <a:pPr algn="ctr"/>
              <a:r>
                <a:rPr lang="en-US" sz="950" b="1" dirty="0" err="1">
                  <a:solidFill>
                    <a:srgbClr val="E8EEF7"/>
                  </a:solidFill>
                  <a:ea typeface="Calibri"/>
                  <a:cs typeface="Calibri"/>
                </a:rPr>
                <a:t>trend</a:t>
              </a:r>
              <a:endParaRPr lang="en-US" dirty="0" err="1"/>
            </a:p>
          </p:txBody>
        </p:sp>
        <p:sp>
          <p:nvSpPr>
            <p:cNvPr id="96" name="Text 28">
              <a:extLst>
                <a:ext uri="{FF2B5EF4-FFF2-40B4-BE49-F238E27FC236}">
                  <a16:creationId xmlns:a16="http://schemas.microsoft.com/office/drawing/2014/main" id="{4F8EB79E-FCE6-7289-3FE2-4F71D722B9AF}"/>
                </a:ext>
              </a:extLst>
            </p:cNvPr>
            <p:cNvSpPr txBox="1"/>
            <p:nvPr/>
          </p:nvSpPr>
          <p:spPr>
            <a:xfrm>
              <a:off x="1064028" y="3834914"/>
              <a:ext cx="12984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/>
                  <a:ea typeface="Calibri"/>
                  <a:cs typeface="Calibri"/>
                </a:rPr>
                <a:t>START</a:t>
              </a:r>
              <a:endParaRPr lang="en-US" dirty="0"/>
            </a:p>
          </p:txBody>
        </p:sp>
        <p:sp>
          <p:nvSpPr>
            <p:cNvPr id="97" name="Shape 29">
              <a:extLst>
                <a:ext uri="{FF2B5EF4-FFF2-40B4-BE49-F238E27FC236}">
                  <a16:creationId xmlns:a16="http://schemas.microsoft.com/office/drawing/2014/main" id="{1BDD6D87-7D3E-99CC-2729-15A90AA4F32A}"/>
                </a:ext>
              </a:extLst>
            </p:cNvPr>
            <p:cNvSpPr/>
            <p:nvPr/>
          </p:nvSpPr>
          <p:spPr>
            <a:xfrm>
              <a:off x="1713252" y="3669161"/>
              <a:ext cx="0" cy="292608"/>
            </a:xfrm>
            <a:prstGeom prst="line">
              <a:avLst/>
            </a:prstGeom>
            <a:noFill/>
            <a:ln w="15240">
              <a:solidFill>
                <a:srgbClr val="8FD9EC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98" name="Text 28">
              <a:extLst>
                <a:ext uri="{FF2B5EF4-FFF2-40B4-BE49-F238E27FC236}">
                  <a16:creationId xmlns:a16="http://schemas.microsoft.com/office/drawing/2014/main" id="{2691BDB9-49A7-C88B-B9AF-F9AB135E9691}"/>
                </a:ext>
              </a:extLst>
            </p:cNvPr>
            <p:cNvSpPr txBox="1"/>
            <p:nvPr/>
          </p:nvSpPr>
          <p:spPr>
            <a:xfrm>
              <a:off x="9940420" y="5558485"/>
              <a:ext cx="12984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/>
                  <a:ea typeface="Calibri"/>
                  <a:cs typeface="Calibri"/>
                </a:rPr>
                <a:t>END</a:t>
              </a:r>
              <a:endParaRPr lang="en-US" dirty="0"/>
            </a:p>
          </p:txBody>
        </p:sp>
        <p:sp>
          <p:nvSpPr>
            <p:cNvPr id="99" name="Shape 29">
              <a:extLst>
                <a:ext uri="{FF2B5EF4-FFF2-40B4-BE49-F238E27FC236}">
                  <a16:creationId xmlns:a16="http://schemas.microsoft.com/office/drawing/2014/main" id="{CB0134AC-5291-2B6C-1410-2A3D5E9B8033}"/>
                </a:ext>
              </a:extLst>
            </p:cNvPr>
            <p:cNvSpPr/>
            <p:nvPr/>
          </p:nvSpPr>
          <p:spPr>
            <a:xfrm>
              <a:off x="10589644" y="5392732"/>
              <a:ext cx="0" cy="292608"/>
            </a:xfrm>
            <a:prstGeom prst="line">
              <a:avLst/>
            </a:prstGeom>
            <a:noFill/>
            <a:ln w="15240">
              <a:solidFill>
                <a:srgbClr val="8FD9EC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100" name="Shape 20">
              <a:extLst>
                <a:ext uri="{FF2B5EF4-FFF2-40B4-BE49-F238E27FC236}">
                  <a16:creationId xmlns:a16="http://schemas.microsoft.com/office/drawing/2014/main" id="{4BB7747F-B5E7-7F1E-FCE6-40848248CB5A}"/>
                </a:ext>
              </a:extLst>
            </p:cNvPr>
            <p:cNvSpPr/>
            <p:nvPr/>
          </p:nvSpPr>
          <p:spPr>
            <a:xfrm>
              <a:off x="10655190" y="4500793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E8B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101" name="Text 21">
              <a:extLst>
                <a:ext uri="{FF2B5EF4-FFF2-40B4-BE49-F238E27FC236}">
                  <a16:creationId xmlns:a16="http://schemas.microsoft.com/office/drawing/2014/main" id="{BFC7D5C8-3DFB-64BE-9734-699C1B385480}"/>
                </a:ext>
              </a:extLst>
            </p:cNvPr>
            <p:cNvSpPr txBox="1"/>
            <p:nvPr/>
          </p:nvSpPr>
          <p:spPr>
            <a:xfrm>
              <a:off x="10691766" y="4500793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50" b="1" dirty="0">
                  <a:solidFill>
                    <a:srgbClr val="E8B87F"/>
                  </a:solidFill>
                  <a:ea typeface="Calibri"/>
                  <a:cs typeface="Calibri"/>
                </a:rPr>
                <a:t>Final feedback</a:t>
              </a:r>
            </a:p>
          </p:txBody>
        </p:sp>
        <p:sp>
          <p:nvSpPr>
            <p:cNvPr id="102" name="Shape 45">
              <a:extLst>
                <a:ext uri="{FF2B5EF4-FFF2-40B4-BE49-F238E27FC236}">
                  <a16:creationId xmlns:a16="http://schemas.microsoft.com/office/drawing/2014/main" id="{C2878284-50E9-93AB-AF45-D366F331A3D6}"/>
                </a:ext>
              </a:extLst>
            </p:cNvPr>
            <p:cNvSpPr/>
            <p:nvPr/>
          </p:nvSpPr>
          <p:spPr>
            <a:xfrm>
              <a:off x="11218489" y="3537190"/>
              <a:ext cx="4536" cy="877279"/>
            </a:xfrm>
            <a:prstGeom prst="line">
              <a:avLst/>
            </a:prstGeom>
            <a:noFill/>
            <a:ln w="1397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103" name="Shape 45">
              <a:extLst>
                <a:ext uri="{FF2B5EF4-FFF2-40B4-BE49-F238E27FC236}">
                  <a16:creationId xmlns:a16="http://schemas.microsoft.com/office/drawing/2014/main" id="{8092F0A1-1CAA-CFC7-1A62-919307751486}"/>
                </a:ext>
              </a:extLst>
            </p:cNvPr>
            <p:cNvSpPr/>
            <p:nvPr/>
          </p:nvSpPr>
          <p:spPr>
            <a:xfrm flipH="1" flipV="1">
              <a:off x="10533595" y="4927004"/>
              <a:ext cx="122464" cy="7185"/>
            </a:xfrm>
            <a:prstGeom prst="line">
              <a:avLst/>
            </a:prstGeom>
            <a:noFill/>
            <a:ln w="1397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cxnSp>
          <p:nvCxnSpPr>
            <p:cNvPr id="104" name="Straight Arrow Connector 69">
              <a:extLst>
                <a:ext uri="{FF2B5EF4-FFF2-40B4-BE49-F238E27FC236}">
                  <a16:creationId xmlns:a16="http://schemas.microsoft.com/office/drawing/2014/main" id="{09A711E5-6DCC-F312-6BF9-C8A5A739E31C}"/>
                </a:ext>
              </a:extLst>
            </p:cNvPr>
            <p:cNvCxnSpPr/>
            <p:nvPr/>
          </p:nvCxnSpPr>
          <p:spPr>
            <a:xfrm flipH="1" flipV="1">
              <a:off x="2360507" y="3636928"/>
              <a:ext cx="5503" cy="1309294"/>
            </a:xfrm>
            <a:prstGeom prst="straightConnector1">
              <a:avLst/>
            </a:prstGeom>
            <a:noFill/>
            <a:ln w="13970">
              <a:solidFill>
                <a:srgbClr val="44507A"/>
              </a:solidFill>
              <a:prstDash val="solid"/>
              <a:tailEnd type="triangle"/>
            </a:ln>
          </p:spPr>
        </p:cxnSp>
        <p:cxnSp>
          <p:nvCxnSpPr>
            <p:cNvPr id="105" name="Straight Arrow Connector 71">
              <a:extLst>
                <a:ext uri="{FF2B5EF4-FFF2-40B4-BE49-F238E27FC236}">
                  <a16:creationId xmlns:a16="http://schemas.microsoft.com/office/drawing/2014/main" id="{E67242F3-7403-57AB-B0A6-B593B948B172}"/>
                </a:ext>
              </a:extLst>
            </p:cNvPr>
            <p:cNvCxnSpPr/>
            <p:nvPr/>
          </p:nvCxnSpPr>
          <p:spPr>
            <a:xfrm>
              <a:off x="2358521" y="4935670"/>
              <a:ext cx="6956713" cy="460"/>
            </a:xfrm>
            <a:prstGeom prst="straightConnector1">
              <a:avLst/>
            </a:prstGeom>
            <a:ln w="12700">
              <a:solidFill>
                <a:srgbClr val="44507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 28">
              <a:extLst>
                <a:ext uri="{FF2B5EF4-FFF2-40B4-BE49-F238E27FC236}">
                  <a16:creationId xmlns:a16="http://schemas.microsoft.com/office/drawing/2014/main" id="{6F896BB4-86DB-0509-DC63-DAD3464C19AC}"/>
                </a:ext>
              </a:extLst>
            </p:cNvPr>
            <p:cNvSpPr txBox="1"/>
            <p:nvPr/>
          </p:nvSpPr>
          <p:spPr>
            <a:xfrm>
              <a:off x="5114420" y="5213770"/>
              <a:ext cx="12984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/>
                  <a:ea typeface="Calibri"/>
                  <a:cs typeface="Calibri"/>
                </a:rPr>
                <a:t>RESTART</a:t>
              </a:r>
              <a:endParaRPr lang="en-US" dirty="0"/>
            </a:p>
          </p:txBody>
        </p:sp>
        <p:sp>
          <p:nvSpPr>
            <p:cNvPr id="107" name="Shape 29">
              <a:extLst>
                <a:ext uri="{FF2B5EF4-FFF2-40B4-BE49-F238E27FC236}">
                  <a16:creationId xmlns:a16="http://schemas.microsoft.com/office/drawing/2014/main" id="{292294BE-5C9E-016B-E684-6792A2EE999A}"/>
                </a:ext>
              </a:extLst>
            </p:cNvPr>
            <p:cNvSpPr/>
            <p:nvPr/>
          </p:nvSpPr>
          <p:spPr>
            <a:xfrm>
              <a:off x="5763644" y="5048017"/>
              <a:ext cx="0" cy="292608"/>
            </a:xfrm>
            <a:prstGeom prst="line">
              <a:avLst/>
            </a:prstGeom>
            <a:noFill/>
            <a:ln w="15240">
              <a:solidFill>
                <a:srgbClr val="8FD9EC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IT"/>
            </a:p>
          </p:txBody>
        </p:sp>
      </p:grpSp>
      <p:pic>
        <p:nvPicPr>
          <p:cNvPr id="109" name="Immagine 108">
            <a:extLst>
              <a:ext uri="{FF2B5EF4-FFF2-40B4-BE49-F238E27FC236}">
                <a16:creationId xmlns:a16="http://schemas.microsoft.com/office/drawing/2014/main" id="{F8DB4903-2320-4D81-CDE6-71AEB9CA7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1318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27483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455813" y="762000"/>
            <a:ext cx="193097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to Particles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876425"/>
            <a:ext cx="993829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a Phrase into Particles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028700" y="3876675"/>
            <a:ext cx="6096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790700" y="3876675"/>
            <a:ext cx="696157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phrase is drawn white on black on an offscreen canvas.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028700" y="4591050"/>
            <a:ext cx="6096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790700" y="4591050"/>
            <a:ext cx="725995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 pixels above a brightness threshold are read — the silhouette of the letters.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28700" y="5648325"/>
            <a:ext cx="6096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790700" y="5648325"/>
            <a:ext cx="725995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~13,664 points are sampled at random among those pixels, with a fixed seed — reproducible.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28700" y="6591300"/>
            <a:ext cx="6096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790700" y="6591300"/>
            <a:ext cx="703653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points are scaled and centered into the scene’s text box.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28700" y="7305675"/>
            <a:ext cx="6096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790700" y="7305675"/>
            <a:ext cx="725995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an array of 3D positions (x, y, z≈0), cached for that phrase that each particles has to reach.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9305925" y="4838700"/>
            <a:ext cx="8601075" cy="22479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 t="3205" b="3205"/>
          <a:stretch/>
        </p:blipFill>
        <p:spPr>
          <a:xfrm>
            <a:off x="9305925" y="4838700"/>
            <a:ext cx="8601075" cy="2247900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D0C52C5C-11DF-41C4-22F6-3285758D5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1318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27483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455813" y="762000"/>
            <a:ext cx="251222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Particles on the Face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9211089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Anchoring Particles to the Face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047750" y="3876986"/>
            <a:ext cx="6096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809750" y="3876986"/>
            <a:ext cx="508541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gives 478 landmarks of the face.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047750" y="4591361"/>
            <a:ext cx="6096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09750" y="4591361"/>
            <a:ext cx="725995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face_triangoli.txt </a:t>
            </a: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the fixed tessellation — the triangles between those indices.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47750" y="5534336"/>
            <a:ext cx="609600" cy="788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809750" y="5534336"/>
            <a:ext cx="7259955" cy="788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particle is assigned a triangle (A, B, C) and fixed random barycentric coordinates (w </a:t>
            </a:r>
            <a:r>
              <a:rPr lang="en-US" sz="1562" baseline="-400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</a:t>
            </a:r>
            <a:r>
              <a:rPr lang="en-US" sz="1562" baseline="-400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</a:t>
            </a:r>
            <a:r>
              <a:rPr lang="en-US" sz="1562" baseline="-400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47750" y="6513030"/>
            <a:ext cx="6096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809750" y="6513030"/>
            <a:ext cx="725995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assignment never changes — the particle always lives at the same relative point of the mesh.</a:t>
            </a:r>
            <a:endParaRPr lang="en-US" sz="1875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 t="4464" b="4464"/>
          <a:stretch/>
        </p:blipFill>
        <p:spPr>
          <a:xfrm>
            <a:off x="11667157" y="3057525"/>
            <a:ext cx="5693465" cy="4880113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9D02278B-86F2-205E-DB67-CA5F55A1B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14270" r="14270"/>
          <a:stretch/>
        </p:blipFill>
        <p:spPr>
          <a:xfrm>
            <a:off x="11298324" y="1081086"/>
            <a:ext cx="6989675" cy="92059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298324" y="1081088"/>
            <a:ext cx="6989676" cy="9205912"/>
          </a:xfrm>
          <a:prstGeom prst="rect">
            <a:avLst/>
          </a:prstGeom>
          <a:gradFill rotWithShape="1">
            <a:gsLst>
              <a:gs pos="0">
                <a:srgbClr val="05070D">
                  <a:alpha val="100000"/>
                </a:srgbClr>
              </a:gs>
              <a:gs pos="22000">
                <a:srgbClr val="05070D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1047750" y="771525"/>
            <a:ext cx="11318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27483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455813" y="762000"/>
            <a:ext cx="157522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Particles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47750" y="1619250"/>
            <a:ext cx="7819168" cy="1457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13,664 Reactive Particles</a:t>
            </a:r>
            <a:endParaRPr lang="en-US" sz="4800" dirty="0"/>
          </a:p>
        </p:txBody>
      </p:sp>
      <p:sp>
        <p:nvSpPr>
          <p:cNvPr id="16" name="Shape 13"/>
          <p:cNvSpPr/>
          <p:nvPr/>
        </p:nvSpPr>
        <p:spPr>
          <a:xfrm>
            <a:off x="1047750" y="3048000"/>
            <a:ext cx="28575" cy="1219200"/>
          </a:xfrm>
          <a:prstGeom prst="rect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1323975" y="3095625"/>
            <a:ext cx="6450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particle system is a collection of many minute particles that together represent a fuzzy object.”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323975" y="3924300"/>
            <a:ext cx="73342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W. T. Reeves, Lucasfilm, 1982</a:t>
            </a:r>
            <a:endParaRPr lang="en-US" sz="1800" dirty="0"/>
          </a:p>
        </p:txBody>
      </p:sp>
      <p:pic>
        <p:nvPicPr>
          <p:cNvPr id="27" name="Image 0" descr="/tmp/ppt/p_seek.png">
            <a:extLst>
              <a:ext uri="{FF2B5EF4-FFF2-40B4-BE49-F238E27FC236}">
                <a16:creationId xmlns:a16="http://schemas.microsoft.com/office/drawing/2014/main" id="{A9861508-F283-A048-F2A7-768595763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5" y="5246752"/>
            <a:ext cx="2743200" cy="2212848"/>
          </a:xfrm>
          <a:prstGeom prst="rect">
            <a:avLst/>
          </a:prstGeom>
        </p:spPr>
      </p:pic>
      <p:sp>
        <p:nvSpPr>
          <p:cNvPr id="28" name="Text 3">
            <a:extLst>
              <a:ext uri="{FF2B5EF4-FFF2-40B4-BE49-F238E27FC236}">
                <a16:creationId xmlns:a16="http://schemas.microsoft.com/office/drawing/2014/main" id="{709A9CBD-7C75-10C5-94F3-FBD8FC3D682A}"/>
              </a:ext>
            </a:extLst>
          </p:cNvPr>
          <p:cNvSpPr txBox="1"/>
          <p:nvPr/>
        </p:nvSpPr>
        <p:spPr>
          <a:xfrm>
            <a:off x="380387" y="7532752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</a:t>
            </a:r>
            <a:endParaRPr lang="en-US" sz="14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F21094E0-C862-F60A-6C83-DC49A2BFD7B2}"/>
              </a:ext>
            </a:extLst>
          </p:cNvPr>
          <p:cNvSpPr txBox="1"/>
          <p:nvPr/>
        </p:nvSpPr>
        <p:spPr>
          <a:xfrm>
            <a:off x="517547" y="791680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chases its own position with its own inertia: it compares where it is with where it would like to be, and applies a force.</a:t>
            </a:r>
            <a:endParaRPr lang="en-US" sz="1100" dirty="0"/>
          </a:p>
        </p:txBody>
      </p:sp>
      <p:pic>
        <p:nvPicPr>
          <p:cNvPr id="30" name="Image 1" descr="/tmp/ppt/p_repulsione.png">
            <a:extLst>
              <a:ext uri="{FF2B5EF4-FFF2-40B4-BE49-F238E27FC236}">
                <a16:creationId xmlns:a16="http://schemas.microsoft.com/office/drawing/2014/main" id="{700450E2-FBD5-2541-B7F1-8EE10C77D0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907" y="5246752"/>
            <a:ext cx="2743200" cy="2212848"/>
          </a:xfrm>
          <a:prstGeom prst="rect">
            <a:avLst/>
          </a:prstGeom>
        </p:spPr>
      </p:pic>
      <p:sp>
        <p:nvSpPr>
          <p:cNvPr id="31" name="Text 5">
            <a:extLst>
              <a:ext uri="{FF2B5EF4-FFF2-40B4-BE49-F238E27FC236}">
                <a16:creationId xmlns:a16="http://schemas.microsoft.com/office/drawing/2014/main" id="{2FAEC099-D8D8-0ECB-085F-52BD684C38B6}"/>
              </a:ext>
            </a:extLst>
          </p:cNvPr>
          <p:cNvSpPr txBox="1"/>
          <p:nvPr/>
        </p:nvSpPr>
        <p:spPr>
          <a:xfrm>
            <a:off x="4156859" y="7532752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REPULSION</a:t>
            </a:r>
            <a:endParaRPr lang="en-US" sz="14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423041D6-91A4-4515-6A70-C08BD204E86A}"/>
              </a:ext>
            </a:extLst>
          </p:cNvPr>
          <p:cNvSpPr txBox="1"/>
          <p:nvPr/>
        </p:nvSpPr>
        <p:spPr>
          <a:xfrm>
            <a:off x="4294019" y="791680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nose repels whatever passes near it. The push decreases with the square of the distance and drops to zero at the edge of the radius.</a:t>
            </a:r>
            <a:endParaRPr lang="en-US" sz="1100" dirty="0"/>
          </a:p>
        </p:txBody>
      </p:sp>
      <p:pic>
        <p:nvPicPr>
          <p:cNvPr id="33" name="Image 2" descr="/tmp/ppt/p_swarm.png">
            <a:extLst>
              <a:ext uri="{FF2B5EF4-FFF2-40B4-BE49-F238E27FC236}">
                <a16:creationId xmlns:a16="http://schemas.microsoft.com/office/drawing/2014/main" id="{71F67025-3451-BAB8-BBF0-C9F4AE9A2F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7379" y="5246752"/>
            <a:ext cx="2743200" cy="2212848"/>
          </a:xfrm>
          <a:prstGeom prst="rect">
            <a:avLst/>
          </a:prstGeom>
        </p:spPr>
      </p:pic>
      <p:sp>
        <p:nvSpPr>
          <p:cNvPr id="34" name="Text 8">
            <a:extLst>
              <a:ext uri="{FF2B5EF4-FFF2-40B4-BE49-F238E27FC236}">
                <a16:creationId xmlns:a16="http://schemas.microsoft.com/office/drawing/2014/main" id="{D828B9F8-44FF-49C4-72C7-C89ACCB19C5D}"/>
              </a:ext>
            </a:extLst>
          </p:cNvPr>
          <p:cNvSpPr txBox="1"/>
          <p:nvPr/>
        </p:nvSpPr>
        <p:spPr>
          <a:xfrm>
            <a:off x="8070491" y="791680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interaction between particles: the shape emerges from the sum of these forces.</a:t>
            </a:r>
            <a:endParaRPr lang="en-US" sz="110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A3B4DF65-BF34-9B6F-4C0A-8BCC6129D38B}"/>
              </a:ext>
            </a:extLst>
          </p:cNvPr>
          <p:cNvSpPr txBox="1"/>
          <p:nvPr/>
        </p:nvSpPr>
        <p:spPr>
          <a:xfrm>
            <a:off x="7933332" y="7580758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</a:t>
            </a:r>
            <a:endParaRPr lang="en-US" sz="1400" dirty="0"/>
          </a:p>
        </p:txBody>
      </p:sp>
      <p:pic>
        <p:nvPicPr>
          <p:cNvPr id="38" name="Immagine 37">
            <a:extLst>
              <a:ext uri="{FF2B5EF4-FFF2-40B4-BE49-F238E27FC236}">
                <a16:creationId xmlns:a16="http://schemas.microsoft.com/office/drawing/2014/main" id="{F739781D-242A-D740-4500-D665B3615E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1318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27483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455813" y="762000"/>
            <a:ext cx="121704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Music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717553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Emotion to Score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1047750" y="3048000"/>
            <a:ext cx="85915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Iso Principle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47750" y="3443288"/>
            <a:ext cx="8044815" cy="12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3538"/>
              </a:lnSpc>
            </a:pPr>
            <a:r>
              <a:rPr lang="en-US" sz="21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meets the listener’s emotion first, then eases it toward calm. 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47750" y="5007248"/>
            <a:ext cx="85915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Quadrants – Music mapping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7750" y="5402535"/>
            <a:ext cx="8044815" cy="12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Arousal -&gt; density of the notes (rhythmic intensity, polyphony)</a:t>
            </a:r>
          </a:p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DFE2EA"/>
                </a:solidFill>
                <a:latin typeface="Arial" pitchFamily="34" charset="0"/>
                <a:cs typeface="Arial" pitchFamily="34" charset="-120"/>
              </a:rPr>
              <a:t>Valence -&gt; tonal characteristics (bright, dark) of the piece.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82200" y="3195638"/>
            <a:ext cx="7258050" cy="6115050"/>
          </a:xfrm>
          <a:prstGeom prst="roundRect">
            <a:avLst>
              <a:gd name="adj" fmla="val 3115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10372725" y="3629025"/>
            <a:ext cx="3162300" cy="2590800"/>
          </a:xfrm>
          <a:prstGeom prst="roundRect">
            <a:avLst>
              <a:gd name="adj" fmla="val 5147"/>
            </a:avLst>
          </a:prstGeom>
          <a:solidFill>
            <a:srgbClr val="1B23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1788676" y="4602956"/>
            <a:ext cx="4065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935519" y="4964906"/>
            <a:ext cx="224030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energy, bright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687425" y="3629025"/>
            <a:ext cx="3162300" cy="2590800"/>
          </a:xfrm>
          <a:prstGeom prst="roundRect">
            <a:avLst>
              <a:gd name="adj" fmla="val 5147"/>
            </a:avLst>
          </a:prstGeom>
          <a:solidFill>
            <a:srgbClr val="241A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5103376" y="4602956"/>
            <a:ext cx="4065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4325377" y="4964906"/>
            <a:ext cx="207495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energy, dark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372725" y="6372225"/>
            <a:ext cx="3162300" cy="2590800"/>
          </a:xfrm>
          <a:prstGeom prst="roundRect">
            <a:avLst>
              <a:gd name="adj" fmla="val 5147"/>
            </a:avLst>
          </a:prstGeom>
          <a:solidFill>
            <a:srgbClr val="12241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11788676" y="7346156"/>
            <a:ext cx="4065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1313468" y="7708106"/>
            <a:ext cx="140881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bright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3687425" y="6372225"/>
            <a:ext cx="3162300" cy="2590800"/>
          </a:xfrm>
          <a:prstGeom prst="roundRect">
            <a:avLst>
              <a:gd name="adj" fmla="val 5147"/>
            </a:avLst>
          </a:prstGeom>
          <a:solidFill>
            <a:srgbClr val="161B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15103376" y="7346156"/>
            <a:ext cx="4065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4703326" y="7708106"/>
            <a:ext cx="120662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dark</a:t>
            </a:r>
            <a:endParaRPr lang="en-US" sz="1800" dirty="0"/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E834848D-5434-AA15-955C-7DE2B0316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  <p:sp>
        <p:nvSpPr>
          <p:cNvPr id="33" name="Text 14">
            <a:extLst>
              <a:ext uri="{FF2B5EF4-FFF2-40B4-BE49-F238E27FC236}">
                <a16:creationId xmlns:a16="http://schemas.microsoft.com/office/drawing/2014/main" id="{50E3213E-A755-8790-1611-738EBA114B43}"/>
              </a:ext>
            </a:extLst>
          </p:cNvPr>
          <p:cNvSpPr/>
          <p:nvPr/>
        </p:nvSpPr>
        <p:spPr>
          <a:xfrm>
            <a:off x="1047750" y="6775994"/>
            <a:ext cx="85915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0A488"/>
                </a:solidFill>
                <a:latin typeface="Arial" pitchFamily="34" charset="0"/>
                <a:cs typeface="Arial" pitchFamily="34" charset="-120"/>
              </a:rPr>
              <a:t>GOAL</a:t>
            </a:r>
            <a:endParaRPr lang="en-US" sz="18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374A6E43-C93E-19FF-635E-2F426787499A}"/>
              </a:ext>
            </a:extLst>
          </p:cNvPr>
          <p:cNvSpPr/>
          <p:nvPr/>
        </p:nvSpPr>
        <p:spPr>
          <a:xfrm>
            <a:off x="1047750" y="7208043"/>
            <a:ext cx="85915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Musical piece which matches the initial arousal/valence value and gradually changes going to Q4 (low arousal, low valence). </a:t>
            </a:r>
            <a:endParaRPr lang="en-US" sz="2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1318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27483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455813" y="762000"/>
            <a:ext cx="121704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Music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167640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Additions to MuseMorphose</a:t>
            </a:r>
            <a:endParaRPr lang="en-US" sz="4500" dirty="0"/>
          </a:p>
        </p:txBody>
      </p:sp>
      <p:sp>
        <p:nvSpPr>
          <p:cNvPr id="70" name="Text Subtitle"/>
          <p:cNvSpPr/>
          <p:nvPr/>
        </p:nvSpPr>
        <p:spPr>
          <a:xfrm>
            <a:off x="1047750" y="2809875"/>
            <a:ext cx="16764000" cy="869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it-IT" sz="2100" dirty="0" err="1">
                <a:solidFill>
                  <a:schemeClr val="bg1"/>
                </a:solidFill>
              </a:rPr>
              <a:t>MuseMorphose</a:t>
            </a:r>
            <a:r>
              <a:rPr lang="it-IT" sz="2100" dirty="0">
                <a:solidFill>
                  <a:schemeClr val="bg1"/>
                </a:solidFill>
              </a:rPr>
              <a:t>: Transformer VAE </a:t>
            </a:r>
            <a:r>
              <a:rPr lang="it-IT" sz="2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lang="it-IT" sz="2100" dirty="0">
                <a:solidFill>
                  <a:schemeClr val="bg1"/>
                </a:solidFill>
              </a:rPr>
              <a:t> </a:t>
            </a:r>
            <a:r>
              <a:rPr lang="it-IT" sz="2100" dirty="0" err="1">
                <a:solidFill>
                  <a:schemeClr val="bg1"/>
                </a:solidFill>
              </a:rPr>
              <a:t>encodes</a:t>
            </a:r>
            <a:r>
              <a:rPr lang="it-IT" sz="2100" dirty="0">
                <a:solidFill>
                  <a:schemeClr val="bg1"/>
                </a:solidFill>
              </a:rPr>
              <a:t> </a:t>
            </a:r>
            <a:r>
              <a:rPr lang="it-IT" sz="2100" dirty="0" err="1">
                <a:solidFill>
                  <a:schemeClr val="bg1"/>
                </a:solidFill>
              </a:rPr>
              <a:t>each</a:t>
            </a:r>
            <a:r>
              <a:rPr lang="it-IT" sz="2100" dirty="0">
                <a:solidFill>
                  <a:schemeClr val="bg1"/>
                </a:solidFill>
              </a:rPr>
              <a:t> bar of a random </a:t>
            </a:r>
            <a:r>
              <a:rPr lang="it-IT" sz="2100" dirty="0" err="1">
                <a:solidFill>
                  <a:schemeClr val="bg1"/>
                </a:solidFill>
              </a:rPr>
              <a:t>reference</a:t>
            </a:r>
            <a:r>
              <a:rPr lang="it-IT" sz="2100" dirty="0">
                <a:solidFill>
                  <a:schemeClr val="bg1"/>
                </a:solidFill>
              </a:rPr>
              <a:t> track </a:t>
            </a:r>
            <a:r>
              <a:rPr lang="it-IT" sz="2100" dirty="0" err="1">
                <a:solidFill>
                  <a:schemeClr val="bg1"/>
                </a:solidFill>
              </a:rPr>
              <a:t>into</a:t>
            </a:r>
            <a:r>
              <a:rPr lang="it-IT" sz="2100" dirty="0">
                <a:solidFill>
                  <a:schemeClr val="bg1"/>
                </a:solidFill>
              </a:rPr>
              <a:t> a </a:t>
            </a:r>
            <a:r>
              <a:rPr lang="it-IT" sz="2100" dirty="0" err="1">
                <a:solidFill>
                  <a:schemeClr val="bg1"/>
                </a:solidFill>
              </a:rPr>
              <a:t>latent</a:t>
            </a:r>
            <a:r>
              <a:rPr lang="it-IT" sz="2100" dirty="0">
                <a:solidFill>
                  <a:schemeClr val="bg1"/>
                </a:solidFill>
              </a:rPr>
              <a:t> </a:t>
            </a:r>
            <a:r>
              <a:rPr lang="it-IT" sz="2100" dirty="0" err="1">
                <a:solidFill>
                  <a:schemeClr val="bg1"/>
                </a:solidFill>
              </a:rPr>
              <a:t>space</a:t>
            </a:r>
            <a:r>
              <a:rPr lang="it-IT" sz="2100" dirty="0">
                <a:solidFill>
                  <a:schemeClr val="bg1"/>
                </a:solidFill>
              </a:rPr>
              <a:t>, </a:t>
            </a:r>
            <a:r>
              <a:rPr lang="it-IT" sz="2100" dirty="0" err="1">
                <a:solidFill>
                  <a:schemeClr val="bg1"/>
                </a:solidFill>
              </a:rPr>
              <a:t>then</a:t>
            </a:r>
            <a:r>
              <a:rPr lang="it-IT" sz="2100" dirty="0">
                <a:solidFill>
                  <a:schemeClr val="bg1"/>
                </a:solidFill>
              </a:rPr>
              <a:t> re-</a:t>
            </a:r>
            <a:r>
              <a:rPr lang="it-IT" sz="2100" dirty="0" err="1">
                <a:solidFill>
                  <a:schemeClr val="bg1"/>
                </a:solidFill>
              </a:rPr>
              <a:t>performs</a:t>
            </a:r>
            <a:r>
              <a:rPr lang="it-IT" sz="2100" dirty="0">
                <a:solidFill>
                  <a:schemeClr val="bg1"/>
                </a:solidFill>
              </a:rPr>
              <a:t> </a:t>
            </a:r>
            <a:r>
              <a:rPr lang="it-IT" sz="2100" dirty="0" err="1">
                <a:solidFill>
                  <a:schemeClr val="bg1"/>
                </a:solidFill>
              </a:rPr>
              <a:t>it</a:t>
            </a:r>
            <a:r>
              <a:rPr lang="it-IT" sz="2100" dirty="0">
                <a:solidFill>
                  <a:schemeClr val="bg1"/>
                </a:solidFill>
              </a:rPr>
              <a:t> with random </a:t>
            </a:r>
            <a:r>
              <a:rPr lang="it-IT" sz="2100" dirty="0" err="1">
                <a:solidFill>
                  <a:schemeClr val="bg1"/>
                </a:solidFill>
              </a:rPr>
              <a:t>rhythmic</a:t>
            </a:r>
            <a:r>
              <a:rPr lang="it-IT" sz="2100" dirty="0">
                <a:solidFill>
                  <a:schemeClr val="bg1"/>
                </a:solidFill>
              </a:rPr>
              <a:t>           </a:t>
            </a:r>
            <a:r>
              <a:rPr lang="it-IT" sz="2100" dirty="0" err="1">
                <a:solidFill>
                  <a:schemeClr val="bg1"/>
                </a:solidFill>
              </a:rPr>
              <a:t>intensity</a:t>
            </a:r>
            <a:r>
              <a:rPr lang="it-IT" sz="2100" dirty="0">
                <a:solidFill>
                  <a:schemeClr val="bg1"/>
                </a:solidFill>
              </a:rPr>
              <a:t> and </a:t>
            </a:r>
            <a:r>
              <a:rPr lang="it-IT" sz="2100" dirty="0" err="1">
                <a:solidFill>
                  <a:schemeClr val="bg1"/>
                </a:solidFill>
              </a:rPr>
              <a:t>polyphony</a:t>
            </a:r>
            <a:r>
              <a:rPr lang="it-IT" sz="2100" dirty="0">
                <a:solidFill>
                  <a:schemeClr val="bg1"/>
                </a:solidFill>
              </a:rPr>
              <a:t> </a:t>
            </a:r>
            <a:r>
              <a:rPr lang="it-IT" sz="2100" dirty="0" err="1">
                <a:solidFill>
                  <a:schemeClr val="bg1"/>
                </a:solidFill>
              </a:rPr>
              <a:t>values</a:t>
            </a:r>
            <a:r>
              <a:rPr lang="it-IT" sz="2100" dirty="0">
                <a:solidFill>
                  <a:schemeClr val="bg1"/>
                </a:solidFill>
              </a:rPr>
              <a:t>.</a:t>
            </a:r>
          </a:p>
          <a:p>
            <a:endParaRPr lang="it-IT" sz="2100" dirty="0">
              <a:solidFill>
                <a:schemeClr val="bg1"/>
              </a:solidFill>
            </a:endParaRPr>
          </a:p>
        </p:txBody>
      </p:sp>
      <p:sp>
        <p:nvSpPr>
          <p:cNvPr id="80" name="Card BG 0"/>
          <p:cNvSpPr/>
          <p:nvPr/>
        </p:nvSpPr>
        <p:spPr>
          <a:xfrm>
            <a:off x="1047750" y="4636494"/>
            <a:ext cx="5310000" cy="3200400"/>
          </a:xfrm>
          <a:prstGeom prst="roundRect">
            <a:avLst>
              <a:gd name="adj" fmla="val 6195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1" name="Card Title 0"/>
          <p:cNvSpPr/>
          <p:nvPr/>
        </p:nvSpPr>
        <p:spPr>
          <a:xfrm>
            <a:off x="1504950" y="5131794"/>
            <a:ext cx="4395600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Labeled by Color</a:t>
            </a:r>
            <a:endParaRPr lang="en-US" sz="2100" dirty="0"/>
          </a:p>
        </p:txBody>
      </p:sp>
      <p:sp>
        <p:nvSpPr>
          <p:cNvPr id="82" name="Card Body 0"/>
          <p:cNvSpPr/>
          <p:nvPr/>
        </p:nvSpPr>
        <p:spPr>
          <a:xfrm>
            <a:off x="1504950" y="5881794"/>
            <a:ext cx="4395600" cy="17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5000"/>
              </a:lnSpc>
            </a:pPr>
            <a:r>
              <a:rPr lang="it-IT" sz="21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</a:t>
            </a:r>
            <a:r>
              <a:rPr lang="it-IT" sz="2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track </a:t>
            </a:r>
            <a:r>
              <a:rPr lang="it-IT" sz="21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scored</a:t>
            </a:r>
            <a:r>
              <a:rPr lang="it-IT" sz="2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dark-to-</a:t>
            </a:r>
            <a:r>
              <a:rPr lang="it-IT" sz="21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bright</a:t>
            </a:r>
            <a:r>
              <a:rPr lang="it-IT" sz="2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it-IT" sz="21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its</a:t>
            </a:r>
            <a:r>
              <a:rPr lang="it-IT" sz="2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share of minor </a:t>
            </a:r>
            <a:r>
              <a:rPr lang="it-IT" sz="21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chords</a:t>
            </a:r>
            <a:r>
              <a:rPr lang="en-US" sz="215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.</a:t>
            </a:r>
            <a:endParaRPr lang="en-US" sz="2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Card BG 1"/>
          <p:cNvSpPr/>
          <p:nvPr/>
        </p:nvSpPr>
        <p:spPr>
          <a:xfrm>
            <a:off x="6774750" y="4636494"/>
            <a:ext cx="5310000" cy="3200400"/>
          </a:xfrm>
          <a:prstGeom prst="roundRect">
            <a:avLst>
              <a:gd name="adj" fmla="val 6195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4" name="Card Title 1"/>
          <p:cNvSpPr/>
          <p:nvPr/>
        </p:nvSpPr>
        <p:spPr>
          <a:xfrm>
            <a:off x="7231950" y="5131794"/>
            <a:ext cx="4395600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Arousal Curve to Q4</a:t>
            </a:r>
            <a:endParaRPr lang="en-US" sz="2100" dirty="0"/>
          </a:p>
        </p:txBody>
      </p:sp>
      <p:sp>
        <p:nvSpPr>
          <p:cNvPr id="85" name="Card Body 1"/>
          <p:cNvSpPr/>
          <p:nvPr/>
        </p:nvSpPr>
        <p:spPr>
          <a:xfrm>
            <a:off x="7231950" y="5881794"/>
            <a:ext cx="4395600" cy="17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50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 descends bar by bar until the piece settles into Q4’s calm.</a:t>
            </a:r>
            <a:endParaRPr lang="en-US" sz="1900" dirty="0"/>
          </a:p>
        </p:txBody>
      </p:sp>
      <p:sp>
        <p:nvSpPr>
          <p:cNvPr id="86" name="Card BG 2"/>
          <p:cNvSpPr/>
          <p:nvPr/>
        </p:nvSpPr>
        <p:spPr>
          <a:xfrm>
            <a:off x="12501750" y="4636494"/>
            <a:ext cx="5310000" cy="3200400"/>
          </a:xfrm>
          <a:prstGeom prst="roundRect">
            <a:avLst>
              <a:gd name="adj" fmla="val 6195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7" name="Card Title 2"/>
          <p:cNvSpPr/>
          <p:nvPr/>
        </p:nvSpPr>
        <p:spPr>
          <a:xfrm>
            <a:off x="12958950" y="5131794"/>
            <a:ext cx="4395600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for calmness</a:t>
            </a:r>
            <a:endParaRPr lang="en-US" sz="2100" dirty="0"/>
          </a:p>
        </p:txBody>
      </p:sp>
      <p:sp>
        <p:nvSpPr>
          <p:cNvPr id="88" name="Card Body 2"/>
          <p:cNvSpPr/>
          <p:nvPr/>
        </p:nvSpPr>
        <p:spPr>
          <a:xfrm>
            <a:off x="12958950" y="5881794"/>
            <a:ext cx="4395600" cy="17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50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Voices split in 3 (bass, harmony, melody), instruments chosen per emotion, the ending faded.</a:t>
            </a:r>
            <a:endParaRPr lang="en-US" sz="1900" dirty="0"/>
          </a:p>
        </p:txBody>
      </p:sp>
      <p:pic>
        <p:nvPicPr>
          <p:cNvPr id="63" name="Immagine 62">
            <a:extLst>
              <a:ext uri="{FF2B5EF4-FFF2-40B4-BE49-F238E27FC236}">
                <a16:creationId xmlns:a16="http://schemas.microsoft.com/office/drawing/2014/main" id="{112F0F52-EBE3-941F-0CBF-D4453BBBD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  <p:pic>
        <p:nvPicPr>
          <p:cNvPr id="64" name="Immagine 63">
            <a:extLst>
              <a:ext uri="{FF2B5EF4-FFF2-40B4-BE49-F238E27FC236}">
                <a16:creationId xmlns:a16="http://schemas.microsoft.com/office/drawing/2014/main" id="{2B0A2A85-6FD8-9B78-0709-5C4C46F1B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8527" y="9519135"/>
            <a:ext cx="795337" cy="795337"/>
          </a:xfrm>
          <a:prstGeom prst="rect">
            <a:avLst/>
          </a:prstGeom>
        </p:spPr>
      </p:pic>
      <p:sp>
        <p:nvSpPr>
          <p:cNvPr id="14" name="Text Citation">
            <a:extLst>
              <a:ext uri="{FF2B5EF4-FFF2-40B4-BE49-F238E27FC236}">
                <a16:creationId xmlns:a16="http://schemas.microsoft.com/office/drawing/2014/main" id="{99497BFC-2502-9124-C3B0-68A4A123AC7D}"/>
              </a:ext>
            </a:extLst>
          </p:cNvPr>
          <p:cNvSpPr/>
          <p:nvPr/>
        </p:nvSpPr>
        <p:spPr>
          <a:xfrm>
            <a:off x="2002371" y="8667750"/>
            <a:ext cx="1428325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modifications: fixed 25 bars (~90s), 6 bars of holding in the initial emotional state, fixed BPM to 75</a:t>
            </a:r>
            <a:r>
              <a:rPr lang="en-US" sz="22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1318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27483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455813" y="762000"/>
            <a:ext cx="121704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Music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49" y="1619250"/>
            <a:ext cx="870181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300" b="1" kern="0" spc="-51" dirty="0">
                <a:solidFill>
                  <a:srgbClr val="F5F6FA"/>
                </a:solidFill>
                <a:latin typeface="Arial" pitchFamily="34" charset="0"/>
                <a:cs typeface="Arial" pitchFamily="34" charset="-120"/>
              </a:rPr>
              <a:t>Example: Q1 (high arousal, high valence)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548542" y="3983831"/>
            <a:ext cx="4248626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548542" y="4702968"/>
            <a:ext cx="42486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548542" y="5131594"/>
            <a:ext cx="397825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from</a:t>
            </a: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bright reference track.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658580" y="3983831"/>
            <a:ext cx="4248626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5658580" y="4702968"/>
            <a:ext cx="42486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Regeneration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5658580" y="5131594"/>
            <a:ext cx="3978259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MuseMorphose re-performs it along an arousal curve</a:t>
            </a:r>
            <a:r>
              <a:rPr lang="en-US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from a high value to low value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68617" y="3983831"/>
            <a:ext cx="4248626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9768617" y="4702968"/>
            <a:ext cx="42486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9768617" y="5131594"/>
            <a:ext cx="3978259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split into acoustic bass, </a:t>
            </a:r>
            <a:r>
              <a:rPr lang="en-US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</a:t>
            </a: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</a:p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harp using </a:t>
            </a:r>
            <a:r>
              <a:rPr lang="en-US" sz="1800" dirty="0" err="1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FluidSynth</a:t>
            </a: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synthesizer.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878655" y="3983831"/>
            <a:ext cx="4248626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13878655" y="4702968"/>
            <a:ext cx="42486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3878655" y="5131594"/>
            <a:ext cx="397825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30909"/>
              </a:lnSpc>
            </a:pPr>
            <a:r>
              <a:rPr lang="en-US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filtering and a deep reverb, with a final fade-out. Out comes a stereo file.</a:t>
            </a:r>
            <a:endParaRPr lang="en-US" dirty="0"/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9205EC05-57B9-2F2F-9DA9-DBAA3359B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  <p:sp>
        <p:nvSpPr>
          <p:cNvPr id="30" name="Text 11">
            <a:extLst>
              <a:ext uri="{FF2B5EF4-FFF2-40B4-BE49-F238E27FC236}">
                <a16:creationId xmlns:a16="http://schemas.microsoft.com/office/drawing/2014/main" id="{4D39C519-B5CD-8F62-9D4B-F317C1923711}"/>
              </a:ext>
            </a:extLst>
          </p:cNvPr>
          <p:cNvSpPr/>
          <p:nvPr/>
        </p:nvSpPr>
        <p:spPr>
          <a:xfrm>
            <a:off x="3956003" y="8146255"/>
            <a:ext cx="10375993" cy="1042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200" kern="0" spc="-51" dirty="0">
                <a:solidFill>
                  <a:srgbClr val="F5F6FA"/>
                </a:solidFill>
                <a:latin typeface="Arial" pitchFamily="34" charset="0"/>
                <a:cs typeface="Arial" pitchFamily="34" charset="-120"/>
              </a:rPr>
              <a:t>Note: generation takes minutes on CPU, a prerendered library plays during the session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1318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27483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455813" y="762000"/>
            <a:ext cx="132008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859155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Session’s Mandala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047750" y="3048000"/>
            <a:ext cx="2522376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260,000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047750" y="3671888"/>
            <a:ext cx="2369269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particles as an image (13,664 on screen)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17069" y="3048000"/>
            <a:ext cx="3796375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2400px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3817069" y="3671888"/>
            <a:ext cx="3554787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side, generated in 2 seconds — no TouchDesigner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47750" y="5334000"/>
            <a:ext cx="85915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say chooses its character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47750" y="5691188"/>
            <a:ext cx="804481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Petals, rings and tones are born from the narrative, in the same call that generates the phrases.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47750" y="6691313"/>
            <a:ext cx="85915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length of your meditation chooses its complexity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47750" y="7048500"/>
            <a:ext cx="804481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40 seconds adds a level of detail. Time becomes distance traveled toward the center.</a:t>
            </a:r>
            <a:endParaRPr lang="en-US" sz="1875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620500" y="2000250"/>
            <a:ext cx="6286500" cy="6286500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7224438A-658D-F301-2CD8-D2A8DC7E8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709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92810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373785" y="762000"/>
            <a:ext cx="271146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Frameworks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solidFill>
            <a:srgbClr val="7EC9E8">
              <a:alpha val="16000"/>
            </a:srgbClr>
          </a:solidFill>
          <a:ln w="9525">
            <a:solidFill>
              <a:srgbClr val="7EC9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702434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Frameworks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1047750" y="2571750"/>
            <a:ext cx="157162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system runs in a web browser, with a login and account a user can reach from any device.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047750" y="3905250"/>
            <a:ext cx="7953375" cy="5429250"/>
          </a:xfrm>
          <a:prstGeom prst="roundRect">
            <a:avLst>
              <a:gd name="adj" fmla="val 3509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514475" y="4333875"/>
            <a:ext cx="772191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514475" y="4852988"/>
            <a:ext cx="7230523" cy="12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Google’s framework for authentication and databases. Password encryption is managed entirely by Google’s systems.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286875" y="3905250"/>
            <a:ext cx="7953375" cy="5429250"/>
          </a:xfrm>
          <a:prstGeom prst="roundRect">
            <a:avLst>
              <a:gd name="adj" fmla="val 3509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9753600" y="4333875"/>
            <a:ext cx="772191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Uvicorn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753600" y="4852988"/>
            <a:ext cx="7230523" cy="12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 server enabling the simultaneous use of graphics engines in Python and JavaScript, alongside API calls.</a:t>
            </a:r>
            <a:endParaRPr lang="en-US" sz="2100" dirty="0"/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7D76D177-BDC8-126C-8A0B-7ECC91619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910" y="6457023"/>
            <a:ext cx="2551652" cy="2551652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989C6413-3F35-B984-10A6-98AD2F6F6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8051" y="6457023"/>
            <a:ext cx="2561619" cy="2551652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0E1A5716-D846-B60E-7F69-BB426FAD5A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709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92810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373785" y="762000"/>
            <a:ext cx="181023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Interface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solidFill>
            <a:srgbClr val="7EC9E8">
              <a:alpha val="16000"/>
            </a:srgbClr>
          </a:solidFill>
          <a:ln w="9525">
            <a:solidFill>
              <a:srgbClr val="7EC9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460666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Interface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1047750" y="3143250"/>
            <a:ext cx="8044815" cy="136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8507"/>
              </a:lnSpc>
              <a:buNone/>
            </a:pPr>
            <a:r>
              <a:rPr lang="en-US" sz="21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launch, the app calls Firebase Auth to check whether the browser cache holds an auth key. If not, login proceeds through one of two providers: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1047750" y="4957242"/>
            <a:ext cx="95250" cy="95250"/>
          </a:xfrm>
          <a:prstGeom prst="ellipse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314450" y="4850085"/>
            <a:ext cx="267413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and Password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47750" y="5457304"/>
            <a:ext cx="95250" cy="95250"/>
          </a:xfrm>
          <a:prstGeom prst="ellipse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314450" y="5350148"/>
            <a:ext cx="287067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Authentication</a:t>
            </a:r>
            <a:endParaRPr lang="en-US" sz="21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 l="-3423" r="-3423"/>
          <a:stretch/>
        </p:blipFill>
        <p:spPr>
          <a:xfrm>
            <a:off x="11777605" y="2400299"/>
            <a:ext cx="4691119" cy="7019925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DBDDD403-FA81-33AA-595F-9824AE814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709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92810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373785" y="762000"/>
            <a:ext cx="203492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Registration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solidFill>
            <a:srgbClr val="7EC9E8">
              <a:alpha val="16000"/>
            </a:srgbClr>
          </a:solidFill>
          <a:ln w="9525">
            <a:solidFill>
              <a:srgbClr val="7EC9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525634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Registration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1047750" y="3143250"/>
            <a:ext cx="804481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8507"/>
              </a:lnSpc>
              <a:buNone/>
            </a:pPr>
            <a:r>
              <a:rPr lang="en-US" sz="21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first login, we ask for first name, last name, gender, and a goal to work toward through meditation.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1047750" y="4331940"/>
            <a:ext cx="804481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8507"/>
              </a:lnSpc>
              <a:buNone/>
            </a:pPr>
            <a:r>
              <a:rPr lang="en-US" sz="21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data is sent to Claude to shape a more personalized experience from the very first session.</a:t>
            </a:r>
            <a:endParaRPr lang="en-US" sz="2175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 t="-4390" b="-4390"/>
          <a:stretch/>
        </p:blipFill>
        <p:spPr>
          <a:xfrm>
            <a:off x="11714507" y="2305877"/>
            <a:ext cx="4754218" cy="7114347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B13FC9CB-CFF0-226B-AA87-B6B1526C6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709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92810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373785" y="762000"/>
            <a:ext cx="225241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Interface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solidFill>
            <a:srgbClr val="7EC9E8">
              <a:alpha val="16000"/>
            </a:srgbClr>
          </a:solidFill>
          <a:ln w="9525">
            <a:solidFill>
              <a:srgbClr val="7EC9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58119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Interface</a:t>
            </a:r>
            <a:endParaRPr lang="en-US" sz="5100" dirty="0"/>
          </a:p>
        </p:txBody>
      </p:sp>
      <p:sp>
        <p:nvSpPr>
          <p:cNvPr id="14" name="Shape 12"/>
          <p:cNvSpPr/>
          <p:nvPr/>
        </p:nvSpPr>
        <p:spPr>
          <a:xfrm>
            <a:off x="1047750" y="3255169"/>
            <a:ext cx="85725" cy="85725"/>
          </a:xfrm>
          <a:prstGeom prst="ellipse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285875" y="3143250"/>
            <a:ext cx="237217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manager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47750" y="3774281"/>
            <a:ext cx="85725" cy="85725"/>
          </a:xfrm>
          <a:prstGeom prst="ellipse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285875" y="3662362"/>
            <a:ext cx="265481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Meditation calendar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047750" y="4293394"/>
            <a:ext cx="85725" cy="85725"/>
          </a:xfrm>
          <a:prstGeom prst="ellipse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1285875" y="4181475"/>
            <a:ext cx="2349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controller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047750" y="4812506"/>
            <a:ext cx="85725" cy="85725"/>
          </a:xfrm>
          <a:prstGeom prst="ellipse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285875" y="4700588"/>
            <a:ext cx="203017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tab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1047750" y="5331619"/>
            <a:ext cx="85725" cy="85725"/>
          </a:xfrm>
          <a:prstGeom prst="ellipse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285875" y="5219700"/>
            <a:ext cx="157694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button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1047750" y="5948363"/>
            <a:ext cx="67056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333"/>
              </a:lnSpc>
              <a:buNone/>
            </a:pPr>
            <a:r>
              <a:rPr lang="en-US" sz="195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few buttons. No controls to learn.</a:t>
            </a:r>
            <a:endParaRPr lang="en-US" sz="19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rcRect t="935"/>
          <a:stretch>
            <a:fillRect/>
          </a:stretch>
        </p:blipFill>
        <p:spPr>
          <a:xfrm>
            <a:off x="6859734" y="3143250"/>
            <a:ext cx="10755862" cy="5938060"/>
          </a:xfrm>
          <a:prstGeom prst="rect">
            <a:avLst/>
          </a:prstGeom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AAF52E6D-CE18-70A7-4ACF-310825BD4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709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92810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373785" y="762000"/>
            <a:ext cx="186409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Narration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solidFill>
            <a:srgbClr val="7EC9E8">
              <a:alpha val="16000"/>
            </a:srgbClr>
          </a:solidFill>
          <a:ln w="9525">
            <a:solidFill>
              <a:srgbClr val="7EC9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848865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the Mandala a Voice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1047750" y="3143250"/>
            <a:ext cx="16536865" cy="545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507"/>
              </a:lnSpc>
              <a:buNone/>
            </a:pPr>
            <a:r>
              <a:rPr lang="en-US" sz="21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sequence, the system generates a short text from the particle narrative — and reads it aloud through text-to-speech.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1047750" y="5651109"/>
            <a:ext cx="95250" cy="95250"/>
          </a:xfrm>
          <a:prstGeom prst="ellipse">
            <a:avLst/>
          </a:prstGeom>
          <a:solidFill>
            <a:srgbClr val="7EC9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314450" y="5551096"/>
            <a:ext cx="39158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fresh, per sequence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047750" y="6136884"/>
            <a:ext cx="95250" cy="95250"/>
          </a:xfrm>
          <a:prstGeom prst="ellipse">
            <a:avLst/>
          </a:prstGeom>
          <a:solidFill>
            <a:srgbClr val="7EC9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314450" y="6036871"/>
            <a:ext cx="3176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aloud automatically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047750" y="6622659"/>
            <a:ext cx="95250" cy="95250"/>
          </a:xfrm>
          <a:prstGeom prst="ellipse">
            <a:avLst/>
          </a:prstGeom>
          <a:solidFill>
            <a:srgbClr val="7EC9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314450" y="6522646"/>
            <a:ext cx="52842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need to open your eyes to follow along</a:t>
            </a:r>
            <a:endParaRPr lang="en-US" sz="2025" dirty="0"/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248EA695-009E-D66A-F5A0-31A2A47775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3" r="791"/>
          <a:stretch>
            <a:fillRect/>
          </a:stretch>
        </p:blipFill>
        <p:spPr>
          <a:xfrm>
            <a:off x="7461234" y="4304376"/>
            <a:ext cx="9832687" cy="4803921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E9D73691-7BBE-5A63-5991-0667B2909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709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92810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373785" y="762000"/>
            <a:ext cx="188136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History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solidFill>
            <a:srgbClr val="7EC9E8">
              <a:alpha val="16000"/>
            </a:srgbClr>
          </a:solidFill>
          <a:ln w="9525">
            <a:solidFill>
              <a:srgbClr val="7EC9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803918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Sessions, Over Time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1047750" y="4461532"/>
            <a:ext cx="9229299" cy="136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8507"/>
              </a:lnSpc>
              <a:buNone/>
            </a:pPr>
            <a:r>
              <a:rPr lang="en-US" sz="21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calendar of past sessions lets you look back. Each one opens onto its own valence/arousal graph, tracing how the emotion moved during that meditation.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1047750" y="6268380"/>
            <a:ext cx="95250" cy="95250"/>
          </a:xfrm>
          <a:prstGeom prst="ellipse">
            <a:avLst/>
          </a:prstGeom>
          <a:solidFill>
            <a:srgbClr val="7EC9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314450" y="6168367"/>
            <a:ext cx="388404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of every past session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047750" y="6754155"/>
            <a:ext cx="95250" cy="95250"/>
          </a:xfrm>
          <a:prstGeom prst="ellipse">
            <a:avLst/>
          </a:prstGeom>
          <a:solidFill>
            <a:srgbClr val="7EC9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314450" y="6654142"/>
            <a:ext cx="44137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Valence/arousal graph, per session</a:t>
            </a:r>
            <a:endParaRPr lang="en-US" sz="2025" dirty="0"/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39223527-CF4F-5C0F-3AB9-10318CAD7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4677" y="2691984"/>
            <a:ext cx="5588044" cy="6266965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24E1E291-59EF-B038-A371-CEA70C3D0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3364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58877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47750" y="1619250"/>
            <a:ext cx="167640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Design Challenge: Reading Emotion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47750" y="2571750"/>
            <a:ext cx="1471612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sensors were on the table early on — but they would have added hardware and friction for very little gain on what we actually needed.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047750" y="4424363"/>
            <a:ext cx="4953000" cy="2071688"/>
          </a:xfrm>
          <a:prstGeom prst="roundRect">
            <a:avLst>
              <a:gd name="adj" fmla="val 9195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419225" y="4757738"/>
            <a:ext cx="46310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 Emotion Recognition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9225" y="5133975"/>
            <a:ext cx="433635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weights on smile, duchenne and frown, following Russell’s emotional face model.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6743700"/>
            <a:ext cx="4953000" cy="2071688"/>
          </a:xfrm>
          <a:prstGeom prst="roundRect">
            <a:avLst>
              <a:gd name="adj" fmla="val 9195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419225" y="7077075"/>
            <a:ext cx="46310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User’s Own Story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9225" y="7453312"/>
            <a:ext cx="433635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Spoken freely, eyes closed — transcribed locally, without a questionnaire.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71352" y="6442770"/>
            <a:ext cx="34604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644140" y="5639622"/>
            <a:ext cx="3829050" cy="1988641"/>
          </a:xfrm>
          <a:prstGeom prst="roundRect">
            <a:avLst>
              <a:gd name="adj" fmla="val 9579"/>
            </a:avLst>
          </a:prstGeom>
          <a:solidFill>
            <a:srgbClr val="171D33"/>
          </a:solidFill>
          <a:ln w="9525">
            <a:solidFill>
              <a:srgbClr val="7EC9E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777490" y="5972997"/>
            <a:ext cx="3562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890838" y="6334947"/>
            <a:ext cx="333565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2182"/>
              </a:lnSpc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language model, elaborating both signals together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28567" y="6450587"/>
            <a:ext cx="34604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3116580" y="5810845"/>
            <a:ext cx="3829050" cy="1668661"/>
          </a:xfrm>
          <a:prstGeom prst="roundRect">
            <a:avLst>
              <a:gd name="adj" fmla="val 11416"/>
            </a:avLst>
          </a:prstGeom>
          <a:solidFill>
            <a:srgbClr val="171D33"/>
          </a:solidFill>
          <a:ln w="9525">
            <a:solidFill>
              <a:srgbClr val="F0A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13249930" y="6144220"/>
            <a:ext cx="3562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Emotion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363278" y="6506170"/>
            <a:ext cx="333565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2182"/>
              </a:lnSpc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Q1–Q4, guiding phrases, mandala and music</a:t>
            </a:r>
            <a:endParaRPr lang="en-US" sz="1800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897C64DB-6EBD-B150-F23D-73EEB1519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4857750" y="857250"/>
            <a:ext cx="8572500" cy="8572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5070D">
                  <a:alpha val="0"/>
                </a:srgbClr>
              </a:gs>
              <a:gs pos="72000">
                <a:srgbClr val="05070D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-914400" y="3238500"/>
            <a:ext cx="20116800" cy="957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6300" b="1" kern="0" spc="-63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4729163" y="4424363"/>
            <a:ext cx="88296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30435"/>
              </a:lnSpc>
              <a:buNone/>
            </a:pPr>
            <a:r>
              <a:rPr lang="en-US" sz="225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personalized meditation experience — from a face, to particles, to a mandala only you can let go of.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-914400" y="8958263"/>
            <a:ext cx="201168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Hamin Jang · Alessandro Cupini · Stefano Morano · Aldo Pinelli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47750" y="762000"/>
            <a:ext cx="19745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504" dirty="0">
                <a:solidFill>
                  <a:srgbClr val="454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IN‑MOTION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2416</Words>
  <Application>Microsoft Macintosh PowerPoint</Application>
  <PresentationFormat>Personalizzato</PresentationFormat>
  <Paragraphs>417</Paragraphs>
  <Slides>24</Slides>
  <Notes>24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Hamin Jang</cp:lastModifiedBy>
  <cp:revision>7</cp:revision>
  <dcterms:created xsi:type="dcterms:W3CDTF">2026-09-08T09:03:20Z</dcterms:created>
  <dcterms:modified xsi:type="dcterms:W3CDTF">2026-09-08T20:21:35Z</dcterms:modified>
</cp:coreProperties>
</file>