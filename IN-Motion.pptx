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EF7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E8EEF7"/>
                </a:solidFill>
                <a:latin typeface="Calibri"/>
              </a:rPr>
              <a:t>Ogni sessione arriva alla calma. Cambia il viaggio.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· Q2  agitato</c:v>
                </c:pt>
              </c:strCache>
            </c:strRef>
          </c:tx>
          <c:spPr>
            <a:ln w="38100" cap="flat">
              <a:solidFill>
                <a:srgbClr val="E8887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87F"/>
              </a:solidFill>
              <a:ln w="9525" cap="flat">
                <a:solidFill>
                  <a:srgbClr val="E8887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0.85</c:v>
                </c:pt>
                <c:pt idx="1">
                  <c:v>0.85</c:v>
                </c:pt>
                <c:pt idx="2">
                  <c:v>0.81100000000000005</c:v>
                </c:pt>
                <c:pt idx="3">
                  <c:v>0.54300000000000004</c:v>
                </c:pt>
                <c:pt idx="4">
                  <c:v>0.307</c:v>
                </c:pt>
                <c:pt idx="5">
                  <c:v>0.127</c:v>
                </c:pt>
                <c:pt idx="6">
                  <c:v>2.3E-2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4A9-664F-BD55-EEFD83508E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 spento</c:v>
                </c:pt>
              </c:strCache>
            </c:strRef>
          </c:tx>
          <c:spPr>
            <a:ln w="38100" cap="flat">
              <a:solidFill>
                <a:srgbClr val="5A7F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7FB8"/>
              </a:solidFill>
              <a:ln w="9525" cap="flat">
                <a:solidFill>
                  <a:srgbClr val="5A7FB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0.15</c:v>
                </c:pt>
                <c:pt idx="1">
                  <c:v>0.14599999999999999</c:v>
                </c:pt>
                <c:pt idx="2">
                  <c:v>0.12</c:v>
                </c:pt>
                <c:pt idx="3">
                  <c:v>9.6000000000000002E-2</c:v>
                </c:pt>
                <c:pt idx="4">
                  <c:v>7.4999999999999997E-2</c:v>
                </c:pt>
                <c:pt idx="5">
                  <c:v>0.06</c:v>
                </c:pt>
                <c:pt idx="6">
                  <c:v>5.1999999999999998E-2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4A9-664F-BD55-EEFD83508E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Q4  calmo</c:v>
                </c:pt>
              </c:strCache>
            </c:strRef>
          </c:tx>
          <c:spPr>
            <a:ln w="38100" cap="flat">
              <a:solidFill>
                <a:srgbClr val="8FD9E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FD9EC"/>
              </a:solidFill>
              <a:ln w="9525" cap="flat">
                <a:solidFill>
                  <a:srgbClr val="8FD9E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3.0000000000000001E-3</c:v>
                </c:pt>
                <c:pt idx="3">
                  <c:v>0.02</c:v>
                </c:pt>
                <c:pt idx="4">
                  <c:v>3.5000000000000003E-2</c:v>
                </c:pt>
                <c:pt idx="5">
                  <c:v>4.5999999999999999E-2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4A9-664F-BD55-EEFD83508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B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1C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33"/>
        </a:solidFill>
        <a:ln w="12700" cap="flat">
          <a:solidFill>
            <a:srgbClr val="141B33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E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B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EF7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E8EEF7"/>
                </a:solidFill>
                <a:latin typeface="Calibri"/>
              </a:rPr>
              <a:t>Da emozione a controlli per battuta (classi 0-7)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intensità ritmica</c:v>
                </c:pt>
              </c:strCache>
            </c:strRef>
          </c:tx>
          <c:spPr>
            <a:ln w="38100" cap="flat">
              <a:solidFill>
                <a:srgbClr val="8FD9E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FD9EC"/>
              </a:solidFill>
              <a:ln w="9525" cap="flat">
                <a:solidFill>
                  <a:srgbClr val="8FD9E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2B-BE41-A0E3-77BD8E996F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polifonia</c:v>
                </c:pt>
              </c:strCache>
            </c:strRef>
          </c:tx>
          <c:spPr>
            <a:ln w="38100" cap="flat">
              <a:solidFill>
                <a:srgbClr val="E8B87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B87F"/>
              </a:solidFill>
              <a:ln w="9525" cap="flat">
                <a:solidFill>
                  <a:srgbClr val="E8B87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42</c:v>
                </c:pt>
                <c:pt idx="7">
                  <c:v>49</c:v>
                </c:pt>
                <c:pt idx="8">
                  <c:v>56</c:v>
                </c:pt>
                <c:pt idx="9">
                  <c:v>63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2B-BE41-A0E3-77BD8E996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B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12700" cap="flat">
              <a:solidFill>
                <a:srgbClr val="1C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33"/>
        </a:solidFill>
        <a:ln w="12700" cap="flat">
          <a:solidFill>
            <a:srgbClr val="141B33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E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B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8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Il mandala a destra è stato generato da una sessione reale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mandala non è scelto per estetica: la sua grammatica simbolica coincide con la struttura dell'esperienza. Dichiarare che ci ispiriamo a una tradizione viva, senza pretendere di officiare un 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moduli Python, un progetto TouchDesigner, una chiamata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extraction e normalisation (Zanoni p.149). Le x vanno moltiplicate per 16/9 prima di ogni distanza: sono normalizzate su larghezza e altezza separatamente. taratura.py misura due fasi da otto secondi.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854 triangoli della mesh MediaPipe con coordinate baricentriche fisse. Densità per area^0.45: quota uguale bruciava in macchie bianche, densità uniforme cancellava i lineamenti. Le altre forze: attrazione verso la forma bersaglio, vento come corrente comune, rumore individuale. I boids sono stati scartati di proposito. Il libro propone come sfida l'installazione della Walt Disney Concert Hall (p.55): l'abbiamo fatta con i landmark facciali.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quadranti di Russell non sono nel programma del corso: è un'estensione autonoma. La valenza non è direttamente controllabile in MuseMorphose — solo l'attivazione lo 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/mandala_turchese.png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5618602" y="350335"/>
            <a:ext cx="5878601" cy="58786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IN-Motion</a:t>
            </a:r>
            <a:endParaRPr lang="en-US" sz="6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91840"/>
            <a:ext cx="49785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Un'esperienza di meditazione personalizzata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Volto, parole, musica e mandala — tutti disegnati dalle stesse particelle.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Hamin Jang, Alessandro Cupini, Stefano Morano, Aldo Pinelli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un mandala</a:t>
            </a:r>
            <a:endParaRPr lang="en-US" sz="3400" dirty="0"/>
          </a:p>
        </p:txBody>
      </p:sp>
      <p:pic>
        <p:nvPicPr>
          <p:cNvPr id="4" name="Image 0" descr="/tmp/ppt/mandala_amb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002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78308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</a:t>
            </a: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sanscrito è “cerchio”, e per estensione “mondo”. Una lettura più profonda lo rende </a:t>
            </a:r>
            <a:r>
              <a:rPr lang="en-US" sz="1400" i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contenitore dell'essenza</a:t>
            </a: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Non è un ornamento: è una mappa in cui si entra mentalmente e si procede verso il centro, per poi essere distrutto alla fine. L'insegnamento è che l'attaccamento anche a ciò che è bellissimo produce sofferenza.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7040880" cy="1371600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651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 txBox="1"/>
          <p:nvPr/>
        </p:nvSpPr>
        <p:spPr>
          <a:xfrm>
            <a:off x="914400" y="461772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cerca di fare lo stesso percorso: il tuo volto si scompone, diventa parole, poi mandala. E alla fine sei tu a doverlo lasciare andare, muovendo la testa.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cosa serve, e dove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141B33"/>
          </a:solidFill>
          <a:ln w="1651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 txBox="1"/>
          <p:nvPr/>
        </p:nvSpPr>
        <p:spPr>
          <a:xfrm>
            <a:off x="896112" y="18928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scopo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5856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 a una persona pochi minuti di attenzione a sé stessa, e restituirle qualcosa (il mandala) che è soltanto suo.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141B33"/>
          </a:solidFill>
          <a:ln w="1651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4645152" y="18928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contesto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25856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Privato e individuale: una stanza silenziosa, in penombra. Non un'installazione da folla.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141B33"/>
          </a:solidFill>
          <a:ln w="1651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8394192" y="18928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94192" y="225856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 di decompressione: musei, centri benessere, fiere, aree quiete di aziende e università.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individuiamo l'emozione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la chiediamo con un questionario. </a:t>
            </a: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racconta a voce ciò che vuole</a:t>
            </a: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occhi chiusi. Whisper trascrive in locale — l'audio non lascia mai il computer — e Claude ricava dal racconto le frasi della meditazione, il carattere del mandala e la classificazione emotiva che guiderà la musica.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L’intero sistema è un agente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3794760"/>
          </a:xfrm>
          <a:prstGeom prst="roundRect">
            <a:avLst>
              <a:gd name="adj" fmla="val 2456"/>
            </a:avLst>
          </a:prstGeom>
          <a:solidFill>
            <a:srgbClr val="141B33"/>
          </a:solidFill>
          <a:ln w="2032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1604772" y="1965960"/>
            <a:ext cx="310896" cy="310896"/>
          </a:xfrm>
          <a:prstGeom prst="ellipse">
            <a:avLst/>
          </a:prstGeom>
          <a:solidFill>
            <a:srgbClr val="8FD9E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163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percepisce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mondo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273552"/>
            <a:ext cx="2221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478 landmark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microfono · Whisper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occhi, energia del gesto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3794760"/>
          </a:xfrm>
          <a:prstGeom prst="roundRect">
            <a:avLst>
              <a:gd name="adj" fmla="val 2456"/>
            </a:avLst>
          </a:prstGeom>
          <a:solidFill>
            <a:srgbClr val="141B33"/>
          </a:solidFill>
          <a:ln w="2032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485132" y="1965960"/>
            <a:ext cx="310896" cy="310896"/>
          </a:xfrm>
          <a:prstGeom prst="ellipse">
            <a:avLst/>
          </a:prstGeom>
          <a:solidFill>
            <a:srgbClr val="E8B87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342900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8163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sa di sé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dell'ambiente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273552"/>
            <a:ext cx="2221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racconto trascritto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l'emozione classificata Q1-Q4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frasi, colore e forma del mandala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794760"/>
          </a:xfrm>
          <a:prstGeom prst="roundRect">
            <a:avLst>
              <a:gd name="adj" fmla="val 2456"/>
            </a:avLst>
          </a:prstGeom>
          <a:solidFill>
            <a:srgbClr val="141B33"/>
          </a:solidFill>
          <a:ln w="20320">
            <a:solidFill>
              <a:srgbClr val="E88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7365492" y="1965960"/>
            <a:ext cx="310896" cy="310896"/>
          </a:xfrm>
          <a:prstGeom prst="ellipse">
            <a:avLst/>
          </a:prstGeom>
          <a:solidFill>
            <a:srgbClr val="E8887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630936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RAZIONALITÀ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8163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 che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cosa fare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273552"/>
            <a:ext cx="2221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a stati a 10 stati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 temporali di conferma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di sicurezza su ogni gesto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691640"/>
            <a:ext cx="2606040" cy="3794760"/>
          </a:xfrm>
          <a:prstGeom prst="roundRect">
            <a:avLst>
              <a:gd name="adj" fmla="val 2456"/>
            </a:avLst>
          </a:prstGeom>
          <a:solidFill>
            <a:srgbClr val="141B33"/>
          </a:solidFill>
          <a:ln w="20320">
            <a:solidFill>
              <a:srgbClr val="C9A0D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10245852" y="1965960"/>
            <a:ext cx="310896" cy="310896"/>
          </a:xfrm>
          <a:prstGeom prst="ellipse">
            <a:avLst/>
          </a:prstGeom>
          <a:solidFill>
            <a:srgbClr val="C9A0D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 txBox="1"/>
          <p:nvPr/>
        </p:nvSpPr>
        <p:spPr>
          <a:xfrm>
            <a:off x="918972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8163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influenza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17736" y="3273552"/>
            <a:ext cx="2221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13.664 particelle in TouchDesigner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 generata sull'emozione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mandala come immagine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quattro dimensioni di progetto di un agente sono anche l'indice di questa presentazione.</a:t>
            </a:r>
            <a:endParaRPr lang="en-US" sz="11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9AD45901-1E27-A003-12F4-59F897342B7A}"/>
              </a:ext>
            </a:extLst>
          </p:cNvPr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L'architettura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RAZIONALITÀ · CONOSCENZA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512064" y="1947672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24942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 txBox="1"/>
          <p:nvPr/>
        </p:nvSpPr>
        <p:spPr>
          <a:xfrm>
            <a:off x="512064" y="4050792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435254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182880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2569464" y="1947672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69464" y="224942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478 landmark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288036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 txBox="1"/>
          <p:nvPr/>
        </p:nvSpPr>
        <p:spPr>
          <a:xfrm>
            <a:off x="2569464" y="2999232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occhi.py · movimento.py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69464" y="33009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occhi · energia del gesto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393192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 txBox="1"/>
          <p:nvPr/>
        </p:nvSpPr>
        <p:spPr>
          <a:xfrm>
            <a:off x="2569464" y="4050792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ascolto.py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69464" y="435254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Whisper, in locale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9240" y="1828800"/>
            <a:ext cx="2423160" cy="1600200"/>
          </a:xfrm>
          <a:prstGeom prst="roundRect">
            <a:avLst>
              <a:gd name="adj" fmla="val 2857"/>
            </a:avLst>
          </a:prstGeom>
          <a:solidFill>
            <a:srgbClr val="141B33"/>
          </a:solidFill>
          <a:ln w="15875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 txBox="1"/>
          <p:nvPr/>
        </p:nvSpPr>
        <p:spPr>
          <a:xfrm>
            <a:off x="5404104" y="194767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esperienza.py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04104" y="2249424"/>
            <a:ext cx="23134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a stati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stati · mai bloccante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49240" y="3611880"/>
            <a:ext cx="242316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5875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 txBox="1"/>
          <p:nvPr/>
        </p:nvSpPr>
        <p:spPr>
          <a:xfrm>
            <a:off x="5404104" y="37307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testi.py  →  Claude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04104" y="4032504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strutturato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 · mandala · Q1-Q4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75320" y="1828800"/>
            <a:ext cx="1965960" cy="1097280"/>
          </a:xfrm>
          <a:prstGeom prst="roundRect">
            <a:avLst>
              <a:gd name="adj" fmla="val 4167"/>
            </a:avLst>
          </a:prstGeom>
          <a:solidFill>
            <a:srgbClr val="141B33"/>
          </a:solidFill>
          <a:ln w="15875">
            <a:solidFill>
              <a:srgbClr val="C9A0D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 txBox="1"/>
          <p:nvPr/>
        </p:nvSpPr>
        <p:spPr>
          <a:xfrm>
            <a:off x="8330184" y="194767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scena.py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30184" y="224942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/prepara /scena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/mandala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75320" y="3108960"/>
            <a:ext cx="1965960" cy="1097280"/>
          </a:xfrm>
          <a:prstGeom prst="roundRect">
            <a:avLst>
              <a:gd name="adj" fmla="val 4167"/>
            </a:avLst>
          </a:prstGeom>
          <a:solidFill>
            <a:srgbClr val="141B33"/>
          </a:solidFill>
          <a:ln w="15875">
            <a:solidFill>
              <a:srgbClr val="C9A0D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 txBox="1"/>
          <p:nvPr/>
        </p:nvSpPr>
        <p:spPr>
          <a:xfrm>
            <a:off x="8330184" y="322783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musica.py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30184" y="35295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tappeto + traccia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75320" y="4389120"/>
            <a:ext cx="1965960" cy="1097280"/>
          </a:xfrm>
          <a:prstGeom prst="roundRect">
            <a:avLst>
              <a:gd name="adj" fmla="val 4167"/>
            </a:avLst>
          </a:prstGeom>
          <a:solidFill>
            <a:srgbClr val="141B33"/>
          </a:solidFill>
          <a:ln w="15875">
            <a:solidFill>
              <a:srgbClr val="C9A0D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 txBox="1"/>
          <p:nvPr/>
        </p:nvSpPr>
        <p:spPr>
          <a:xfrm>
            <a:off x="8330184" y="450799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mandala.py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30184" y="480974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2400 px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744200" y="1828800"/>
            <a:ext cx="960120" cy="1097280"/>
          </a:xfrm>
          <a:prstGeom prst="roundRect">
            <a:avLst>
              <a:gd name="adj" fmla="val 4762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 txBox="1"/>
          <p:nvPr/>
        </p:nvSpPr>
        <p:spPr>
          <a:xfrm>
            <a:off x="10799064" y="19476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799064" y="2249424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13.664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744200" y="3108960"/>
            <a:ext cx="960120" cy="1097280"/>
          </a:xfrm>
          <a:prstGeom prst="roundRect">
            <a:avLst>
              <a:gd name="adj" fmla="val 4762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 txBox="1"/>
          <p:nvPr/>
        </p:nvSpPr>
        <p:spPr>
          <a:xfrm>
            <a:off x="10799064" y="322783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744200" y="4389120"/>
            <a:ext cx="960120" cy="1097280"/>
          </a:xfrm>
          <a:prstGeom prst="roundRect">
            <a:avLst>
              <a:gd name="adj" fmla="val 4762"/>
            </a:avLst>
          </a:prstGeom>
          <a:solidFill>
            <a:srgbClr val="141B33"/>
          </a:solidFill>
          <a:ln w="15875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 txBox="1"/>
          <p:nvPr/>
        </p:nvSpPr>
        <p:spPr>
          <a:xfrm>
            <a:off x="10799064" y="45079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57400" y="2286000"/>
            <a:ext cx="45720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2057400" y="4389120"/>
            <a:ext cx="45720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75888" y="2743200"/>
            <a:ext cx="0" cy="13716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4846320" y="2286000"/>
            <a:ext cx="50292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4846320" y="3200400"/>
            <a:ext cx="50292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4846320" y="4389120"/>
            <a:ext cx="50292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6556248" y="3429000"/>
            <a:ext cx="0" cy="182880"/>
          </a:xfrm>
          <a:prstGeom prst="line">
            <a:avLst/>
          </a:prstGeom>
          <a:noFill/>
          <a:ln w="17780">
            <a:solidFill>
              <a:srgbClr val="E8B87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7772400" y="2377440"/>
            <a:ext cx="502920" cy="0"/>
          </a:xfrm>
          <a:prstGeom prst="line">
            <a:avLst/>
          </a:prstGeom>
          <a:noFill/>
          <a:ln w="17780">
            <a:solidFill>
              <a:srgbClr val="C9A0D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7772400" y="3246120"/>
            <a:ext cx="502920" cy="411480"/>
          </a:xfrm>
          <a:prstGeom prst="line">
            <a:avLst/>
          </a:prstGeom>
          <a:noFill/>
          <a:ln w="17780">
            <a:solidFill>
              <a:srgbClr val="C9A0D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7772400" y="3337560"/>
            <a:ext cx="502920" cy="1600200"/>
          </a:xfrm>
          <a:prstGeom prst="line">
            <a:avLst/>
          </a:prstGeom>
          <a:noFill/>
          <a:ln w="17780">
            <a:solidFill>
              <a:srgbClr val="C9A0D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10241280" y="2377440"/>
            <a:ext cx="50292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10241280" y="3657600"/>
            <a:ext cx="50292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10241280" y="4937760"/>
            <a:ext cx="502920" cy="0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 txBox="1"/>
          <p:nvPr/>
        </p:nvSpPr>
        <p:spPr>
          <a:xfrm>
            <a:off x="8275320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  ·  porte 8000 e 8001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5623560" y="3419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racconto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6656832" y="3419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processo. Nessuna chiamata di rete mentre l'utente medita.</a:t>
            </a:r>
            <a:endParaRPr lang="en-US" sz="1200" dirty="0"/>
          </a:p>
        </p:txBody>
      </p:sp>
      <p:sp>
        <p:nvSpPr>
          <p:cNvPr id="62" name="Text 0">
            <a:extLst>
              <a:ext uri="{FF2B5EF4-FFF2-40B4-BE49-F238E27FC236}">
                <a16:creationId xmlns:a16="http://schemas.microsoft.com/office/drawing/2014/main" id="{769C76F7-99B1-A40A-7FF5-76425DE36CE8}"/>
              </a:ext>
            </a:extLst>
          </p:cNvPr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</a:t>
            </a:r>
            <a:endParaRPr lang="en-US" sz="1200" dirty="0"/>
          </a:p>
        </p:txBody>
      </p:sp>
      <p:sp>
        <p:nvSpPr>
          <p:cNvPr id="2" name="Text 38">
            <a:extLst>
              <a:ext uri="{FF2B5EF4-FFF2-40B4-BE49-F238E27FC236}">
                <a16:creationId xmlns:a16="http://schemas.microsoft.com/office/drawing/2014/main" id="{E539BE4B-16E0-0DA3-73BB-DAB3A3804168}"/>
              </a:ext>
            </a:extLst>
          </p:cNvPr>
          <p:cNvSpPr txBox="1"/>
          <p:nvPr/>
        </p:nvSpPr>
        <p:spPr>
          <a:xfrm>
            <a:off x="10799064" y="4736592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cs typeface="Calibri" pitchFamily="34" charset="-120"/>
              </a:rPr>
              <a:t>PNG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cs typeface="Calibri" pitchFamily="34" charset="-120"/>
              </a:rPr>
              <a:t>2400x2400 </a:t>
            </a:r>
            <a:r>
              <a:rPr lang="en-US" sz="950" dirty="0" err="1">
                <a:solidFill>
                  <a:srgbClr val="E8EEF7"/>
                </a:solidFill>
                <a:latin typeface="Calibri" pitchFamily="34" charset="0"/>
                <a:cs typeface="Calibri" pitchFamily="34" charset="-120"/>
              </a:rPr>
              <a:t>px</a:t>
            </a:r>
            <a:endParaRPr lang="en-US" sz="950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D57EC650-8406-EDF8-DD1B-FCE31D7B9666}"/>
              </a:ext>
            </a:extLst>
          </p:cNvPr>
          <p:cNvSpPr txBox="1"/>
          <p:nvPr/>
        </p:nvSpPr>
        <p:spPr>
          <a:xfrm>
            <a:off x="10799064" y="3468551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cs typeface="Calibri" pitchFamily="34" charset="-120"/>
              </a:rPr>
              <a:t>44.100 Hz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</a:t>
            </a: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occhi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9770" y="2681608"/>
            <a:ext cx="3931920" cy="1417320"/>
          </a:xfrm>
          <a:prstGeom prst="ellipse">
            <a:avLst/>
          </a:prstGeom>
          <a:solidFill>
            <a:srgbClr val="0B1026"/>
          </a:solidFill>
          <a:ln w="2540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19770" y="3390268"/>
            <a:ext cx="3931920" cy="0"/>
          </a:xfrm>
          <a:prstGeom prst="line">
            <a:avLst/>
          </a:prstGeom>
          <a:noFill/>
          <a:ln w="2540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1999346" y="2782192"/>
            <a:ext cx="0" cy="1261872"/>
          </a:xfrm>
          <a:prstGeom prst="line">
            <a:avLst/>
          </a:prstGeom>
          <a:noFill/>
          <a:ln w="25400">
            <a:solidFill>
              <a:srgbClr val="E88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 flipH="1">
            <a:off x="3557826" y="2782192"/>
            <a:ext cx="0" cy="1261872"/>
          </a:xfrm>
          <a:prstGeom prst="line">
            <a:avLst/>
          </a:prstGeom>
          <a:noFill/>
          <a:ln w="25400">
            <a:solidFill>
              <a:srgbClr val="E88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769478" y="3339976"/>
            <a:ext cx="100584" cy="100584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4701398" y="3339976"/>
            <a:ext cx="100584" cy="100584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1949054" y="2709502"/>
            <a:ext cx="100584" cy="100584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1949054" y="3989108"/>
            <a:ext cx="100584" cy="100584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512491" y="2700172"/>
            <a:ext cx="100584" cy="100584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512491" y="3989110"/>
            <a:ext cx="100584" cy="100584"/>
          </a:xfrm>
          <a:prstGeom prst="ellipse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 txBox="1"/>
          <p:nvPr/>
        </p:nvSpPr>
        <p:spPr>
          <a:xfrm>
            <a:off x="819770" y="4144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larghezza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23474" y="237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altezza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9012" y="197510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punti per occhio, sui 478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32744" y="44829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rapporto</a:t>
            </a:r>
            <a:r>
              <a:rPr lang="en-US" sz="9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9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r>
              <a:rPr lang="en-US" sz="9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Altezza / </a:t>
            </a:r>
            <a:r>
              <a:rPr lang="en-US" sz="9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larghezza</a:t>
            </a:r>
            <a:endParaRPr lang="en-US" sz="95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50053" y="20378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Misurata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taratura.py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nostro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sz="10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luce </a:t>
            </a:r>
            <a:r>
              <a:rPr lang="en-US" sz="105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endParaRPr lang="en-US" sz="1050" i="1" dirty="0"/>
          </a:p>
        </p:txBody>
      </p:sp>
      <p:sp>
        <p:nvSpPr>
          <p:cNvPr id="19" name="Shape 17"/>
          <p:cNvSpPr/>
          <p:nvPr/>
        </p:nvSpPr>
        <p:spPr>
          <a:xfrm>
            <a:off x="6671585" y="3349116"/>
            <a:ext cx="525780" cy="384048"/>
          </a:xfrm>
          <a:prstGeom prst="roundRect">
            <a:avLst>
              <a:gd name="adj" fmla="val 71429"/>
            </a:avLst>
          </a:prstGeom>
          <a:solidFill>
            <a:srgbClr val="E8887F"/>
          </a:solidFill>
          <a:ln w="12700">
            <a:solidFill>
              <a:srgbClr val="E88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5985785" y="29650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 chiusi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53063" y="3349116"/>
            <a:ext cx="1143572" cy="384048"/>
          </a:xfrm>
          <a:prstGeom prst="roundRect">
            <a:avLst>
              <a:gd name="adj" fmla="val 71429"/>
            </a:avLst>
          </a:prstGeom>
          <a:solidFill>
            <a:srgbClr val="8FD9EC"/>
          </a:solidFill>
          <a:ln w="1270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 txBox="1"/>
          <p:nvPr/>
        </p:nvSpPr>
        <p:spPr>
          <a:xfrm>
            <a:off x="9261623" y="29650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 aperti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04844" y="3541140"/>
            <a:ext cx="1748219" cy="0"/>
          </a:xfrm>
          <a:prstGeom prst="line">
            <a:avLst/>
          </a:prstGeom>
          <a:noFill/>
          <a:ln w="15240">
            <a:solidFill>
              <a:srgbClr val="8FD9EC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7549980" y="3486276"/>
            <a:ext cx="109728" cy="109728"/>
          </a:xfrm>
          <a:prstGeom prst="ellipse">
            <a:avLst/>
          </a:prstGeom>
          <a:solidFill>
            <a:srgbClr val="8FD9E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 txBox="1"/>
          <p:nvPr/>
        </p:nvSpPr>
        <p:spPr>
          <a:xfrm>
            <a:off x="6690444" y="38063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  un battito di ciglia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32948" y="3257676"/>
            <a:ext cx="0" cy="566928"/>
          </a:xfrm>
          <a:prstGeom prst="line">
            <a:avLst/>
          </a:prstGeom>
          <a:noFill/>
          <a:ln w="27940">
            <a:solidFill>
              <a:srgbClr val="E8B87F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 txBox="1"/>
          <p:nvPr/>
        </p:nvSpPr>
        <p:spPr>
          <a:xfrm>
            <a:off x="7655708" y="25078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0.18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6938" y="4217796"/>
            <a:ext cx="525780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 txBox="1"/>
          <p:nvPr/>
        </p:nvSpPr>
        <p:spPr>
          <a:xfrm>
            <a:off x="5792618" y="42635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107068" y="42635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421518" y="42635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735968" y="42635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50418" y="42635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066938" y="451954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rapporto di apertura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50280" y="813522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Dispersione</a:t>
            </a: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Mandala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41B33"/>
          </a:solidFill>
          <a:ln w="1651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 txBox="1"/>
          <p:nvPr/>
        </p:nvSpPr>
        <p:spPr>
          <a:xfrm>
            <a:off x="896112" y="193852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ascolto.py  ·  la voce </a:t>
            </a:r>
            <a:r>
              <a:rPr lang="en-US" sz="1400" b="1" dirty="0" err="1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dell’utente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gira in locale, modello small, int8 su CPU. La registrazione parte quando gli occhi si chiudono e finisce quando si riaprono. L'audio non esce mai dal computer: esce solo la trascrizione.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41B33"/>
          </a:solidFill>
          <a:ln w="1651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6428232" y="193852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movimento.py  ·  </a:t>
            </a:r>
            <a:r>
              <a:rPr lang="en-US" sz="1400" b="1" dirty="0" err="1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</a:t>
            </a: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400" b="1" dirty="0" err="1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disperdere</a:t>
            </a: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Mandala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30428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punta del naso — il punto più sporgente dei 478 — ricava quanta energia c'è nel movimento. Sotto una soglia non conta: è respiro, non volontà.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flussi audio aperti una volta sola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63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Aprire o chiudere un flusso mentre un altro suona fa riconfigurare la scheda audio, e si sente come un “click” </a:t>
            </a:r>
            <a:r>
              <a:rPr lang="en-US" sz="1350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fastidioso</a:t>
            </a: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</a:t>
            </a: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microfono</a:t>
            </a: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tappeto musicale e traccia della meditazione si aprono all'avvio e restano aperti fino alla fine: quello che si accende e si spegne è solo un interruttore.</a:t>
            </a:r>
            <a:endParaRPr lang="en-US" sz="13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F867328-C7ED-7DF5-1D68-4C4EEDCA60DB}"/>
              </a:ext>
            </a:extLst>
          </p:cNvPr>
          <p:cNvSpPr txBox="1"/>
          <p:nvPr/>
        </p:nvSpPr>
        <p:spPr>
          <a:xfrm>
            <a:off x="792480" y="8382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Microfono</a:t>
            </a: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Whisper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RAZIONALITÀ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Transitional</a:t>
            </a: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Network – </a:t>
            </a: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Macchina</a:t>
            </a: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Stati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 txBox="1"/>
          <p:nvPr/>
        </p:nvSpPr>
        <p:spPr>
          <a:xfrm>
            <a:off x="539496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Benvenuto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18488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1769364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1805940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Invito</a:t>
            </a:r>
            <a:endParaRPr lang="en-US" sz="950" b="1" dirty="0">
              <a:solidFill>
                <a:srgbClr val="E8EEF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cs typeface="Calibri" pitchFamily="34" charset="-120"/>
              </a:rPr>
              <a:t>a </a:t>
            </a:r>
            <a:r>
              <a:rPr lang="en-US" sz="950" b="1" dirty="0" err="1">
                <a:solidFill>
                  <a:srgbClr val="E8EEF7"/>
                </a:solidFill>
                <a:latin typeface="Calibri" pitchFamily="34" charset="0"/>
                <a:cs typeface="Calibri" pitchFamily="34" charset="-120"/>
              </a:rPr>
              <a:t>parlare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4932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035808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3072384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51376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302252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 txBox="1"/>
          <p:nvPr/>
        </p:nvSpPr>
        <p:spPr>
          <a:xfrm>
            <a:off x="4338828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7820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568696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 txBox="1"/>
          <p:nvPr/>
        </p:nvSpPr>
        <p:spPr>
          <a:xfrm>
            <a:off x="5605272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</a:t>
            </a:r>
            <a:r>
              <a:rPr lang="en-US" sz="950" b="1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</a:t>
            </a: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personalizzate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84264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6835140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6871716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meditazione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0708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8101584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 txBox="1"/>
          <p:nvPr/>
        </p:nvSpPr>
        <p:spPr>
          <a:xfrm>
            <a:off x="8138160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Meditazione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17152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9368028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9404604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483596" y="3569884"/>
            <a:ext cx="150876" cy="0"/>
          </a:xfrm>
          <a:prstGeom prst="line">
            <a:avLst/>
          </a:prstGeom>
          <a:noFill/>
          <a:ln w="1651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10634472" y="3135544"/>
            <a:ext cx="1115568" cy="86868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778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 txBox="1"/>
          <p:nvPr/>
        </p:nvSpPr>
        <p:spPr>
          <a:xfrm>
            <a:off x="10671048" y="3135544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Distruzione</a:t>
            </a:r>
            <a:r>
              <a:rPr lang="en-US" sz="95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Mandala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315886" y="43882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65110" y="4077376"/>
            <a:ext cx="0" cy="292608"/>
          </a:xfrm>
          <a:prstGeom prst="line">
            <a:avLst/>
          </a:prstGeom>
          <a:noFill/>
          <a:ln w="15240">
            <a:solidFill>
              <a:srgbClr val="8FD9EC"/>
            </a:solidFill>
            <a:prstDash val="solid"/>
            <a:head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 txBox="1"/>
          <p:nvPr/>
        </p:nvSpPr>
        <p:spPr>
          <a:xfrm>
            <a:off x="3582329" y="43882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31553" y="4077376"/>
            <a:ext cx="0" cy="292608"/>
          </a:xfrm>
          <a:prstGeom prst="line">
            <a:avLst/>
          </a:prstGeom>
          <a:noFill/>
          <a:ln w="15240">
            <a:solidFill>
              <a:srgbClr val="8FD9EC"/>
            </a:solidFill>
            <a:prstDash val="solid"/>
            <a:head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 txBox="1"/>
          <p:nvPr/>
        </p:nvSpPr>
        <p:spPr>
          <a:xfrm>
            <a:off x="7402925" y="43882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52149" y="4077376"/>
            <a:ext cx="0" cy="292608"/>
          </a:xfrm>
          <a:prstGeom prst="line">
            <a:avLst/>
          </a:prstGeom>
          <a:noFill/>
          <a:ln w="15240">
            <a:solidFill>
              <a:srgbClr val="8FD9EC"/>
            </a:solidFill>
            <a:prstDash val="solid"/>
            <a:head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 txBox="1"/>
          <p:nvPr/>
        </p:nvSpPr>
        <p:spPr>
          <a:xfrm>
            <a:off x="8669369" y="43882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318593" y="4077376"/>
            <a:ext cx="0" cy="292608"/>
          </a:xfrm>
          <a:prstGeom prst="line">
            <a:avLst/>
          </a:prstGeom>
          <a:noFill/>
          <a:ln w="15240">
            <a:solidFill>
              <a:srgbClr val="8FD9EC"/>
            </a:solidFill>
            <a:prstDash val="solid"/>
            <a:head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 txBox="1"/>
          <p:nvPr/>
        </p:nvSpPr>
        <p:spPr>
          <a:xfrm>
            <a:off x="10543032" y="43882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volto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192256" y="4077376"/>
            <a:ext cx="0" cy="292608"/>
          </a:xfrm>
          <a:prstGeom prst="line">
            <a:avLst/>
          </a:prstGeom>
          <a:noFill/>
          <a:ln w="15240">
            <a:solidFill>
              <a:srgbClr val="E8887F"/>
            </a:solidFill>
            <a:prstDash val="solid"/>
            <a:head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 txBox="1"/>
          <p:nvPr/>
        </p:nvSpPr>
        <p:spPr>
          <a:xfrm>
            <a:off x="91440" y="2568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60704" y="2879512"/>
            <a:ext cx="0" cy="237744"/>
          </a:xfrm>
          <a:prstGeom prst="line">
            <a:avLst/>
          </a:prstGeom>
          <a:noFill/>
          <a:ln w="1397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 txBox="1"/>
          <p:nvPr/>
        </p:nvSpPr>
        <p:spPr>
          <a:xfrm>
            <a:off x="3890772" y="2568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Claude risponde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60036" y="2879512"/>
            <a:ext cx="0" cy="237744"/>
          </a:xfrm>
          <a:prstGeom prst="line">
            <a:avLst/>
          </a:prstGeom>
          <a:noFill/>
          <a:ln w="1397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 txBox="1"/>
          <p:nvPr/>
        </p:nvSpPr>
        <p:spPr>
          <a:xfrm>
            <a:off x="5157216" y="2568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2879512"/>
            <a:ext cx="0" cy="237744"/>
          </a:xfrm>
          <a:prstGeom prst="line">
            <a:avLst/>
          </a:prstGeom>
          <a:noFill/>
          <a:ln w="1397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 txBox="1"/>
          <p:nvPr/>
        </p:nvSpPr>
        <p:spPr>
          <a:xfrm>
            <a:off x="8956548" y="2568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925812" y="2879512"/>
            <a:ext cx="0" cy="237744"/>
          </a:xfrm>
          <a:prstGeom prst="line">
            <a:avLst/>
          </a:prstGeom>
          <a:noFill/>
          <a:ln w="13970">
            <a:solidFill>
              <a:srgbClr val="44507A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  ·  LE PARTICELLE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13.664 </a:t>
            </a: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particelle</a:t>
            </a: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reattive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2089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particle system is a collection of many many minute particles that together represent a fuzzy object.”</a:t>
            </a:r>
            <a:r>
              <a:rPr lang="en-US" sz="12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W. T. Reeves, Lucasfilm, 1982</a:t>
            </a:r>
            <a:endParaRPr lang="en-US" sz="1250" dirty="0"/>
          </a:p>
        </p:txBody>
      </p:sp>
      <p:pic>
        <p:nvPicPr>
          <p:cNvPr id="5" name="Image 0" descr="/tmp/ppt/p_s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03476"/>
            <a:ext cx="2743200" cy="22128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789476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73524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Ognuna insegue il suo posto con la propria inerzia: confronta dov'è con dove vorrebbe essere e applica una forza.</a:t>
            </a:r>
            <a:endParaRPr lang="en-US" sz="1100" dirty="0"/>
          </a:p>
        </p:txBody>
      </p:sp>
      <p:pic>
        <p:nvPicPr>
          <p:cNvPr id="8" name="Image 1" descr="/tmp/ppt/p_repulsi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03476"/>
            <a:ext cx="2743200" cy="22128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79392" y="4789476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REPULSIONE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416552" y="5173524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naso respinge ciò che gli passa vicino. La spinta cala col quadrato della distanza e si annulla sul bordo del raggio.</a:t>
            </a:r>
            <a:endParaRPr lang="en-US" sz="1100" dirty="0"/>
          </a:p>
        </p:txBody>
      </p:sp>
      <p:pic>
        <p:nvPicPr>
          <p:cNvPr id="11" name="Image 2" descr="/tmp/ppt/p_swa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503476"/>
            <a:ext cx="2743200" cy="22128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55864" y="4789476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193024" y="5173524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interazione fra particelle: la forma emerge </a:t>
            </a:r>
            <a:r>
              <a:rPr lang="en-US" sz="1100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somma di </a:t>
            </a:r>
            <a:r>
              <a:rPr lang="en-US" sz="1100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queste</a:t>
            </a: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  ·  LA MUSICA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Dall'emozione alla partitura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6916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5138928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iso. </a:t>
            </a: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musica va incontro all'energia di chi ascolta prima di accompagnarla giù: chi parte agitato non riceve subito una ninnananna, riceve la propria agitazione, che poi si posa. </a:t>
            </a:r>
            <a:r>
              <a:rPr lang="en-US" sz="125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 Q2 percorrono la stessa discesa</a:t>
            </a: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 partono da brani di colore tonale opposto — luminoso l'uno, scuro l'altro. E la calma non è silenzio: Q3 e Q4 si posano su una pulsazione lieve, non su zero.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  ·  LA MUSICA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MuseMorphose: un Transformer-VAE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L'encoder comprime ogni battuta in un punto dello spazio latente. Il decoder la riscrive — ma con i valori di densità che imponiamo noi, battuta per battuta. Stesso materiale musicale, esecuzione diversa.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874520" cy="1417320"/>
          </a:xfrm>
          <a:prstGeom prst="roundRect">
            <a:avLst>
              <a:gd name="adj" fmla="val 3226"/>
            </a:avLst>
          </a:prstGeom>
          <a:solidFill>
            <a:srgbClr val="141B33"/>
          </a:solidFill>
          <a:ln w="19050">
            <a:solidFill>
              <a:srgbClr val="5A7F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 txBox="1"/>
          <p:nvPr/>
        </p:nvSpPr>
        <p:spPr>
          <a:xfrm>
            <a:off x="557784" y="278892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Brano di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5A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57784" y="3355848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MIDI, per battute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2606040"/>
            <a:ext cx="2011680" cy="1417320"/>
          </a:xfrm>
          <a:prstGeom prst="roundRect">
            <a:avLst>
              <a:gd name="adj" fmla="val 3226"/>
            </a:avLst>
          </a:prstGeom>
          <a:solidFill>
            <a:srgbClr val="141B33"/>
          </a:solidFill>
          <a:ln w="1905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2798064" y="278892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3355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una battuta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606040"/>
            <a:ext cx="1920240" cy="1417320"/>
          </a:xfrm>
          <a:prstGeom prst="roundRect">
            <a:avLst>
              <a:gd name="adj" fmla="val 3226"/>
            </a:avLst>
          </a:prstGeom>
          <a:solidFill>
            <a:srgbClr val="141B33"/>
          </a:solidFill>
          <a:ln w="1905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 txBox="1"/>
          <p:nvPr/>
        </p:nvSpPr>
        <p:spPr>
          <a:xfrm>
            <a:off x="5175504" y="27889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latente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33558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vettore per battuta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regolarizzato KL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2606040"/>
            <a:ext cx="2103120" cy="1417320"/>
          </a:xfrm>
          <a:prstGeom prst="roundRect">
            <a:avLst>
              <a:gd name="adj" fmla="val 3226"/>
            </a:avLst>
          </a:prstGeom>
          <a:solidFill>
            <a:srgbClr val="141B33"/>
          </a:solidFill>
          <a:ln w="19050">
            <a:solidFill>
              <a:srgbClr val="8FD9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7461504" y="27889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61504" y="335584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in-attention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75520" y="2606040"/>
            <a:ext cx="1783080" cy="1417320"/>
          </a:xfrm>
          <a:prstGeom prst="roundRect">
            <a:avLst>
              <a:gd name="adj" fmla="val 3226"/>
            </a:avLst>
          </a:prstGeom>
          <a:solidFill>
            <a:srgbClr val="141B33"/>
          </a:solidFill>
          <a:ln w="19050">
            <a:solidFill>
              <a:srgbClr val="C9A0D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 txBox="1"/>
          <p:nvPr/>
        </p:nvSpPr>
        <p:spPr>
          <a:xfrm>
            <a:off x="9930384" y="27889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rieseguito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930384" y="335584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materiale,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altra densità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3314700"/>
            <a:ext cx="365760" cy="0"/>
          </a:xfrm>
          <a:prstGeom prst="line">
            <a:avLst/>
          </a:prstGeom>
          <a:noFill/>
          <a:ln w="2032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754880" y="3314700"/>
            <a:ext cx="365760" cy="0"/>
          </a:xfrm>
          <a:prstGeom prst="line">
            <a:avLst/>
          </a:prstGeom>
          <a:noFill/>
          <a:ln w="2032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7040880" y="3314700"/>
            <a:ext cx="365760" cy="0"/>
          </a:xfrm>
          <a:prstGeom prst="line">
            <a:avLst/>
          </a:prstGeom>
          <a:noFill/>
          <a:ln w="2032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9509760" y="3314700"/>
            <a:ext cx="365760" cy="0"/>
          </a:xfrm>
          <a:prstGeom prst="line">
            <a:avLst/>
          </a:prstGeom>
          <a:noFill/>
          <a:ln w="2032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6537960" y="4617720"/>
            <a:ext cx="3840480" cy="1051560"/>
          </a:xfrm>
          <a:prstGeom prst="roundRect">
            <a:avLst>
              <a:gd name="adj" fmla="val 4348"/>
            </a:avLst>
          </a:prstGeom>
          <a:solidFill>
            <a:srgbClr val="141B33"/>
          </a:solidFill>
          <a:ln w="19050">
            <a:solidFill>
              <a:srgbClr val="E88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 txBox="1"/>
          <p:nvPr/>
        </p:nvSpPr>
        <p:spPr>
          <a:xfrm>
            <a:off x="66294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  per battuta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intensità ritmica  ·  polifonia   (classi 0-7)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303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qui che entra la nostra curva emotiva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58200" y="4023360"/>
            <a:ext cx="0" cy="594360"/>
          </a:xfrm>
          <a:prstGeom prst="line">
            <a:avLst/>
          </a:prstGeom>
          <a:noFill/>
          <a:ln w="20320">
            <a:solidFill>
              <a:srgbClr val="E8887F"/>
            </a:solidFill>
            <a:prstDash val="solid"/>
            <a:head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 txBox="1"/>
          <p:nvPr/>
        </p:nvSpPr>
        <p:spPr>
          <a:xfrm>
            <a:off x="640080" y="58704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VAE e non una rete che compone da zero: </a:t>
            </a: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spazio latente regolarizzato permette di conservare il materiale musicale e cambiarne solo l'esecuzione. È esattamente ciò che serve a una traiettoria emotiva — la stessa idea, la stessa musica, un'altra densità.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556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&amp; Yang, IEEE/ACM TASLP 2022  ·  modello usato senza modifiche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  ·  LA MUSICA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È style transfer, ma sul suono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99131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neural style transfer una rete separa il contenuto di un'immagine dal suo stile, e li ricombina. MuseMorphose fa la stessa operazione sulla musica: il contenuto è il brano di riferimento, lo stile è la densità dell'esecuzione.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744788" y="274213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5268" y="274213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MuseMorphose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388" y="352851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B33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3744788" y="352851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fotografia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5268" y="352851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brano di riferimento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36996" y="352851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4388" y="4314902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B33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 txBox="1"/>
          <p:nvPr/>
        </p:nvSpPr>
        <p:spPr>
          <a:xfrm>
            <a:off x="3744788" y="431490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quadro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5268" y="431490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intensità ritmica e polifonia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996" y="431490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4388" y="5101286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B33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3744788" y="510128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peso globale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85268" y="510128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valori per ogni battuta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996" y="510128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  ·  LA MUSICA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MIDI al suono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5386" y="1929384"/>
            <a:ext cx="566928" cy="566928"/>
          </a:xfrm>
          <a:prstGeom prst="ellipse">
            <a:avLst/>
          </a:prstGeom>
          <a:solidFill>
            <a:srgbClr val="8FD9E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 txBox="1"/>
          <p:nvPr/>
        </p:nvSpPr>
        <p:spPr>
          <a:xfrm>
            <a:off x="1065386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849002" y="1994461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87207" y="179690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catalogo si sceglie un brano di riferimento con il colore tonale giusto: più scuro per valenza bassa, più luminoso per alta.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65386" y="2953512"/>
            <a:ext cx="566928" cy="566928"/>
          </a:xfrm>
          <a:prstGeom prst="ellipse">
            <a:avLst/>
          </a:prstGeom>
          <a:solidFill>
            <a:srgbClr val="E8B87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1065386" y="2953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849002" y="3018589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Rigenerazione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87207" y="282103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MuseMorphose riesegue il brano seguendo la curva di densità, battuta per battuta. Esce un MIDI di pianoforte a traccia singola.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65386" y="3977640"/>
            <a:ext cx="566928" cy="566928"/>
          </a:xfrm>
          <a:prstGeom prst="ellipse">
            <a:avLst/>
          </a:prstGeom>
          <a:solidFill>
            <a:srgbClr val="C9A0D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1065386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849002" y="4042717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Orchestrazione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87207" y="384515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note vengono divise per ruolo — basso, armonia, melodia — e a ciascun ruolo si assegna uno strumento dalla tavolozza del quadrante.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65386" y="5001768"/>
            <a:ext cx="566928" cy="566928"/>
          </a:xfrm>
          <a:prstGeom prst="ellipse">
            <a:avLst/>
          </a:prstGeom>
          <a:solidFill>
            <a:srgbClr val="E8887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 txBox="1"/>
          <p:nvPr/>
        </p:nvSpPr>
        <p:spPr>
          <a:xfrm>
            <a:off x="1065386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49002" y="5066845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87207" y="486928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FluidSynth con soundfont General MIDI, riverbero profondo e dissolvenza finale. Esce un file stereo.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65386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generazione richiede minuti su CPU: durante la sessione si riproduce una libreria pre-renderizzata, e il brano personalizzato nasce in sottofondo come regalo.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  ·  L'OGGETTO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mandala della sessione</a:t>
            </a:r>
            <a:endParaRPr lang="en-US" sz="3400" dirty="0"/>
          </a:p>
        </p:txBody>
      </p:sp>
      <p:pic>
        <p:nvPicPr>
          <p:cNvPr id="4" name="Image 0" descr="/tmp/ppt/mandala_turche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64592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7373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schermo è fatto delle stesse 13.664 particelle del volto. Come immagine da portare via ne usa 260.000, a 2400 pixel di lato — generata in due secondi, senza TouchDesigner.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6858000" cy="1234440"/>
          </a:xfrm>
          <a:prstGeom prst="roundRect">
            <a:avLst>
              <a:gd name="adj" fmla="val 4444"/>
            </a:avLst>
          </a:prstGeom>
          <a:solidFill>
            <a:srgbClr val="141B33"/>
          </a:solidFill>
          <a:ln w="16510">
            <a:solidFill>
              <a:srgbClr val="E8B87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 txBox="1"/>
          <p:nvPr/>
        </p:nvSpPr>
        <p:spPr>
          <a:xfrm>
            <a:off x="896112" y="3035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carattere lo </a:t>
            </a:r>
            <a:r>
              <a:rPr lang="en-US" sz="140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</a:t>
            </a:r>
            <a:r>
              <a:rPr lang="en-US" sz="14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</a:t>
            </a:r>
            <a:r>
              <a:rPr lang="en-US" sz="14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400" b="1" dirty="0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8B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4015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Petali, anelli e tonalità nascono dal racconto, nella stessa chiamata che genera le frasi.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6858000" cy="1234440"/>
          </a:xfrm>
          <a:prstGeom prst="roundRect">
            <a:avLst>
              <a:gd name="adj" fmla="val 4444"/>
            </a:avLst>
          </a:prstGeom>
          <a:solidFill>
            <a:srgbClr val="141B33"/>
          </a:solidFill>
          <a:ln w="16510">
            <a:solidFill>
              <a:srgbClr val="C9A0D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 txBox="1"/>
          <p:nvPr/>
        </p:nvSpPr>
        <p:spPr>
          <a:xfrm>
            <a:off x="896112" y="44074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complessità la </a:t>
            </a:r>
            <a:r>
              <a:rPr lang="en-US" sz="1400" b="1" dirty="0" err="1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</a:t>
            </a:r>
            <a:r>
              <a:rPr lang="en-US" sz="14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b="1" dirty="0" err="1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</a:t>
            </a:r>
            <a:r>
              <a:rPr lang="en-US" sz="14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</a:t>
            </a:r>
            <a:r>
              <a:rPr lang="en-US" sz="14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</a:t>
            </a:r>
            <a:r>
              <a:rPr lang="en-US" sz="1400" b="1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meditazione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4773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40 secondi di meditazione aggiunge un livello di dettaglio. Il tempo diventa distanza percorsa verso il centro.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806440"/>
            <a:ext cx="4438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pura: anelli concentrici modulati da armoniche di </a:t>
            </a:r>
            <a:r>
              <a:rPr lang="en-US" sz="1100" i="1" dirty="0" err="1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petali</a:t>
            </a:r>
            <a:r>
              <a:rPr lang="en-US" sz="1100" i="1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1623</Words>
  <Application>Microsoft Macintosh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IN-Motion</dc:title>
  <dc:subject>PptxGenJS Presentation</dc:subject>
  <dc:creator>IN-Motion</dc:creator>
  <cp:lastModifiedBy>Aldo Pinelli</cp:lastModifiedBy>
  <cp:revision>11</cp:revision>
  <dcterms:created xsi:type="dcterms:W3CDTF">2026-08-27T07:55:48Z</dcterms:created>
  <dcterms:modified xsi:type="dcterms:W3CDTF">2026-08-27T17:18:02Z</dcterms:modified>
</cp:coreProperties>
</file>