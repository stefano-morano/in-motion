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</p:sldIdLst>
  <p:sldSz cx="18288000" cy="10287000"/>
  <p:notesSz cx="10287000" cy="1828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063"/>
    <p:restoredTop sz="94610"/>
  </p:normalViewPr>
  <p:slideViewPr>
    <p:cSldViewPr snapToGrid="0" snapToObjects="1">
      <p:cViewPr varScale="1">
        <p:scale>
          <a:sx n="80" d="100"/>
          <a:sy n="80" d="100"/>
        </p:scale>
        <p:origin x="256" y="3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37928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the audience. Introduce the team and the one-line pitch: a personalized meditation experience built from particles.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 the purpose, the setting, where the installation lives, and how emotion is captured without a questionnaire.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concept of the mandala and why it grounds the whole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agent framework: perception, knowledge, rationality, action. This is the outline for the rest of the talk.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pipeline end to end: world, perception, rationality and knowledge, action. Emphasize it's a single local process.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eye opening ratio and the empirically measured blink threshold.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 the Russell face algorithm plus how Claude extends it for humor, lies, and shyness.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 Whisper voice capture, the nose-based gesture signal, and why the audio streams stay open.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ten-state machine end to end, from Welcome to Final Feedback, and the restart loop.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how a generated phrase becomes a cached array of particle positions: rendered to an offscreen canvas, thresholded, sampled, scaled and centered.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how particles are anchored to the 478-landmark face mesh via a fixed triangle and barycentric coordinates, so each particle always lives at the same relative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three particle forces: seek, repulsion, swarm. Open with the Reeves 1982 quote.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iso principle and how Q1-Q4 map to musical descent.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Transformer-VAE architecture and why a VAE preserves musical material while changing performance.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four steps from MIDI selection to rendered stereo audio.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 the mandala image generation: particle counts, resolution, and how the narrative and duration shape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web porting effort and the two core frameworks: Firebase and Uvicorn.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login screen and explain the Firebase auth cache check plus the two sign-in providers.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registration screen and explain that the answers are used to personalize the meditation via Claude.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core app screen and emphasize the minimal, low-friction interface.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that for every sequence, the system generates a short text from the particle narrative and reads it aloud via text-to-speech.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session calendar and the per-session valence/arousal graph.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design challenge of classifying emotion: why external sensors were rejected, and how facial recognition plus storytelling, elaborated by Claude, solved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talk, thank the audience, and open the floor to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7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>
            <a:alphaModFix amt="90000"/>
          </a:blip>
          <a:srcRect/>
          <a:stretch/>
        </p:blipFill>
        <p:spPr>
          <a:xfrm>
            <a:off x="9525000" y="-95250"/>
            <a:ext cx="10477500" cy="10477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05070D">
                  <a:alpha val="100000"/>
                </a:srgbClr>
              </a:gs>
              <a:gs pos="38000">
                <a:srgbClr val="05070D">
                  <a:alpha val="100000"/>
                </a:srgbClr>
              </a:gs>
              <a:gs pos="62000">
                <a:srgbClr val="05070D">
                  <a:alpha val="55000"/>
                </a:srgbClr>
              </a:gs>
              <a:gs pos="100000">
                <a:srgbClr val="05070D">
                  <a:alpha val="0"/>
                </a:srgbClr>
              </a:gs>
            </a:gsLst>
            <a:lin ang="0" scaled="0"/>
          </a:gra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Text 1"/>
          <p:cNvSpPr/>
          <p:nvPr/>
        </p:nvSpPr>
        <p:spPr>
          <a:xfrm>
            <a:off x="1047750" y="762000"/>
            <a:ext cx="1974599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504" dirty="0">
                <a:solidFill>
                  <a:srgbClr val="626A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IN‑MOTION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1047750" y="3810000"/>
            <a:ext cx="102679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52" dirty="0">
                <a:solidFill>
                  <a:srgbClr val="F0A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PERSONALIZED MEDITATION EXPERIENCE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1047750" y="4338638"/>
            <a:ext cx="9614535" cy="19399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90353"/>
              </a:lnSpc>
              <a:buNone/>
            </a:pPr>
            <a:r>
              <a:rPr lang="en-US" sz="7200" b="1" kern="0" spc="-72" dirty="0">
                <a:solidFill>
                  <a:srgbClr val="F5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Face, words, music and mandala.</a:t>
            </a:r>
            <a:endParaRPr lang="en-US" sz="7200" dirty="0"/>
          </a:p>
        </p:txBody>
      </p:sp>
      <p:sp>
        <p:nvSpPr>
          <p:cNvPr id="7" name="Text 4"/>
          <p:cNvSpPr/>
          <p:nvPr/>
        </p:nvSpPr>
        <p:spPr>
          <a:xfrm>
            <a:off x="1047750" y="6583412"/>
            <a:ext cx="7962900" cy="4667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435"/>
              </a:lnSpc>
              <a:buNone/>
            </a:pPr>
            <a:r>
              <a:rPr lang="en-US" sz="2250" dirty="0">
                <a:solidFill>
                  <a:srgbClr val="9AA1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drawn from the same particles.</a:t>
            </a:r>
            <a:endParaRPr lang="en-US" sz="2250" dirty="0"/>
          </a:p>
        </p:txBody>
      </p:sp>
      <p:sp>
        <p:nvSpPr>
          <p:cNvPr id="8" name="Text 5"/>
          <p:cNvSpPr/>
          <p:nvPr/>
        </p:nvSpPr>
        <p:spPr>
          <a:xfrm>
            <a:off x="1047750" y="9339263"/>
            <a:ext cx="8073814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kern="0" spc="18" dirty="0">
                <a:solidFill>
                  <a:srgbClr val="7D8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Hamin Jang · Alessandro Cupini · Stefano Morano · Aldo Pinelli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71525"/>
            <a:ext cx="213364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52" dirty="0">
                <a:solidFill>
                  <a:srgbClr val="F0A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PROJECT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3158877" y="807244"/>
            <a:ext cx="9525" cy="190500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1047750" y="1619250"/>
            <a:ext cx="7695806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5100" b="1" kern="0" spc="-51" dirty="0">
                <a:solidFill>
                  <a:srgbClr val="F5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It’s For, and Where</a:t>
            </a:r>
            <a:endParaRPr lang="en-US" sz="5100" dirty="0"/>
          </a:p>
        </p:txBody>
      </p:sp>
      <p:sp>
        <p:nvSpPr>
          <p:cNvPr id="6" name="Shape 4"/>
          <p:cNvSpPr/>
          <p:nvPr/>
        </p:nvSpPr>
        <p:spPr>
          <a:xfrm>
            <a:off x="1047750" y="3048000"/>
            <a:ext cx="7962900" cy="3105150"/>
          </a:xfrm>
          <a:prstGeom prst="roundRect">
            <a:avLst>
              <a:gd name="adj" fmla="val 6135"/>
            </a:avLst>
          </a:prstGeom>
          <a:solidFill>
            <a:srgbClr val="12172A"/>
          </a:solidFill>
          <a:ln w="9525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7" name="Text 5"/>
          <p:cNvSpPr/>
          <p:nvPr/>
        </p:nvSpPr>
        <p:spPr>
          <a:xfrm>
            <a:off x="1476375" y="3419475"/>
            <a:ext cx="781621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F0A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PURPOSE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76375" y="3833812"/>
            <a:ext cx="7318820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0645"/>
              </a:lnSpc>
              <a:buNone/>
            </a:pPr>
            <a:r>
              <a:rPr lang="en-US" sz="2025" dirty="0">
                <a:solidFill>
                  <a:srgbClr val="C8CB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Give a person a few minutes of attention to themselves — and return something entirely their own: the mandala.</a:t>
            </a:r>
            <a:endParaRPr lang="en-US" sz="2025" dirty="0"/>
          </a:p>
        </p:txBody>
      </p:sp>
      <p:sp>
        <p:nvSpPr>
          <p:cNvPr id="9" name="Shape 7"/>
          <p:cNvSpPr/>
          <p:nvPr/>
        </p:nvSpPr>
        <p:spPr>
          <a:xfrm>
            <a:off x="9277350" y="3048000"/>
            <a:ext cx="7962900" cy="3105150"/>
          </a:xfrm>
          <a:prstGeom prst="roundRect">
            <a:avLst>
              <a:gd name="adj" fmla="val 6135"/>
            </a:avLst>
          </a:prstGeom>
          <a:solidFill>
            <a:srgbClr val="12172A"/>
          </a:solidFill>
          <a:ln w="9525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9705975" y="3419475"/>
            <a:ext cx="781621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F0A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9705975" y="3833812"/>
            <a:ext cx="7318820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0645"/>
              </a:lnSpc>
              <a:buNone/>
            </a:pPr>
            <a:r>
              <a:rPr lang="en-US" sz="2025" dirty="0">
                <a:solidFill>
                  <a:srgbClr val="C8CB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and individual. A quiet, dimly lit room — not an installation for crowds.</a:t>
            </a:r>
            <a:endParaRPr lang="en-US" sz="2025" dirty="0"/>
          </a:p>
        </p:txBody>
      </p:sp>
      <p:sp>
        <p:nvSpPr>
          <p:cNvPr id="12" name="Shape 10"/>
          <p:cNvSpPr/>
          <p:nvPr/>
        </p:nvSpPr>
        <p:spPr>
          <a:xfrm>
            <a:off x="1047750" y="6419850"/>
            <a:ext cx="7962900" cy="3105150"/>
          </a:xfrm>
          <a:prstGeom prst="roundRect">
            <a:avLst>
              <a:gd name="adj" fmla="val 6135"/>
            </a:avLst>
          </a:prstGeom>
          <a:solidFill>
            <a:srgbClr val="12172A"/>
          </a:solidFill>
          <a:ln w="9525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3" name="Text 11"/>
          <p:cNvSpPr/>
          <p:nvPr/>
        </p:nvSpPr>
        <p:spPr>
          <a:xfrm>
            <a:off x="1476375" y="6791325"/>
            <a:ext cx="781621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F0A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476375" y="7205663"/>
            <a:ext cx="7318820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0645"/>
              </a:lnSpc>
              <a:buNone/>
            </a:pPr>
            <a:r>
              <a:rPr lang="en-US" sz="2025" dirty="0">
                <a:solidFill>
                  <a:srgbClr val="C8CB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Decompression spaces: museums, wellness centers, trade fairs, quiet corners of companies and universities.</a:t>
            </a:r>
            <a:endParaRPr lang="en-US" sz="2025" dirty="0"/>
          </a:p>
        </p:txBody>
      </p:sp>
      <p:sp>
        <p:nvSpPr>
          <p:cNvPr id="15" name="Shape 13"/>
          <p:cNvSpPr/>
          <p:nvPr/>
        </p:nvSpPr>
        <p:spPr>
          <a:xfrm>
            <a:off x="9277350" y="6419850"/>
            <a:ext cx="7962900" cy="3105150"/>
          </a:xfrm>
          <a:prstGeom prst="roundRect">
            <a:avLst>
              <a:gd name="adj" fmla="val 6135"/>
            </a:avLst>
          </a:prstGeom>
          <a:solidFill>
            <a:srgbClr val="171D33"/>
          </a:solidFill>
          <a:ln w="9525">
            <a:solidFill>
              <a:srgbClr val="7EC9E8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9705975" y="6791325"/>
            <a:ext cx="781621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08" dirty="0">
                <a:solidFill>
                  <a:srgbClr val="7EC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THE EMOTION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9705975" y="7205663"/>
            <a:ext cx="7318820" cy="196691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645"/>
              </a:lnSpc>
              <a:buNone/>
            </a:pPr>
            <a:r>
              <a:rPr lang="en-US" sz="2025" dirty="0">
                <a:solidFill>
                  <a:srgbClr val="C8CB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questionnaire. The person speaks freely, eyes closed. Whisper transcribes locally — facial recognition from </a:t>
            </a:r>
            <a:r>
              <a:rPr lang="en-US" sz="2025" dirty="0" err="1">
                <a:solidFill>
                  <a:srgbClr val="C8CB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MediaPipe</a:t>
            </a:r>
            <a:r>
              <a:rPr lang="en-US" sz="2025" dirty="0">
                <a:solidFill>
                  <a:srgbClr val="C8CB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coordinates — Claude derives the phrases, the mandala’s character, and the emotion that guides the music.</a:t>
            </a:r>
            <a:endParaRPr lang="en-US" sz="2025" dirty="0"/>
          </a:p>
        </p:txBody>
      </p:sp>
      <p:pic>
        <p:nvPicPr>
          <p:cNvPr id="18" name="Immagine 17">
            <a:extLst>
              <a:ext uri="{FF2B5EF4-FFF2-40B4-BE49-F238E27FC236}">
                <a16:creationId xmlns:a16="http://schemas.microsoft.com/office/drawing/2014/main" id="{B03DBB19-4CF4-F214-F318-3E4EFA5CD2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46127" y="9366735"/>
            <a:ext cx="795337" cy="79533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71525"/>
            <a:ext cx="213364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52" dirty="0">
                <a:solidFill>
                  <a:srgbClr val="F0A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PROJECT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3158877" y="807244"/>
            <a:ext cx="9525" cy="190500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1047750" y="1619250"/>
            <a:ext cx="4857467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5100" b="1" kern="0" spc="-51" dirty="0">
                <a:solidFill>
                  <a:srgbClr val="F5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 Mandala</a:t>
            </a:r>
            <a:endParaRPr lang="en-US" sz="5100" dirty="0"/>
          </a:p>
        </p:txBody>
      </p:sp>
      <p:sp>
        <p:nvSpPr>
          <p:cNvPr id="6" name="Text 4"/>
          <p:cNvSpPr/>
          <p:nvPr/>
        </p:nvSpPr>
        <p:spPr>
          <a:xfrm>
            <a:off x="1047750" y="3143250"/>
            <a:ext cx="8829675" cy="9923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054"/>
              </a:lnSpc>
              <a:buNone/>
            </a:pPr>
            <a:r>
              <a:rPr lang="en-US" sz="2400" dirty="0">
                <a:solidFill>
                  <a:srgbClr val="DFE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Sanskrit, </a:t>
            </a:r>
            <a:r>
              <a:rPr lang="en-US" sz="2400" b="1" dirty="0">
                <a:solidFill>
                  <a:srgbClr val="F0A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mandala </a:t>
            </a:r>
            <a:r>
              <a:rPr lang="en-US" sz="2400" dirty="0">
                <a:solidFill>
                  <a:srgbClr val="DFE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means “circle” — and by extension, “world.” A deeper reading makes it a container of essence.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047750" y="4440436"/>
            <a:ext cx="8829675" cy="14552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4054"/>
              </a:lnSpc>
              <a:buNone/>
            </a:pPr>
            <a:r>
              <a:rPr lang="en-US" sz="2400" dirty="0">
                <a:solidFill>
                  <a:srgbClr val="DFE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is not an ornament. It is a map you enter mentally, moving toward the center — only to see it destroyed at the end. Even attachment to what is beautiful produces suffering.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1047750" y="6200477"/>
            <a:ext cx="8829675" cy="14552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4054"/>
              </a:lnSpc>
              <a:buNone/>
            </a:pPr>
            <a:r>
              <a:rPr lang="en-US" sz="2400" dirty="0">
                <a:solidFill>
                  <a:srgbClr val="DFE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project follows the same path: your face breaks apart, becomes words, then a mandala. In the end, it’s you who lets it go — by moving your head.</a:t>
            </a:r>
            <a:endParaRPr lang="en-US" sz="24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811000" y="2190750"/>
            <a:ext cx="5905500" cy="5905500"/>
          </a:xfrm>
          <a:prstGeom prst="rect">
            <a:avLst/>
          </a:prstGeom>
        </p:spPr>
      </p:pic>
      <p:pic>
        <p:nvPicPr>
          <p:cNvPr id="12" name="Immagine 11">
            <a:extLst>
              <a:ext uri="{FF2B5EF4-FFF2-40B4-BE49-F238E27FC236}">
                <a16:creationId xmlns:a16="http://schemas.microsoft.com/office/drawing/2014/main" id="{4A9CD658-DAFE-3DFF-219B-17325AD360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46127" y="9366735"/>
            <a:ext cx="795337" cy="79533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71525"/>
            <a:ext cx="213364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52" dirty="0">
                <a:solidFill>
                  <a:srgbClr val="F0A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PROJECT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3158877" y="807244"/>
            <a:ext cx="9525" cy="190500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1047750" y="1619250"/>
            <a:ext cx="9416653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5100" b="1" kern="0" spc="-51" dirty="0">
                <a:solidFill>
                  <a:srgbClr val="F5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Entire System Is an Agent</a:t>
            </a:r>
            <a:endParaRPr lang="en-US" sz="5100" dirty="0"/>
          </a:p>
        </p:txBody>
      </p:sp>
      <p:sp>
        <p:nvSpPr>
          <p:cNvPr id="6" name="Text 4"/>
          <p:cNvSpPr/>
          <p:nvPr/>
        </p:nvSpPr>
        <p:spPr>
          <a:xfrm>
            <a:off x="1047750" y="2514600"/>
            <a:ext cx="9473625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7D8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four design dimensions of an agent are also the outline of this talk.</a:t>
            </a:r>
            <a:endParaRPr lang="en-US" sz="2025" dirty="0"/>
          </a:p>
        </p:txBody>
      </p:sp>
      <p:sp>
        <p:nvSpPr>
          <p:cNvPr id="7" name="Text 5"/>
          <p:cNvSpPr/>
          <p:nvPr/>
        </p:nvSpPr>
        <p:spPr>
          <a:xfrm>
            <a:off x="1047750" y="3352800"/>
            <a:ext cx="426434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44" dirty="0">
                <a:solidFill>
                  <a:srgbClr val="F0A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PERCEPTION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47750" y="3786188"/>
            <a:ext cx="4264343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2182"/>
              </a:lnSpc>
              <a:buNone/>
            </a:pPr>
            <a:r>
              <a:rPr lang="en-US" sz="1800" dirty="0">
                <a:solidFill>
                  <a:srgbClr val="7D8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perceives the world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047750" y="4334768"/>
            <a:ext cx="3876675" cy="9525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1047750" y="4572893"/>
            <a:ext cx="4264343" cy="3923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273"/>
              </a:lnSpc>
              <a:buNone/>
            </a:pPr>
            <a:r>
              <a:rPr lang="en-US" sz="1800" dirty="0">
                <a:solidFill>
                  <a:srgbClr val="DFE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Webcam · 478 landmarks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047750" y="5098628"/>
            <a:ext cx="4264343" cy="3923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273"/>
              </a:lnSpc>
              <a:buNone/>
            </a:pPr>
            <a:r>
              <a:rPr lang="en-US" sz="1800" dirty="0">
                <a:solidFill>
                  <a:srgbClr val="DFE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Microphone · Whisper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47750" y="5624364"/>
            <a:ext cx="4264343" cy="3923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273"/>
              </a:lnSpc>
              <a:buNone/>
            </a:pPr>
            <a:r>
              <a:rPr lang="en-US" sz="1800" dirty="0">
                <a:solidFill>
                  <a:srgbClr val="DFE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Eye opening, gesture energy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153025" y="3352800"/>
            <a:ext cx="426434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44" dirty="0">
                <a:solidFill>
                  <a:srgbClr val="7EC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KNOWLEDGE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153025" y="3786188"/>
            <a:ext cx="3992975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2182"/>
              </a:lnSpc>
              <a:buNone/>
            </a:pPr>
            <a:r>
              <a:rPr lang="en-US" sz="1800" dirty="0">
                <a:solidFill>
                  <a:srgbClr val="7D8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knows about itself and the environment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153025" y="4654748"/>
            <a:ext cx="3876675" cy="9525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5153025" y="4892873"/>
            <a:ext cx="4264343" cy="3923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273"/>
              </a:lnSpc>
              <a:buNone/>
            </a:pPr>
            <a:r>
              <a:rPr lang="en-US" sz="1800" dirty="0">
                <a:solidFill>
                  <a:srgbClr val="DFE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transcribed narrative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153025" y="5418609"/>
            <a:ext cx="4264343" cy="3923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273"/>
              </a:lnSpc>
              <a:buNone/>
            </a:pPr>
            <a:r>
              <a:rPr lang="en-US" sz="1800" dirty="0">
                <a:solidFill>
                  <a:srgbClr val="DFE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Emotion classified Q1–Q4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153025" y="5944344"/>
            <a:ext cx="3992975" cy="74667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5273"/>
              </a:lnSpc>
              <a:buNone/>
            </a:pPr>
            <a:r>
              <a:rPr lang="en-US" sz="1800" dirty="0">
                <a:solidFill>
                  <a:srgbClr val="DFE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Phrases, color and shape of the mandala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258300" y="3352800"/>
            <a:ext cx="426434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44" dirty="0">
                <a:solidFill>
                  <a:srgbClr val="F0A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RATIONALITY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258300" y="3786188"/>
            <a:ext cx="4264343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2182"/>
              </a:lnSpc>
              <a:buNone/>
            </a:pPr>
            <a:r>
              <a:rPr lang="en-US" sz="1800" dirty="0">
                <a:solidFill>
                  <a:srgbClr val="7D8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process that decides what to do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9258300" y="4334768"/>
            <a:ext cx="3876675" cy="9525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2" name="Text 20"/>
          <p:cNvSpPr/>
          <p:nvPr/>
        </p:nvSpPr>
        <p:spPr>
          <a:xfrm>
            <a:off x="9258300" y="4572893"/>
            <a:ext cx="4264343" cy="3923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273"/>
              </a:lnSpc>
              <a:buNone/>
            </a:pPr>
            <a:r>
              <a:rPr lang="en-US" sz="1800" dirty="0">
                <a:solidFill>
                  <a:srgbClr val="DFE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12-state state machine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9258300" y="5098628"/>
            <a:ext cx="4264343" cy="3923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273"/>
              </a:lnSpc>
              <a:buNone/>
            </a:pPr>
            <a:r>
              <a:rPr lang="en-US" sz="1800" dirty="0">
                <a:solidFill>
                  <a:srgbClr val="DFE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Temporal confirmation thresholds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258300" y="5624364"/>
            <a:ext cx="4264343" cy="3923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273"/>
              </a:lnSpc>
              <a:buNone/>
            </a:pPr>
            <a:r>
              <a:rPr lang="en-US" sz="1800" dirty="0">
                <a:solidFill>
                  <a:srgbClr val="DFE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nets on every gesture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13363575" y="3352800"/>
            <a:ext cx="426434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144" dirty="0">
                <a:solidFill>
                  <a:srgbClr val="7EC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3363575" y="3786188"/>
            <a:ext cx="4264343" cy="35808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2182"/>
              </a:lnSpc>
              <a:buNone/>
            </a:pPr>
            <a:r>
              <a:rPr lang="en-US" sz="1800" dirty="0">
                <a:solidFill>
                  <a:srgbClr val="7D8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it influences the environment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3363575" y="4334768"/>
            <a:ext cx="3876675" cy="9525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8" name="Text 26"/>
          <p:cNvSpPr/>
          <p:nvPr/>
        </p:nvSpPr>
        <p:spPr>
          <a:xfrm>
            <a:off x="13363575" y="4572893"/>
            <a:ext cx="4264343" cy="3923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273"/>
              </a:lnSpc>
              <a:buNone/>
            </a:pPr>
            <a:r>
              <a:rPr lang="en-US" sz="1800" dirty="0">
                <a:solidFill>
                  <a:srgbClr val="DFE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13,664 particles 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3363575" y="5098628"/>
            <a:ext cx="4264343" cy="3923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273"/>
              </a:lnSpc>
              <a:buNone/>
            </a:pPr>
            <a:r>
              <a:rPr lang="en-US" sz="1800" dirty="0">
                <a:solidFill>
                  <a:srgbClr val="DFE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Music generated from the emotion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3363575" y="5624364"/>
            <a:ext cx="4264343" cy="3923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273"/>
              </a:lnSpc>
              <a:buNone/>
            </a:pPr>
            <a:r>
              <a:rPr lang="en-US" sz="1800" dirty="0">
                <a:solidFill>
                  <a:srgbClr val="DFE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mandala as an image</a:t>
            </a:r>
            <a:endParaRPr lang="en-US" sz="1800" dirty="0"/>
          </a:p>
        </p:txBody>
      </p:sp>
      <p:pic>
        <p:nvPicPr>
          <p:cNvPr id="31" name="Immagine 30">
            <a:extLst>
              <a:ext uri="{FF2B5EF4-FFF2-40B4-BE49-F238E27FC236}">
                <a16:creationId xmlns:a16="http://schemas.microsoft.com/office/drawing/2014/main" id="{6B2E899A-500E-1675-1015-100B5526F2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46127" y="9366735"/>
            <a:ext cx="795337" cy="79533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71525"/>
            <a:ext cx="213364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52" dirty="0">
                <a:solidFill>
                  <a:srgbClr val="F0A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PROJECT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3158877" y="807244"/>
            <a:ext cx="9525" cy="190500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1019534" y="1534048"/>
            <a:ext cx="8096250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5100" b="1" kern="0" spc="-51" dirty="0">
                <a:solidFill>
                  <a:srgbClr val="F5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5100" dirty="0"/>
          </a:p>
        </p:txBody>
      </p:sp>
      <p:grpSp>
        <p:nvGrpSpPr>
          <p:cNvPr id="85" name="Gruppo 84">
            <a:extLst>
              <a:ext uri="{FF2B5EF4-FFF2-40B4-BE49-F238E27FC236}">
                <a16:creationId xmlns:a16="http://schemas.microsoft.com/office/drawing/2014/main" id="{60CC9F44-D6EB-6D50-63AE-848E05EC359B}"/>
              </a:ext>
            </a:extLst>
          </p:cNvPr>
          <p:cNvGrpSpPr/>
          <p:nvPr/>
        </p:nvGrpSpPr>
        <p:grpSpPr>
          <a:xfrm>
            <a:off x="1609144" y="2741015"/>
            <a:ext cx="14836804" cy="6495751"/>
            <a:chOff x="3040380" y="3471220"/>
            <a:chExt cx="11247120" cy="4105656"/>
          </a:xfrm>
        </p:grpSpPr>
        <p:sp>
          <p:nvSpPr>
            <p:cNvPr id="25" name="Text 2">
              <a:extLst>
                <a:ext uri="{FF2B5EF4-FFF2-40B4-BE49-F238E27FC236}">
                  <a16:creationId xmlns:a16="http://schemas.microsoft.com/office/drawing/2014/main" id="{16BF9A7C-BBA9-CFF5-0010-AA11D94C7D50}"/>
                </a:ext>
              </a:extLst>
            </p:cNvPr>
            <p:cNvSpPr txBox="1"/>
            <p:nvPr/>
          </p:nvSpPr>
          <p:spPr>
            <a:xfrm>
              <a:off x="3040380" y="3571804"/>
              <a:ext cx="292608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kern="0" spc="100" dirty="0">
                  <a:solidFill>
                    <a:srgbClr val="8FD9EC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WORLD</a:t>
              </a:r>
              <a:endParaRPr lang="en-US" sz="1000" dirty="0"/>
            </a:p>
          </p:txBody>
        </p:sp>
        <p:sp>
          <p:nvSpPr>
            <p:cNvPr id="26" name="Text 3">
              <a:extLst>
                <a:ext uri="{FF2B5EF4-FFF2-40B4-BE49-F238E27FC236}">
                  <a16:creationId xmlns:a16="http://schemas.microsoft.com/office/drawing/2014/main" id="{0AAF5CA2-7BEC-D00A-BA09-B93CDFBD8C47}"/>
                </a:ext>
              </a:extLst>
            </p:cNvPr>
            <p:cNvSpPr txBox="1"/>
            <p:nvPr/>
          </p:nvSpPr>
          <p:spPr>
            <a:xfrm>
              <a:off x="5097780" y="3571804"/>
              <a:ext cx="292608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kern="0" spc="100" dirty="0">
                  <a:solidFill>
                    <a:srgbClr val="8FD9EC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PERCEPTION</a:t>
              </a:r>
              <a:endParaRPr lang="en-US" sz="1000" dirty="0"/>
            </a:p>
          </p:txBody>
        </p:sp>
        <p:sp>
          <p:nvSpPr>
            <p:cNvPr id="27" name="Text 4">
              <a:extLst>
                <a:ext uri="{FF2B5EF4-FFF2-40B4-BE49-F238E27FC236}">
                  <a16:creationId xmlns:a16="http://schemas.microsoft.com/office/drawing/2014/main" id="{F897FC3B-30CE-3FC6-D1DF-3D0A63AC9759}"/>
                </a:ext>
              </a:extLst>
            </p:cNvPr>
            <p:cNvSpPr txBox="1"/>
            <p:nvPr/>
          </p:nvSpPr>
          <p:spPr>
            <a:xfrm>
              <a:off x="7932420" y="3571804"/>
              <a:ext cx="292608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kern="0" spc="100" dirty="0">
                  <a:solidFill>
                    <a:srgbClr val="E8B87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RATIONALITY · KNOWLEDGE</a:t>
              </a:r>
              <a:endParaRPr lang="en-US" sz="1000" dirty="0"/>
            </a:p>
          </p:txBody>
        </p:sp>
        <p:sp>
          <p:nvSpPr>
            <p:cNvPr id="28" name="Text 5">
              <a:extLst>
                <a:ext uri="{FF2B5EF4-FFF2-40B4-BE49-F238E27FC236}">
                  <a16:creationId xmlns:a16="http://schemas.microsoft.com/office/drawing/2014/main" id="{FCE2F67C-02DE-FCC2-B66E-F3C68BE935E9}"/>
                </a:ext>
              </a:extLst>
            </p:cNvPr>
            <p:cNvSpPr txBox="1"/>
            <p:nvPr/>
          </p:nvSpPr>
          <p:spPr>
            <a:xfrm>
              <a:off x="10858500" y="3571804"/>
              <a:ext cx="292608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1000" b="1" kern="0" spc="100" dirty="0">
                  <a:solidFill>
                    <a:srgbClr val="C9A0DC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ACTION</a:t>
              </a:r>
              <a:endParaRPr lang="en-US" sz="1000" dirty="0"/>
            </a:p>
          </p:txBody>
        </p:sp>
        <p:sp>
          <p:nvSpPr>
            <p:cNvPr id="29" name="Shape 6">
              <a:extLst>
                <a:ext uri="{FF2B5EF4-FFF2-40B4-BE49-F238E27FC236}">
                  <a16:creationId xmlns:a16="http://schemas.microsoft.com/office/drawing/2014/main" id="{FACA6BD4-551C-4877-9DEF-743D4C526D9D}"/>
                </a:ext>
              </a:extLst>
            </p:cNvPr>
            <p:cNvSpPr/>
            <p:nvPr/>
          </p:nvSpPr>
          <p:spPr>
            <a:xfrm>
              <a:off x="3040380" y="3919276"/>
              <a:ext cx="1600200" cy="914400"/>
            </a:xfrm>
            <a:prstGeom prst="roundRect">
              <a:avLst>
                <a:gd name="adj" fmla="val 5000"/>
              </a:avLst>
            </a:prstGeom>
            <a:solidFill>
              <a:srgbClr val="141B33"/>
            </a:solidFill>
            <a:ln w="15875">
              <a:solidFill>
                <a:srgbClr val="8FD9EC"/>
              </a:solidFill>
              <a:prstDash val="solid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30" name="Text 7">
              <a:extLst>
                <a:ext uri="{FF2B5EF4-FFF2-40B4-BE49-F238E27FC236}">
                  <a16:creationId xmlns:a16="http://schemas.microsoft.com/office/drawing/2014/main" id="{AA21509C-CE76-98CB-0CD0-45BECB999C25}"/>
                </a:ext>
              </a:extLst>
            </p:cNvPr>
            <p:cNvSpPr txBox="1"/>
            <p:nvPr/>
          </p:nvSpPr>
          <p:spPr>
            <a:xfrm>
              <a:off x="3095244" y="4038148"/>
              <a:ext cx="1490472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8FD9EC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Webcam</a:t>
              </a:r>
              <a:endParaRPr lang="en-US" sz="1200" dirty="0"/>
            </a:p>
          </p:txBody>
        </p:sp>
        <p:sp>
          <p:nvSpPr>
            <p:cNvPr id="31" name="Text 8">
              <a:extLst>
                <a:ext uri="{FF2B5EF4-FFF2-40B4-BE49-F238E27FC236}">
                  <a16:creationId xmlns:a16="http://schemas.microsoft.com/office/drawing/2014/main" id="{E3B63161-DEE5-61F4-A3DE-D7799DD7E274}"/>
                </a:ext>
              </a:extLst>
            </p:cNvPr>
            <p:cNvSpPr txBox="1"/>
            <p:nvPr/>
          </p:nvSpPr>
          <p:spPr>
            <a:xfrm>
              <a:off x="3095244" y="4339900"/>
              <a:ext cx="1490472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05000"/>
                </a:lnSpc>
                <a:buNone/>
              </a:pPr>
              <a:r>
                <a:rPr lang="en-US" sz="950" dirty="0">
                  <a:solidFill>
                    <a:srgbClr val="E8EEF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30 fps</a:t>
              </a:r>
              <a:endParaRPr lang="en-US" sz="950" dirty="0"/>
            </a:p>
          </p:txBody>
        </p:sp>
        <p:sp>
          <p:nvSpPr>
            <p:cNvPr id="32" name="Shape 9">
              <a:extLst>
                <a:ext uri="{FF2B5EF4-FFF2-40B4-BE49-F238E27FC236}">
                  <a16:creationId xmlns:a16="http://schemas.microsoft.com/office/drawing/2014/main" id="{63D0B75F-569E-03A2-29CB-752C2F33028D}"/>
                </a:ext>
              </a:extLst>
            </p:cNvPr>
            <p:cNvSpPr/>
            <p:nvPr/>
          </p:nvSpPr>
          <p:spPr>
            <a:xfrm>
              <a:off x="3040380" y="6022396"/>
              <a:ext cx="1600200" cy="914400"/>
            </a:xfrm>
            <a:prstGeom prst="roundRect">
              <a:avLst>
                <a:gd name="adj" fmla="val 5000"/>
              </a:avLst>
            </a:prstGeom>
            <a:solidFill>
              <a:srgbClr val="141B33"/>
            </a:solidFill>
            <a:ln w="15875">
              <a:solidFill>
                <a:srgbClr val="8FD9EC"/>
              </a:solidFill>
              <a:prstDash val="solid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33" name="Text 10">
              <a:extLst>
                <a:ext uri="{FF2B5EF4-FFF2-40B4-BE49-F238E27FC236}">
                  <a16:creationId xmlns:a16="http://schemas.microsoft.com/office/drawing/2014/main" id="{B4E06157-46F2-939D-CEAF-F4DADEBC6B45}"/>
                </a:ext>
              </a:extLst>
            </p:cNvPr>
            <p:cNvSpPr txBox="1"/>
            <p:nvPr/>
          </p:nvSpPr>
          <p:spPr>
            <a:xfrm>
              <a:off x="3095244" y="6141268"/>
              <a:ext cx="1490472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8FD9EC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Microphone</a:t>
              </a:r>
              <a:endParaRPr lang="en-US" sz="1200" dirty="0"/>
            </a:p>
          </p:txBody>
        </p:sp>
        <p:sp>
          <p:nvSpPr>
            <p:cNvPr id="34" name="Text 11">
              <a:extLst>
                <a:ext uri="{FF2B5EF4-FFF2-40B4-BE49-F238E27FC236}">
                  <a16:creationId xmlns:a16="http://schemas.microsoft.com/office/drawing/2014/main" id="{F1DD229D-6B78-E856-0513-4304DBC227F8}"/>
                </a:ext>
              </a:extLst>
            </p:cNvPr>
            <p:cNvSpPr txBox="1"/>
            <p:nvPr/>
          </p:nvSpPr>
          <p:spPr>
            <a:xfrm>
              <a:off x="3095244" y="6443020"/>
              <a:ext cx="1490472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05000"/>
                </a:lnSpc>
                <a:buNone/>
              </a:pPr>
              <a:r>
                <a:rPr lang="en-US" sz="950" dirty="0">
                  <a:solidFill>
                    <a:srgbClr val="E8EEF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16 kHz mono</a:t>
              </a:r>
              <a:endParaRPr lang="en-US" sz="950" dirty="0"/>
            </a:p>
          </p:txBody>
        </p:sp>
        <p:sp>
          <p:nvSpPr>
            <p:cNvPr id="35" name="Shape 12">
              <a:extLst>
                <a:ext uri="{FF2B5EF4-FFF2-40B4-BE49-F238E27FC236}">
                  <a16:creationId xmlns:a16="http://schemas.microsoft.com/office/drawing/2014/main" id="{8A14DA4A-981E-EB8E-560F-CF978016296C}"/>
                </a:ext>
              </a:extLst>
            </p:cNvPr>
            <p:cNvSpPr/>
            <p:nvPr/>
          </p:nvSpPr>
          <p:spPr>
            <a:xfrm>
              <a:off x="5097780" y="3919276"/>
              <a:ext cx="2331720" cy="914400"/>
            </a:xfrm>
            <a:prstGeom prst="roundRect">
              <a:avLst>
                <a:gd name="adj" fmla="val 5000"/>
              </a:avLst>
            </a:prstGeom>
            <a:solidFill>
              <a:srgbClr val="141B33"/>
            </a:solidFill>
            <a:ln w="15875">
              <a:solidFill>
                <a:srgbClr val="8FD9EC"/>
              </a:solidFill>
              <a:prstDash val="solid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36" name="Text 13">
              <a:extLst>
                <a:ext uri="{FF2B5EF4-FFF2-40B4-BE49-F238E27FC236}">
                  <a16:creationId xmlns:a16="http://schemas.microsoft.com/office/drawing/2014/main" id="{CE6943D3-E520-C512-82CF-51A4C04354F3}"/>
                </a:ext>
              </a:extLst>
            </p:cNvPr>
            <p:cNvSpPr txBox="1"/>
            <p:nvPr/>
          </p:nvSpPr>
          <p:spPr>
            <a:xfrm>
              <a:off x="5152644" y="4038148"/>
              <a:ext cx="2221992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8FD9EC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volto.py</a:t>
              </a:r>
              <a:endParaRPr lang="en-US" sz="1200" dirty="0"/>
            </a:p>
          </p:txBody>
        </p:sp>
        <p:sp>
          <p:nvSpPr>
            <p:cNvPr id="37" name="Text 14">
              <a:extLst>
                <a:ext uri="{FF2B5EF4-FFF2-40B4-BE49-F238E27FC236}">
                  <a16:creationId xmlns:a16="http://schemas.microsoft.com/office/drawing/2014/main" id="{41A7B17A-DFF1-A504-F02D-2FF25B165E70}"/>
                </a:ext>
              </a:extLst>
            </p:cNvPr>
            <p:cNvSpPr txBox="1"/>
            <p:nvPr/>
          </p:nvSpPr>
          <p:spPr>
            <a:xfrm>
              <a:off x="5152644" y="4339900"/>
              <a:ext cx="2221992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05000"/>
                </a:lnSpc>
                <a:buNone/>
              </a:pPr>
              <a:r>
                <a:rPr lang="en-US" sz="950" dirty="0">
                  <a:solidFill>
                    <a:srgbClr val="E8EEF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MediaPipe · 478 landmarks</a:t>
              </a:r>
              <a:endParaRPr lang="en-US" sz="950" dirty="0"/>
            </a:p>
          </p:txBody>
        </p:sp>
        <p:sp>
          <p:nvSpPr>
            <p:cNvPr id="38" name="Shape 15">
              <a:extLst>
                <a:ext uri="{FF2B5EF4-FFF2-40B4-BE49-F238E27FC236}">
                  <a16:creationId xmlns:a16="http://schemas.microsoft.com/office/drawing/2014/main" id="{1A483C88-216A-5D99-79C3-3A14F3619679}"/>
                </a:ext>
              </a:extLst>
            </p:cNvPr>
            <p:cNvSpPr/>
            <p:nvPr/>
          </p:nvSpPr>
          <p:spPr>
            <a:xfrm>
              <a:off x="5097780" y="4970836"/>
              <a:ext cx="2331720" cy="914400"/>
            </a:xfrm>
            <a:prstGeom prst="roundRect">
              <a:avLst>
                <a:gd name="adj" fmla="val 5000"/>
              </a:avLst>
            </a:prstGeom>
            <a:solidFill>
              <a:srgbClr val="141B33"/>
            </a:solidFill>
            <a:ln w="15875">
              <a:solidFill>
                <a:srgbClr val="8FD9EC"/>
              </a:solidFill>
              <a:prstDash val="solid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39" name="Text 16">
              <a:extLst>
                <a:ext uri="{FF2B5EF4-FFF2-40B4-BE49-F238E27FC236}">
                  <a16:creationId xmlns:a16="http://schemas.microsoft.com/office/drawing/2014/main" id="{EB0234BE-6B3B-1DDD-34E9-A2C82F3D1B2C}"/>
                </a:ext>
              </a:extLst>
            </p:cNvPr>
            <p:cNvSpPr txBox="1"/>
            <p:nvPr/>
          </p:nvSpPr>
          <p:spPr>
            <a:xfrm>
              <a:off x="5152644" y="5089708"/>
              <a:ext cx="2221992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8FD9EC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occhi.py · movimento.py</a:t>
              </a:r>
              <a:endParaRPr lang="en-US" sz="1100" dirty="0"/>
            </a:p>
          </p:txBody>
        </p:sp>
        <p:sp>
          <p:nvSpPr>
            <p:cNvPr id="40" name="Text 17">
              <a:extLst>
                <a:ext uri="{FF2B5EF4-FFF2-40B4-BE49-F238E27FC236}">
                  <a16:creationId xmlns:a16="http://schemas.microsoft.com/office/drawing/2014/main" id="{F60FECD8-E45A-5AE9-FED4-22D72B63100C}"/>
                </a:ext>
              </a:extLst>
            </p:cNvPr>
            <p:cNvSpPr txBox="1"/>
            <p:nvPr/>
          </p:nvSpPr>
          <p:spPr>
            <a:xfrm>
              <a:off x="5152644" y="5391460"/>
              <a:ext cx="2221992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05000"/>
                </a:lnSpc>
                <a:buNone/>
              </a:pPr>
              <a:r>
                <a:rPr lang="en-US" sz="950" dirty="0">
                  <a:solidFill>
                    <a:srgbClr val="E8EEF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eye opening · energy of the gesture</a:t>
              </a:r>
              <a:endParaRPr lang="en-US" sz="950" dirty="0"/>
            </a:p>
          </p:txBody>
        </p:sp>
        <p:sp>
          <p:nvSpPr>
            <p:cNvPr id="41" name="Shape 18">
              <a:extLst>
                <a:ext uri="{FF2B5EF4-FFF2-40B4-BE49-F238E27FC236}">
                  <a16:creationId xmlns:a16="http://schemas.microsoft.com/office/drawing/2014/main" id="{D15CD6D5-8077-4DB5-8FE8-817DFC47FF2C}"/>
                </a:ext>
              </a:extLst>
            </p:cNvPr>
            <p:cNvSpPr/>
            <p:nvPr/>
          </p:nvSpPr>
          <p:spPr>
            <a:xfrm>
              <a:off x="5097780" y="6022396"/>
              <a:ext cx="2331720" cy="914400"/>
            </a:xfrm>
            <a:prstGeom prst="roundRect">
              <a:avLst>
                <a:gd name="adj" fmla="val 5000"/>
              </a:avLst>
            </a:prstGeom>
            <a:solidFill>
              <a:srgbClr val="141B33"/>
            </a:solidFill>
            <a:ln w="15875">
              <a:solidFill>
                <a:srgbClr val="8FD9EC"/>
              </a:solidFill>
              <a:prstDash val="solid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42" name="Text 19">
              <a:extLst>
                <a:ext uri="{FF2B5EF4-FFF2-40B4-BE49-F238E27FC236}">
                  <a16:creationId xmlns:a16="http://schemas.microsoft.com/office/drawing/2014/main" id="{A4221BBA-AE25-47B5-9E04-56DB4DE7ED97}"/>
                </a:ext>
              </a:extLst>
            </p:cNvPr>
            <p:cNvSpPr txBox="1"/>
            <p:nvPr/>
          </p:nvSpPr>
          <p:spPr>
            <a:xfrm>
              <a:off x="5152644" y="6141268"/>
              <a:ext cx="2221992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8FD9EC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ascolto.py</a:t>
              </a:r>
              <a:endParaRPr lang="en-US" sz="1200" dirty="0"/>
            </a:p>
          </p:txBody>
        </p:sp>
        <p:sp>
          <p:nvSpPr>
            <p:cNvPr id="43" name="Text 20">
              <a:extLst>
                <a:ext uri="{FF2B5EF4-FFF2-40B4-BE49-F238E27FC236}">
                  <a16:creationId xmlns:a16="http://schemas.microsoft.com/office/drawing/2014/main" id="{74BDE773-3811-E545-B9EE-F2E4B83758B7}"/>
                </a:ext>
              </a:extLst>
            </p:cNvPr>
            <p:cNvSpPr txBox="1"/>
            <p:nvPr/>
          </p:nvSpPr>
          <p:spPr>
            <a:xfrm>
              <a:off x="5152644" y="6443020"/>
              <a:ext cx="2221992" cy="3840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05000"/>
                </a:lnSpc>
                <a:buNone/>
              </a:pPr>
              <a:r>
                <a:rPr lang="en-US" sz="950" dirty="0">
                  <a:solidFill>
                    <a:srgbClr val="E8EEF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Whisper, local</a:t>
              </a:r>
              <a:endParaRPr lang="en-US" sz="950" dirty="0"/>
            </a:p>
          </p:txBody>
        </p:sp>
        <p:sp>
          <p:nvSpPr>
            <p:cNvPr id="44" name="Shape 21">
              <a:extLst>
                <a:ext uri="{FF2B5EF4-FFF2-40B4-BE49-F238E27FC236}">
                  <a16:creationId xmlns:a16="http://schemas.microsoft.com/office/drawing/2014/main" id="{CBD51D50-E4F5-CB91-8A98-1BCC2FF64162}"/>
                </a:ext>
              </a:extLst>
            </p:cNvPr>
            <p:cNvSpPr/>
            <p:nvPr/>
          </p:nvSpPr>
          <p:spPr>
            <a:xfrm>
              <a:off x="7932420" y="3919276"/>
              <a:ext cx="2423160" cy="1600200"/>
            </a:xfrm>
            <a:prstGeom prst="roundRect">
              <a:avLst>
                <a:gd name="adj" fmla="val 2857"/>
              </a:avLst>
            </a:prstGeom>
            <a:solidFill>
              <a:srgbClr val="141B33"/>
            </a:solidFill>
            <a:ln w="15875">
              <a:solidFill>
                <a:srgbClr val="E8B87F"/>
              </a:solidFill>
              <a:prstDash val="solid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45" name="Text 22">
              <a:extLst>
                <a:ext uri="{FF2B5EF4-FFF2-40B4-BE49-F238E27FC236}">
                  <a16:creationId xmlns:a16="http://schemas.microsoft.com/office/drawing/2014/main" id="{D95EF302-E70D-0E73-87C0-4317F5EBD7E4}"/>
                </a:ext>
              </a:extLst>
            </p:cNvPr>
            <p:cNvSpPr txBox="1"/>
            <p:nvPr/>
          </p:nvSpPr>
          <p:spPr>
            <a:xfrm>
              <a:off x="7987284" y="4038148"/>
              <a:ext cx="2313432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400" b="1" dirty="0">
                  <a:solidFill>
                    <a:srgbClr val="E8B87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esperienza.py</a:t>
              </a:r>
              <a:endParaRPr lang="en-US" sz="1400" dirty="0"/>
            </a:p>
          </p:txBody>
        </p:sp>
        <p:sp>
          <p:nvSpPr>
            <p:cNvPr id="46" name="Text 23">
              <a:extLst>
                <a:ext uri="{FF2B5EF4-FFF2-40B4-BE49-F238E27FC236}">
                  <a16:creationId xmlns:a16="http://schemas.microsoft.com/office/drawing/2014/main" id="{CFDD744E-9707-EF20-D454-CDF58B051A26}"/>
                </a:ext>
              </a:extLst>
            </p:cNvPr>
            <p:cNvSpPr txBox="1"/>
            <p:nvPr/>
          </p:nvSpPr>
          <p:spPr>
            <a:xfrm>
              <a:off x="7987284" y="4339900"/>
              <a:ext cx="2313432" cy="10698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05000"/>
                </a:lnSpc>
                <a:buNone/>
              </a:pPr>
              <a:r>
                <a:rPr lang="en-US" sz="950" dirty="0">
                  <a:solidFill>
                    <a:srgbClr val="E8EEF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state machine</a:t>
              </a:r>
              <a:endParaRPr lang="en-US" sz="950" dirty="0"/>
            </a:p>
            <a:p>
              <a:pPr marL="0" indent="0" algn="ctr">
                <a:lnSpc>
                  <a:spcPct val="105000"/>
                </a:lnSpc>
                <a:buNone/>
              </a:pPr>
              <a:r>
                <a:rPr lang="en-US" sz="950" dirty="0">
                  <a:solidFill>
                    <a:srgbClr val="E8EEF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10 states · never blocking</a:t>
              </a:r>
              <a:endParaRPr lang="en-US" sz="950" dirty="0"/>
            </a:p>
          </p:txBody>
        </p:sp>
        <p:sp>
          <p:nvSpPr>
            <p:cNvPr id="47" name="Shape 24">
              <a:extLst>
                <a:ext uri="{FF2B5EF4-FFF2-40B4-BE49-F238E27FC236}">
                  <a16:creationId xmlns:a16="http://schemas.microsoft.com/office/drawing/2014/main" id="{6BC6FCC0-B290-635B-461A-08D7D6F3FD2A}"/>
                </a:ext>
              </a:extLst>
            </p:cNvPr>
            <p:cNvSpPr/>
            <p:nvPr/>
          </p:nvSpPr>
          <p:spPr>
            <a:xfrm>
              <a:off x="7932420" y="5702356"/>
              <a:ext cx="2423160" cy="1371600"/>
            </a:xfrm>
            <a:prstGeom prst="roundRect">
              <a:avLst>
                <a:gd name="adj" fmla="val 3333"/>
              </a:avLst>
            </a:prstGeom>
            <a:solidFill>
              <a:srgbClr val="141B33"/>
            </a:solidFill>
            <a:ln w="15875">
              <a:solidFill>
                <a:srgbClr val="E8B87F"/>
              </a:solidFill>
              <a:prstDash val="solid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48" name="Text 25">
              <a:extLst>
                <a:ext uri="{FF2B5EF4-FFF2-40B4-BE49-F238E27FC236}">
                  <a16:creationId xmlns:a16="http://schemas.microsoft.com/office/drawing/2014/main" id="{EB949782-D684-A96C-221F-9C8A5B5D247B}"/>
                </a:ext>
              </a:extLst>
            </p:cNvPr>
            <p:cNvSpPr txBox="1"/>
            <p:nvPr/>
          </p:nvSpPr>
          <p:spPr>
            <a:xfrm>
              <a:off x="7987284" y="5821228"/>
              <a:ext cx="2313432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b="1" dirty="0">
                  <a:solidFill>
                    <a:srgbClr val="E8B87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testi.py  →  Claude</a:t>
              </a:r>
              <a:endParaRPr lang="en-US" sz="1300" dirty="0"/>
            </a:p>
          </p:txBody>
        </p:sp>
        <p:sp>
          <p:nvSpPr>
            <p:cNvPr id="49" name="Text 26">
              <a:extLst>
                <a:ext uri="{FF2B5EF4-FFF2-40B4-BE49-F238E27FC236}">
                  <a16:creationId xmlns:a16="http://schemas.microsoft.com/office/drawing/2014/main" id="{D0F6EBE2-A811-469B-678E-7F7EB96B885D}"/>
                </a:ext>
              </a:extLst>
            </p:cNvPr>
            <p:cNvSpPr txBox="1"/>
            <p:nvPr/>
          </p:nvSpPr>
          <p:spPr>
            <a:xfrm>
              <a:off x="7987284" y="6209159"/>
              <a:ext cx="2313432" cy="84124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05000"/>
                </a:lnSpc>
                <a:buNone/>
              </a:pPr>
              <a:r>
                <a:rPr lang="en-US" sz="950" dirty="0">
                  <a:solidFill>
                    <a:srgbClr val="E8EEF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structured output</a:t>
              </a:r>
              <a:endParaRPr lang="en-US" sz="950" dirty="0"/>
            </a:p>
            <a:p>
              <a:pPr marL="0" indent="0" algn="ctr">
                <a:lnSpc>
                  <a:spcPct val="105000"/>
                </a:lnSpc>
                <a:buNone/>
              </a:pPr>
              <a:r>
                <a:rPr lang="en-US" sz="950" dirty="0">
                  <a:solidFill>
                    <a:srgbClr val="E8EEF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phrases · mandala · Q1-Q4</a:t>
              </a:r>
              <a:endParaRPr lang="en-US" sz="950" dirty="0"/>
            </a:p>
          </p:txBody>
        </p:sp>
        <p:sp>
          <p:nvSpPr>
            <p:cNvPr id="50" name="Shape 27">
              <a:extLst>
                <a:ext uri="{FF2B5EF4-FFF2-40B4-BE49-F238E27FC236}">
                  <a16:creationId xmlns:a16="http://schemas.microsoft.com/office/drawing/2014/main" id="{B455432F-AE5D-5B26-82A5-EE8E32224A90}"/>
                </a:ext>
              </a:extLst>
            </p:cNvPr>
            <p:cNvSpPr/>
            <p:nvPr/>
          </p:nvSpPr>
          <p:spPr>
            <a:xfrm>
              <a:off x="10858500" y="3919276"/>
              <a:ext cx="1965960" cy="1097280"/>
            </a:xfrm>
            <a:prstGeom prst="roundRect">
              <a:avLst>
                <a:gd name="adj" fmla="val 4167"/>
              </a:avLst>
            </a:prstGeom>
            <a:solidFill>
              <a:srgbClr val="141B33"/>
            </a:solidFill>
            <a:ln w="15875">
              <a:solidFill>
                <a:srgbClr val="C9A0DC"/>
              </a:solidFill>
              <a:prstDash val="solid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51" name="Text 28">
              <a:extLst>
                <a:ext uri="{FF2B5EF4-FFF2-40B4-BE49-F238E27FC236}">
                  <a16:creationId xmlns:a16="http://schemas.microsoft.com/office/drawing/2014/main" id="{24F2B1BB-3403-A16C-002F-17B6FD0E60C9}"/>
                </a:ext>
              </a:extLst>
            </p:cNvPr>
            <p:cNvSpPr txBox="1"/>
            <p:nvPr/>
          </p:nvSpPr>
          <p:spPr>
            <a:xfrm>
              <a:off x="10913364" y="4038148"/>
              <a:ext cx="1856232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C9A0DC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scena.py</a:t>
              </a:r>
              <a:endParaRPr lang="en-US" sz="1200" dirty="0"/>
            </a:p>
          </p:txBody>
        </p:sp>
        <p:sp>
          <p:nvSpPr>
            <p:cNvPr id="52" name="Text 29">
              <a:extLst>
                <a:ext uri="{FF2B5EF4-FFF2-40B4-BE49-F238E27FC236}">
                  <a16:creationId xmlns:a16="http://schemas.microsoft.com/office/drawing/2014/main" id="{8E21AF31-4A11-A14A-8CFC-D74BE4828BAF}"/>
                </a:ext>
              </a:extLst>
            </p:cNvPr>
            <p:cNvSpPr txBox="1"/>
            <p:nvPr/>
          </p:nvSpPr>
          <p:spPr>
            <a:xfrm>
              <a:off x="10913364" y="4339900"/>
              <a:ext cx="1856232" cy="5669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05000"/>
                </a:lnSpc>
                <a:buNone/>
              </a:pPr>
              <a:r>
                <a:rPr lang="en-US" sz="950" dirty="0">
                  <a:solidFill>
                    <a:srgbClr val="E8EEF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/prepare /scene</a:t>
              </a:r>
              <a:endParaRPr lang="en-US" sz="950" dirty="0"/>
            </a:p>
            <a:p>
              <a:pPr marL="0" indent="0" algn="ctr">
                <a:lnSpc>
                  <a:spcPct val="105000"/>
                </a:lnSpc>
                <a:buNone/>
              </a:pPr>
              <a:r>
                <a:rPr lang="en-US" sz="950" dirty="0">
                  <a:solidFill>
                    <a:srgbClr val="E8EEF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/mandala</a:t>
              </a:r>
              <a:endParaRPr lang="en-US" sz="950" dirty="0"/>
            </a:p>
          </p:txBody>
        </p:sp>
        <p:sp>
          <p:nvSpPr>
            <p:cNvPr id="53" name="Shape 30">
              <a:extLst>
                <a:ext uri="{FF2B5EF4-FFF2-40B4-BE49-F238E27FC236}">
                  <a16:creationId xmlns:a16="http://schemas.microsoft.com/office/drawing/2014/main" id="{4D32C2EB-B760-C719-A7FA-779AF06DD721}"/>
                </a:ext>
              </a:extLst>
            </p:cNvPr>
            <p:cNvSpPr/>
            <p:nvPr/>
          </p:nvSpPr>
          <p:spPr>
            <a:xfrm>
              <a:off x="10858500" y="5199436"/>
              <a:ext cx="1965960" cy="1097280"/>
            </a:xfrm>
            <a:prstGeom prst="roundRect">
              <a:avLst>
                <a:gd name="adj" fmla="val 4167"/>
              </a:avLst>
            </a:prstGeom>
            <a:solidFill>
              <a:srgbClr val="141B33"/>
            </a:solidFill>
            <a:ln w="15875">
              <a:solidFill>
                <a:srgbClr val="C9A0DC"/>
              </a:solidFill>
              <a:prstDash val="solid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54" name="Text 31">
              <a:extLst>
                <a:ext uri="{FF2B5EF4-FFF2-40B4-BE49-F238E27FC236}">
                  <a16:creationId xmlns:a16="http://schemas.microsoft.com/office/drawing/2014/main" id="{8CFA4A0E-CEF6-8773-C96B-D77AA6AE3F0C}"/>
                </a:ext>
              </a:extLst>
            </p:cNvPr>
            <p:cNvSpPr txBox="1"/>
            <p:nvPr/>
          </p:nvSpPr>
          <p:spPr>
            <a:xfrm>
              <a:off x="10913364" y="5318308"/>
              <a:ext cx="1856232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C9A0DC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musica.py</a:t>
              </a:r>
              <a:endParaRPr lang="en-US" sz="1200" dirty="0"/>
            </a:p>
          </p:txBody>
        </p:sp>
        <p:sp>
          <p:nvSpPr>
            <p:cNvPr id="55" name="Text 32">
              <a:extLst>
                <a:ext uri="{FF2B5EF4-FFF2-40B4-BE49-F238E27FC236}">
                  <a16:creationId xmlns:a16="http://schemas.microsoft.com/office/drawing/2014/main" id="{C382F9AA-71AE-B125-6F49-739D89E0AF30}"/>
                </a:ext>
              </a:extLst>
            </p:cNvPr>
            <p:cNvSpPr txBox="1"/>
            <p:nvPr/>
          </p:nvSpPr>
          <p:spPr>
            <a:xfrm>
              <a:off x="10913364" y="5620060"/>
              <a:ext cx="1856232" cy="5669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05000"/>
                </a:lnSpc>
                <a:buNone/>
              </a:pPr>
              <a:r>
                <a:rPr lang="en-US" sz="950" dirty="0">
                  <a:solidFill>
                    <a:srgbClr val="E8EEF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pad + track</a:t>
              </a:r>
              <a:endParaRPr lang="en-US" sz="950" dirty="0"/>
            </a:p>
          </p:txBody>
        </p:sp>
        <p:sp>
          <p:nvSpPr>
            <p:cNvPr id="56" name="Shape 33">
              <a:extLst>
                <a:ext uri="{FF2B5EF4-FFF2-40B4-BE49-F238E27FC236}">
                  <a16:creationId xmlns:a16="http://schemas.microsoft.com/office/drawing/2014/main" id="{48CBAC57-1474-6927-9A20-859AB4891DD0}"/>
                </a:ext>
              </a:extLst>
            </p:cNvPr>
            <p:cNvSpPr/>
            <p:nvPr/>
          </p:nvSpPr>
          <p:spPr>
            <a:xfrm>
              <a:off x="10858500" y="6479596"/>
              <a:ext cx="1965960" cy="1097280"/>
            </a:xfrm>
            <a:prstGeom prst="roundRect">
              <a:avLst>
                <a:gd name="adj" fmla="val 4167"/>
              </a:avLst>
            </a:prstGeom>
            <a:solidFill>
              <a:srgbClr val="141B33"/>
            </a:solidFill>
            <a:ln w="15875">
              <a:solidFill>
                <a:srgbClr val="C9A0DC"/>
              </a:solidFill>
              <a:prstDash val="solid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57" name="Text 34">
              <a:extLst>
                <a:ext uri="{FF2B5EF4-FFF2-40B4-BE49-F238E27FC236}">
                  <a16:creationId xmlns:a16="http://schemas.microsoft.com/office/drawing/2014/main" id="{98CD5673-F7FB-09A8-FCC1-16EAC6CE8F6D}"/>
                </a:ext>
              </a:extLst>
            </p:cNvPr>
            <p:cNvSpPr txBox="1"/>
            <p:nvPr/>
          </p:nvSpPr>
          <p:spPr>
            <a:xfrm>
              <a:off x="10913364" y="6598468"/>
              <a:ext cx="1856232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C9A0DC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mandala.py</a:t>
              </a:r>
              <a:endParaRPr lang="en-US" sz="1200" dirty="0"/>
            </a:p>
          </p:txBody>
        </p:sp>
        <p:sp>
          <p:nvSpPr>
            <p:cNvPr id="58" name="Text 35">
              <a:extLst>
                <a:ext uri="{FF2B5EF4-FFF2-40B4-BE49-F238E27FC236}">
                  <a16:creationId xmlns:a16="http://schemas.microsoft.com/office/drawing/2014/main" id="{730AA03E-2212-E3CC-52C1-235033480F78}"/>
                </a:ext>
              </a:extLst>
            </p:cNvPr>
            <p:cNvSpPr txBox="1"/>
            <p:nvPr/>
          </p:nvSpPr>
          <p:spPr>
            <a:xfrm>
              <a:off x="10913364" y="6900220"/>
              <a:ext cx="1856232" cy="5669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05000"/>
                </a:lnSpc>
                <a:buNone/>
              </a:pPr>
              <a:r>
                <a:rPr lang="en-US" sz="950" dirty="0">
                  <a:solidFill>
                    <a:srgbClr val="E8EEF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PNG 2400 px</a:t>
              </a:r>
              <a:endParaRPr lang="en-US" sz="950" dirty="0"/>
            </a:p>
          </p:txBody>
        </p:sp>
        <p:sp>
          <p:nvSpPr>
            <p:cNvPr id="59" name="Shape 36">
              <a:extLst>
                <a:ext uri="{FF2B5EF4-FFF2-40B4-BE49-F238E27FC236}">
                  <a16:creationId xmlns:a16="http://schemas.microsoft.com/office/drawing/2014/main" id="{0B1E0DDB-C727-D7DB-EE65-F1C37DFA8AAA}"/>
                </a:ext>
              </a:extLst>
            </p:cNvPr>
            <p:cNvSpPr/>
            <p:nvPr/>
          </p:nvSpPr>
          <p:spPr>
            <a:xfrm>
              <a:off x="13327380" y="3919276"/>
              <a:ext cx="960120" cy="1097280"/>
            </a:xfrm>
            <a:prstGeom prst="roundRect">
              <a:avLst>
                <a:gd name="adj" fmla="val 4762"/>
              </a:avLst>
            </a:prstGeom>
            <a:solidFill>
              <a:srgbClr val="141B33"/>
            </a:solidFill>
            <a:ln w="15875">
              <a:solidFill>
                <a:srgbClr val="8FD9EC"/>
              </a:solidFill>
              <a:prstDash val="solid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60" name="Text 37">
              <a:extLst>
                <a:ext uri="{FF2B5EF4-FFF2-40B4-BE49-F238E27FC236}">
                  <a16:creationId xmlns:a16="http://schemas.microsoft.com/office/drawing/2014/main" id="{30DDDF0C-FD72-58A5-054D-0317E5D3ED7D}"/>
                </a:ext>
              </a:extLst>
            </p:cNvPr>
            <p:cNvSpPr txBox="1"/>
            <p:nvPr/>
          </p:nvSpPr>
          <p:spPr>
            <a:xfrm>
              <a:off x="13382244" y="4038148"/>
              <a:ext cx="850392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 err="1">
                  <a:solidFill>
                    <a:srgbClr val="8FD9EC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Three.js</a:t>
              </a:r>
              <a:endParaRPr lang="en-US" sz="1100" dirty="0"/>
            </a:p>
          </p:txBody>
        </p:sp>
        <p:sp>
          <p:nvSpPr>
            <p:cNvPr id="61" name="Text 38">
              <a:extLst>
                <a:ext uri="{FF2B5EF4-FFF2-40B4-BE49-F238E27FC236}">
                  <a16:creationId xmlns:a16="http://schemas.microsoft.com/office/drawing/2014/main" id="{EDDFC042-7C11-7388-EDFF-147134DAD8A5}"/>
                </a:ext>
              </a:extLst>
            </p:cNvPr>
            <p:cNvSpPr txBox="1"/>
            <p:nvPr/>
          </p:nvSpPr>
          <p:spPr>
            <a:xfrm>
              <a:off x="13382244" y="4339900"/>
              <a:ext cx="850392" cy="5669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05000"/>
                </a:lnSpc>
                <a:buNone/>
              </a:pPr>
              <a:r>
                <a:rPr lang="en-US" sz="950" dirty="0">
                  <a:solidFill>
                    <a:srgbClr val="E8EEF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13,664</a:t>
              </a:r>
              <a:endParaRPr lang="en-US" sz="950" dirty="0"/>
            </a:p>
            <a:p>
              <a:pPr marL="0" indent="0" algn="ctr">
                <a:lnSpc>
                  <a:spcPct val="105000"/>
                </a:lnSpc>
                <a:buNone/>
              </a:pPr>
              <a:r>
                <a:rPr lang="en-US" sz="950" dirty="0">
                  <a:solidFill>
                    <a:srgbClr val="E8EEF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particles</a:t>
              </a:r>
              <a:endParaRPr lang="en-US" sz="950" dirty="0"/>
            </a:p>
          </p:txBody>
        </p:sp>
        <p:sp>
          <p:nvSpPr>
            <p:cNvPr id="62" name="Shape 39">
              <a:extLst>
                <a:ext uri="{FF2B5EF4-FFF2-40B4-BE49-F238E27FC236}">
                  <a16:creationId xmlns:a16="http://schemas.microsoft.com/office/drawing/2014/main" id="{05281BA7-FC89-3C7F-46B9-FF68FA60EC1C}"/>
                </a:ext>
              </a:extLst>
            </p:cNvPr>
            <p:cNvSpPr/>
            <p:nvPr/>
          </p:nvSpPr>
          <p:spPr>
            <a:xfrm>
              <a:off x="13327380" y="5199436"/>
              <a:ext cx="960120" cy="1097280"/>
            </a:xfrm>
            <a:prstGeom prst="roundRect">
              <a:avLst>
                <a:gd name="adj" fmla="val 4762"/>
              </a:avLst>
            </a:prstGeom>
            <a:solidFill>
              <a:srgbClr val="141B33"/>
            </a:solidFill>
            <a:ln w="15875">
              <a:solidFill>
                <a:srgbClr val="8FD9EC"/>
              </a:solidFill>
              <a:prstDash val="solid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63" name="Text 40">
              <a:extLst>
                <a:ext uri="{FF2B5EF4-FFF2-40B4-BE49-F238E27FC236}">
                  <a16:creationId xmlns:a16="http://schemas.microsoft.com/office/drawing/2014/main" id="{664818F1-3196-DCE0-5C53-99D4CE67F70C}"/>
                </a:ext>
              </a:extLst>
            </p:cNvPr>
            <p:cNvSpPr txBox="1"/>
            <p:nvPr/>
          </p:nvSpPr>
          <p:spPr>
            <a:xfrm>
              <a:off x="13382244" y="5318308"/>
              <a:ext cx="850392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8FD9EC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audio</a:t>
              </a:r>
              <a:endParaRPr lang="en-US" sz="1100" dirty="0"/>
            </a:p>
          </p:txBody>
        </p:sp>
        <p:sp>
          <p:nvSpPr>
            <p:cNvPr id="64" name="Shape 41">
              <a:extLst>
                <a:ext uri="{FF2B5EF4-FFF2-40B4-BE49-F238E27FC236}">
                  <a16:creationId xmlns:a16="http://schemas.microsoft.com/office/drawing/2014/main" id="{354C3470-E274-64FF-DB98-388270B943F0}"/>
                </a:ext>
              </a:extLst>
            </p:cNvPr>
            <p:cNvSpPr/>
            <p:nvPr/>
          </p:nvSpPr>
          <p:spPr>
            <a:xfrm>
              <a:off x="13327380" y="6479596"/>
              <a:ext cx="960120" cy="1097280"/>
            </a:xfrm>
            <a:prstGeom prst="roundRect">
              <a:avLst>
                <a:gd name="adj" fmla="val 4762"/>
              </a:avLst>
            </a:prstGeom>
            <a:solidFill>
              <a:srgbClr val="141B33"/>
            </a:solidFill>
            <a:ln w="15875">
              <a:solidFill>
                <a:srgbClr val="8FD9EC"/>
              </a:solidFill>
              <a:prstDash val="solid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65" name="Text 42">
              <a:extLst>
                <a:ext uri="{FF2B5EF4-FFF2-40B4-BE49-F238E27FC236}">
                  <a16:creationId xmlns:a16="http://schemas.microsoft.com/office/drawing/2014/main" id="{43A27C78-6535-04C8-C47B-9106B0829228}"/>
                </a:ext>
              </a:extLst>
            </p:cNvPr>
            <p:cNvSpPr txBox="1"/>
            <p:nvPr/>
          </p:nvSpPr>
          <p:spPr>
            <a:xfrm>
              <a:off x="13382244" y="6598468"/>
              <a:ext cx="850392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b="1" dirty="0">
                  <a:solidFill>
                    <a:srgbClr val="8FD9EC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image</a:t>
              </a:r>
              <a:endParaRPr lang="en-US" sz="1000" dirty="0"/>
            </a:p>
          </p:txBody>
        </p:sp>
        <p:sp>
          <p:nvSpPr>
            <p:cNvPr id="66" name="Shape 43">
              <a:extLst>
                <a:ext uri="{FF2B5EF4-FFF2-40B4-BE49-F238E27FC236}">
                  <a16:creationId xmlns:a16="http://schemas.microsoft.com/office/drawing/2014/main" id="{2E04FB26-1B4E-03A3-CC62-849930B8DCFD}"/>
                </a:ext>
              </a:extLst>
            </p:cNvPr>
            <p:cNvSpPr/>
            <p:nvPr/>
          </p:nvSpPr>
          <p:spPr>
            <a:xfrm>
              <a:off x="4640580" y="4376476"/>
              <a:ext cx="457200" cy="0"/>
            </a:xfrm>
            <a:prstGeom prst="line">
              <a:avLst/>
            </a:prstGeom>
            <a:noFill/>
            <a:ln w="17780">
              <a:solidFill>
                <a:srgbClr val="8FD9EC"/>
              </a:solidFill>
              <a:prstDash val="solid"/>
              <a:tailEnd type="triangle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67" name="Shape 44">
              <a:extLst>
                <a:ext uri="{FF2B5EF4-FFF2-40B4-BE49-F238E27FC236}">
                  <a16:creationId xmlns:a16="http://schemas.microsoft.com/office/drawing/2014/main" id="{A3BD9256-26EF-7FD7-0B2A-7E206E9CB593}"/>
                </a:ext>
              </a:extLst>
            </p:cNvPr>
            <p:cNvSpPr/>
            <p:nvPr/>
          </p:nvSpPr>
          <p:spPr>
            <a:xfrm>
              <a:off x="4640580" y="6479596"/>
              <a:ext cx="457200" cy="0"/>
            </a:xfrm>
            <a:prstGeom prst="line">
              <a:avLst/>
            </a:prstGeom>
            <a:noFill/>
            <a:ln w="17780">
              <a:solidFill>
                <a:srgbClr val="8FD9EC"/>
              </a:solidFill>
              <a:prstDash val="solid"/>
              <a:tailEnd type="triangle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68" name="Shape 45">
              <a:extLst>
                <a:ext uri="{FF2B5EF4-FFF2-40B4-BE49-F238E27FC236}">
                  <a16:creationId xmlns:a16="http://schemas.microsoft.com/office/drawing/2014/main" id="{481F2936-0881-F321-C5AB-C10CF69A1B8B}"/>
                </a:ext>
              </a:extLst>
            </p:cNvPr>
            <p:cNvSpPr/>
            <p:nvPr/>
          </p:nvSpPr>
          <p:spPr>
            <a:xfrm>
              <a:off x="6259068" y="4833676"/>
              <a:ext cx="0" cy="137160"/>
            </a:xfrm>
            <a:prstGeom prst="line">
              <a:avLst/>
            </a:prstGeom>
            <a:noFill/>
            <a:ln w="17780">
              <a:solidFill>
                <a:srgbClr val="8FD9EC"/>
              </a:solidFill>
              <a:prstDash val="solid"/>
              <a:tailEnd type="triangle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69" name="Shape 46">
              <a:extLst>
                <a:ext uri="{FF2B5EF4-FFF2-40B4-BE49-F238E27FC236}">
                  <a16:creationId xmlns:a16="http://schemas.microsoft.com/office/drawing/2014/main" id="{3222AD2B-7EB7-9A1A-2CD3-1F709886201A}"/>
                </a:ext>
              </a:extLst>
            </p:cNvPr>
            <p:cNvSpPr/>
            <p:nvPr/>
          </p:nvSpPr>
          <p:spPr>
            <a:xfrm>
              <a:off x="7429500" y="4376476"/>
              <a:ext cx="502920" cy="0"/>
            </a:xfrm>
            <a:prstGeom prst="line">
              <a:avLst/>
            </a:prstGeom>
            <a:noFill/>
            <a:ln w="17780">
              <a:solidFill>
                <a:srgbClr val="8FD9EC"/>
              </a:solidFill>
              <a:prstDash val="solid"/>
              <a:tailEnd type="triangle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70" name="Shape 47">
              <a:extLst>
                <a:ext uri="{FF2B5EF4-FFF2-40B4-BE49-F238E27FC236}">
                  <a16:creationId xmlns:a16="http://schemas.microsoft.com/office/drawing/2014/main" id="{02710C05-762D-8B42-6EDA-8B11A5E89EAC}"/>
                </a:ext>
              </a:extLst>
            </p:cNvPr>
            <p:cNvSpPr/>
            <p:nvPr/>
          </p:nvSpPr>
          <p:spPr>
            <a:xfrm>
              <a:off x="7429500" y="5290876"/>
              <a:ext cx="502920" cy="0"/>
            </a:xfrm>
            <a:prstGeom prst="line">
              <a:avLst/>
            </a:prstGeom>
            <a:noFill/>
            <a:ln w="17780">
              <a:solidFill>
                <a:srgbClr val="8FD9EC"/>
              </a:solidFill>
              <a:prstDash val="solid"/>
              <a:tailEnd type="triangle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71" name="Shape 48">
              <a:extLst>
                <a:ext uri="{FF2B5EF4-FFF2-40B4-BE49-F238E27FC236}">
                  <a16:creationId xmlns:a16="http://schemas.microsoft.com/office/drawing/2014/main" id="{C80187D2-A472-6DB6-987B-0433838994B0}"/>
                </a:ext>
              </a:extLst>
            </p:cNvPr>
            <p:cNvSpPr/>
            <p:nvPr/>
          </p:nvSpPr>
          <p:spPr>
            <a:xfrm>
              <a:off x="7429500" y="6479596"/>
              <a:ext cx="502920" cy="0"/>
            </a:xfrm>
            <a:prstGeom prst="line">
              <a:avLst/>
            </a:prstGeom>
            <a:noFill/>
            <a:ln w="17780">
              <a:solidFill>
                <a:srgbClr val="8FD9EC"/>
              </a:solidFill>
              <a:prstDash val="solid"/>
              <a:tailEnd type="triangle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72" name="Shape 49">
              <a:extLst>
                <a:ext uri="{FF2B5EF4-FFF2-40B4-BE49-F238E27FC236}">
                  <a16:creationId xmlns:a16="http://schemas.microsoft.com/office/drawing/2014/main" id="{D2D4AA6A-BEEF-99EF-B831-623C20CBE0C5}"/>
                </a:ext>
              </a:extLst>
            </p:cNvPr>
            <p:cNvSpPr/>
            <p:nvPr/>
          </p:nvSpPr>
          <p:spPr>
            <a:xfrm>
              <a:off x="9139428" y="5519476"/>
              <a:ext cx="0" cy="182880"/>
            </a:xfrm>
            <a:prstGeom prst="line">
              <a:avLst/>
            </a:prstGeom>
            <a:noFill/>
            <a:ln w="17780">
              <a:solidFill>
                <a:srgbClr val="E8B87F"/>
              </a:solidFill>
              <a:prstDash val="solid"/>
              <a:headEnd type="triangle"/>
              <a:tailEnd type="triangle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73" name="Shape 50">
              <a:extLst>
                <a:ext uri="{FF2B5EF4-FFF2-40B4-BE49-F238E27FC236}">
                  <a16:creationId xmlns:a16="http://schemas.microsoft.com/office/drawing/2014/main" id="{7C555A0B-EA7A-5867-6472-F547A54D8BB0}"/>
                </a:ext>
              </a:extLst>
            </p:cNvPr>
            <p:cNvSpPr/>
            <p:nvPr/>
          </p:nvSpPr>
          <p:spPr>
            <a:xfrm>
              <a:off x="10355580" y="4467916"/>
              <a:ext cx="502920" cy="0"/>
            </a:xfrm>
            <a:prstGeom prst="line">
              <a:avLst/>
            </a:prstGeom>
            <a:noFill/>
            <a:ln w="17780">
              <a:solidFill>
                <a:srgbClr val="C9A0DC"/>
              </a:solidFill>
              <a:prstDash val="solid"/>
              <a:tailEnd type="triangle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74" name="Shape 51">
              <a:extLst>
                <a:ext uri="{FF2B5EF4-FFF2-40B4-BE49-F238E27FC236}">
                  <a16:creationId xmlns:a16="http://schemas.microsoft.com/office/drawing/2014/main" id="{B90CC111-6A08-05A8-9069-1C7013B8F622}"/>
                </a:ext>
              </a:extLst>
            </p:cNvPr>
            <p:cNvSpPr/>
            <p:nvPr/>
          </p:nvSpPr>
          <p:spPr>
            <a:xfrm>
              <a:off x="10355580" y="5336596"/>
              <a:ext cx="502920" cy="411480"/>
            </a:xfrm>
            <a:prstGeom prst="line">
              <a:avLst/>
            </a:prstGeom>
            <a:noFill/>
            <a:ln w="17780">
              <a:solidFill>
                <a:srgbClr val="C9A0DC"/>
              </a:solidFill>
              <a:prstDash val="solid"/>
              <a:tailEnd type="triangle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75" name="Shape 52">
              <a:extLst>
                <a:ext uri="{FF2B5EF4-FFF2-40B4-BE49-F238E27FC236}">
                  <a16:creationId xmlns:a16="http://schemas.microsoft.com/office/drawing/2014/main" id="{B031E8C9-FE89-7A02-C01C-53DBA21F4B4F}"/>
                </a:ext>
              </a:extLst>
            </p:cNvPr>
            <p:cNvSpPr/>
            <p:nvPr/>
          </p:nvSpPr>
          <p:spPr>
            <a:xfrm>
              <a:off x="10355580" y="5428036"/>
              <a:ext cx="502920" cy="1600200"/>
            </a:xfrm>
            <a:prstGeom prst="line">
              <a:avLst/>
            </a:prstGeom>
            <a:noFill/>
            <a:ln w="17780">
              <a:solidFill>
                <a:srgbClr val="C9A0DC"/>
              </a:solidFill>
              <a:prstDash val="solid"/>
              <a:tailEnd type="triangle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76" name="Shape 53">
              <a:extLst>
                <a:ext uri="{FF2B5EF4-FFF2-40B4-BE49-F238E27FC236}">
                  <a16:creationId xmlns:a16="http://schemas.microsoft.com/office/drawing/2014/main" id="{D2E665B8-C3E6-EFA3-4D0E-7A0E70B5B0AE}"/>
                </a:ext>
              </a:extLst>
            </p:cNvPr>
            <p:cNvSpPr/>
            <p:nvPr/>
          </p:nvSpPr>
          <p:spPr>
            <a:xfrm>
              <a:off x="12824460" y="4467916"/>
              <a:ext cx="502920" cy="0"/>
            </a:xfrm>
            <a:prstGeom prst="line">
              <a:avLst/>
            </a:prstGeom>
            <a:noFill/>
            <a:ln w="17780">
              <a:solidFill>
                <a:srgbClr val="8FD9EC"/>
              </a:solidFill>
              <a:prstDash val="solid"/>
              <a:tailEnd type="triangle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77" name="Shape 54">
              <a:extLst>
                <a:ext uri="{FF2B5EF4-FFF2-40B4-BE49-F238E27FC236}">
                  <a16:creationId xmlns:a16="http://schemas.microsoft.com/office/drawing/2014/main" id="{197E6F2A-A7CC-DEEE-D687-7D758DD87E6B}"/>
                </a:ext>
              </a:extLst>
            </p:cNvPr>
            <p:cNvSpPr/>
            <p:nvPr/>
          </p:nvSpPr>
          <p:spPr>
            <a:xfrm>
              <a:off x="12824460" y="5748076"/>
              <a:ext cx="502920" cy="0"/>
            </a:xfrm>
            <a:prstGeom prst="line">
              <a:avLst/>
            </a:prstGeom>
            <a:noFill/>
            <a:ln w="17780">
              <a:solidFill>
                <a:srgbClr val="8FD9EC"/>
              </a:solidFill>
              <a:prstDash val="solid"/>
              <a:tailEnd type="triangle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78" name="Shape 55">
              <a:extLst>
                <a:ext uri="{FF2B5EF4-FFF2-40B4-BE49-F238E27FC236}">
                  <a16:creationId xmlns:a16="http://schemas.microsoft.com/office/drawing/2014/main" id="{C0F035EA-519C-88DD-8B83-AC3E36F83BC2}"/>
                </a:ext>
              </a:extLst>
            </p:cNvPr>
            <p:cNvSpPr/>
            <p:nvPr/>
          </p:nvSpPr>
          <p:spPr>
            <a:xfrm>
              <a:off x="12824460" y="7028236"/>
              <a:ext cx="502920" cy="0"/>
            </a:xfrm>
            <a:prstGeom prst="line">
              <a:avLst/>
            </a:prstGeom>
            <a:noFill/>
            <a:ln w="17780">
              <a:solidFill>
                <a:srgbClr val="8FD9EC"/>
              </a:solidFill>
              <a:prstDash val="solid"/>
              <a:tailEnd type="triangle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79" name="Text 56">
              <a:extLst>
                <a:ext uri="{FF2B5EF4-FFF2-40B4-BE49-F238E27FC236}">
                  <a16:creationId xmlns:a16="http://schemas.microsoft.com/office/drawing/2014/main" id="{F4CB3935-205A-59BF-1641-BEE0C47BC590}"/>
                </a:ext>
              </a:extLst>
            </p:cNvPr>
            <p:cNvSpPr txBox="1"/>
            <p:nvPr/>
          </p:nvSpPr>
          <p:spPr>
            <a:xfrm>
              <a:off x="10858499" y="3471220"/>
              <a:ext cx="34290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endParaRPr lang="en-US" sz="900" dirty="0"/>
            </a:p>
          </p:txBody>
        </p:sp>
        <p:sp>
          <p:nvSpPr>
            <p:cNvPr id="80" name="Text 57">
              <a:extLst>
                <a:ext uri="{FF2B5EF4-FFF2-40B4-BE49-F238E27FC236}">
                  <a16:creationId xmlns:a16="http://schemas.microsoft.com/office/drawing/2014/main" id="{B54DEB9F-2339-CC19-67F5-E152BB838EC4}"/>
                </a:ext>
              </a:extLst>
            </p:cNvPr>
            <p:cNvSpPr txBox="1"/>
            <p:nvPr/>
          </p:nvSpPr>
          <p:spPr>
            <a:xfrm>
              <a:off x="8206740" y="5510332"/>
              <a:ext cx="86868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r">
                <a:buNone/>
              </a:pPr>
              <a:r>
                <a:rPr lang="en-US" sz="900" i="1" dirty="0">
                  <a:solidFill>
                    <a:srgbClr val="E8B87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narrative</a:t>
              </a:r>
              <a:endParaRPr lang="en-US" sz="900" dirty="0"/>
            </a:p>
          </p:txBody>
        </p:sp>
        <p:sp>
          <p:nvSpPr>
            <p:cNvPr id="81" name="Text 58">
              <a:extLst>
                <a:ext uri="{FF2B5EF4-FFF2-40B4-BE49-F238E27FC236}">
                  <a16:creationId xmlns:a16="http://schemas.microsoft.com/office/drawing/2014/main" id="{260D0F97-BE26-3A99-1155-330D72A7F438}"/>
                </a:ext>
              </a:extLst>
            </p:cNvPr>
            <p:cNvSpPr txBox="1"/>
            <p:nvPr/>
          </p:nvSpPr>
          <p:spPr>
            <a:xfrm>
              <a:off x="9240012" y="5510332"/>
              <a:ext cx="868680" cy="219456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900" i="1" dirty="0">
                  <a:solidFill>
                    <a:srgbClr val="E8B87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phrases</a:t>
              </a:r>
              <a:endParaRPr lang="en-US" sz="900" dirty="0"/>
            </a:p>
          </p:txBody>
        </p:sp>
        <p:sp>
          <p:nvSpPr>
            <p:cNvPr id="82" name="Text 38">
              <a:extLst>
                <a:ext uri="{FF2B5EF4-FFF2-40B4-BE49-F238E27FC236}">
                  <a16:creationId xmlns:a16="http://schemas.microsoft.com/office/drawing/2014/main" id="{E1BA0E28-5FC8-E1B9-E4C2-D25448A09291}"/>
                </a:ext>
              </a:extLst>
            </p:cNvPr>
            <p:cNvSpPr txBox="1"/>
            <p:nvPr/>
          </p:nvSpPr>
          <p:spPr>
            <a:xfrm>
              <a:off x="13382244" y="6827068"/>
              <a:ext cx="850392" cy="5669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05000"/>
                </a:lnSpc>
                <a:buNone/>
              </a:pPr>
              <a:r>
                <a:rPr lang="en-US" sz="950" dirty="0">
                  <a:solidFill>
                    <a:srgbClr val="E8EEF7"/>
                  </a:solidFill>
                  <a:latin typeface="Calibri" pitchFamily="34" charset="0"/>
                  <a:cs typeface="Calibri" pitchFamily="34" charset="-120"/>
                </a:rPr>
                <a:t>PNG </a:t>
              </a:r>
            </a:p>
            <a:p>
              <a:pPr marL="0" indent="0" algn="ctr">
                <a:lnSpc>
                  <a:spcPct val="105000"/>
                </a:lnSpc>
                <a:buNone/>
              </a:pPr>
              <a:r>
                <a:rPr lang="en-US" sz="950" dirty="0">
                  <a:solidFill>
                    <a:srgbClr val="E8EEF7"/>
                  </a:solidFill>
                  <a:latin typeface="Calibri" pitchFamily="34" charset="0"/>
                  <a:cs typeface="Calibri" pitchFamily="34" charset="-120"/>
                </a:rPr>
                <a:t>2400x2400 </a:t>
              </a:r>
              <a:r>
                <a:rPr lang="en-US" sz="950" dirty="0" err="1">
                  <a:solidFill>
                    <a:srgbClr val="E8EEF7"/>
                  </a:solidFill>
                  <a:latin typeface="Calibri" pitchFamily="34" charset="0"/>
                  <a:cs typeface="Calibri" pitchFamily="34" charset="-120"/>
                </a:rPr>
                <a:t>px</a:t>
              </a:r>
              <a:endParaRPr lang="en-US" sz="950" dirty="0"/>
            </a:p>
          </p:txBody>
        </p:sp>
        <p:sp>
          <p:nvSpPr>
            <p:cNvPr id="83" name="Text 38">
              <a:extLst>
                <a:ext uri="{FF2B5EF4-FFF2-40B4-BE49-F238E27FC236}">
                  <a16:creationId xmlns:a16="http://schemas.microsoft.com/office/drawing/2014/main" id="{E2550FBE-2AD7-598F-8FDA-6229C0EB71A3}"/>
                </a:ext>
              </a:extLst>
            </p:cNvPr>
            <p:cNvSpPr txBox="1"/>
            <p:nvPr/>
          </p:nvSpPr>
          <p:spPr>
            <a:xfrm>
              <a:off x="13382244" y="5559027"/>
              <a:ext cx="850392" cy="56692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05000"/>
                </a:lnSpc>
                <a:buNone/>
              </a:pPr>
              <a:r>
                <a:rPr lang="en-US" sz="950" dirty="0">
                  <a:solidFill>
                    <a:srgbClr val="E8EEF7"/>
                  </a:solidFill>
                  <a:latin typeface="Calibri" pitchFamily="34" charset="0"/>
                  <a:cs typeface="Calibri" pitchFamily="34" charset="-120"/>
                </a:rPr>
                <a:t>44,100 Hz</a:t>
              </a:r>
              <a:endParaRPr lang="en-US" sz="950" dirty="0"/>
            </a:p>
          </p:txBody>
        </p:sp>
        <p:sp>
          <p:nvSpPr>
            <p:cNvPr id="84" name="Text 25">
              <a:extLst>
                <a:ext uri="{FF2B5EF4-FFF2-40B4-BE49-F238E27FC236}">
                  <a16:creationId xmlns:a16="http://schemas.microsoft.com/office/drawing/2014/main" id="{508CD0CB-141B-C4C3-7173-E59D1B4863EC}"/>
                </a:ext>
              </a:extLst>
            </p:cNvPr>
            <p:cNvSpPr txBox="1"/>
            <p:nvPr/>
          </p:nvSpPr>
          <p:spPr>
            <a:xfrm>
              <a:off x="7960069" y="4324442"/>
              <a:ext cx="2313432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300" b="1" dirty="0">
                  <a:solidFill>
                    <a:srgbClr val="E8B87F"/>
                  </a:solidFill>
                  <a:latin typeface="Calibri"/>
                  <a:ea typeface="Calibri"/>
                  <a:cs typeface="Calibri"/>
                </a:rPr>
                <a:t>emozioni.py  →  Claude</a:t>
              </a:r>
              <a:endParaRPr lang="en-US" sz="1300" dirty="0">
                <a:latin typeface="Calibri"/>
                <a:ea typeface="Calibri"/>
                <a:cs typeface="Calibri"/>
              </a:endParaRPr>
            </a:p>
          </p:txBody>
        </p:sp>
      </p:grpSp>
      <p:pic>
        <p:nvPicPr>
          <p:cNvPr id="86" name="Immagine 85">
            <a:extLst>
              <a:ext uri="{FF2B5EF4-FFF2-40B4-BE49-F238E27FC236}">
                <a16:creationId xmlns:a16="http://schemas.microsoft.com/office/drawing/2014/main" id="{3714BABB-A0DD-7C82-3E3C-A0ADEF8882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46127" y="9366735"/>
            <a:ext cx="795337" cy="79533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71525"/>
            <a:ext cx="1986796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52" dirty="0">
                <a:solidFill>
                  <a:srgbClr val="F0A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PERCEPTION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3025378" y="807244"/>
            <a:ext cx="9525" cy="190500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3206353" y="762000"/>
            <a:ext cx="2071680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AA1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Reading the Eyes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828609" y="533400"/>
            <a:ext cx="1924273" cy="414338"/>
          </a:xfrm>
          <a:prstGeom prst="roundRect">
            <a:avLst>
              <a:gd name="adj" fmla="val 50000"/>
            </a:avLst>
          </a:prstGeom>
          <a:solidFill>
            <a:srgbClr val="F0A488">
              <a:alpha val="16000"/>
            </a:srgbClr>
          </a:solidFill>
          <a:ln w="9525">
            <a:solidFill>
              <a:srgbClr val="F0A48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9990534" y="609600"/>
            <a:ext cx="167662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F0A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PERCEPTION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1829083" y="533400"/>
            <a:ext cx="1931491" cy="414338"/>
          </a:xfrm>
          <a:prstGeom prst="roundRect">
            <a:avLst>
              <a:gd name="adj" fmla="val 50000"/>
            </a:avLst>
          </a:prstGeom>
          <a:ln w="9525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11991008" y="609600"/>
            <a:ext cx="1683841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RATIONALITY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3836774" y="533400"/>
            <a:ext cx="1256109" cy="414338"/>
          </a:xfrm>
          <a:prstGeom prst="roundRect">
            <a:avLst>
              <a:gd name="adj" fmla="val 50000"/>
            </a:avLst>
          </a:prstGeom>
          <a:ln w="9525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13998699" y="609600"/>
            <a:ext cx="1008459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5169083" y="533400"/>
            <a:ext cx="2071167" cy="414338"/>
          </a:xfrm>
          <a:prstGeom prst="roundRect">
            <a:avLst>
              <a:gd name="adj" fmla="val 50000"/>
            </a:avLst>
          </a:prstGeom>
          <a:ln w="9525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15331008" y="609600"/>
            <a:ext cx="1823517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PORTING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47750" y="1619250"/>
            <a:ext cx="5859460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5100" b="1" kern="0" spc="-51" dirty="0">
                <a:solidFill>
                  <a:srgbClr val="F5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Eye Opening Ratio</a:t>
            </a:r>
            <a:endParaRPr lang="en-US" sz="5100" dirty="0"/>
          </a:p>
        </p:txBody>
      </p:sp>
      <p:sp>
        <p:nvSpPr>
          <p:cNvPr id="14" name="Shape 12"/>
          <p:cNvSpPr/>
          <p:nvPr/>
        </p:nvSpPr>
        <p:spPr>
          <a:xfrm>
            <a:off x="1047750" y="3143250"/>
            <a:ext cx="7239000" cy="1657350"/>
          </a:xfrm>
          <a:prstGeom prst="roundRect">
            <a:avLst>
              <a:gd name="adj" fmla="val 11494"/>
            </a:avLst>
          </a:prstGeom>
          <a:solidFill>
            <a:srgbClr val="12172A"/>
          </a:solidFill>
          <a:ln w="9525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1514475" y="3752850"/>
            <a:ext cx="1145753" cy="4762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5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ratio =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2850728" y="3962400"/>
            <a:ext cx="1072902" cy="19050"/>
          </a:xfrm>
          <a:prstGeom prst="rect">
            <a:avLst/>
          </a:prstGeom>
          <a:solidFill>
            <a:srgbClr val="F0A48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2945978" y="3533775"/>
            <a:ext cx="989692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F0A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height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3009156" y="4038600"/>
            <a:ext cx="832247" cy="4095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2550" b="1" dirty="0">
                <a:solidFill>
                  <a:srgbClr val="F0A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width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1047750" y="6125636"/>
            <a:ext cx="7456170" cy="12337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2025" dirty="0">
                <a:solidFill>
                  <a:srgbClr val="C8CB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points per eye, out of 478 total. An empirical threshold, measured with </a:t>
            </a:r>
            <a:r>
              <a:rPr lang="en-US" sz="2025" dirty="0">
                <a:solidFill>
                  <a:srgbClr val="7EC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taratura.py </a:t>
            </a:r>
            <a:r>
              <a:rPr lang="en-US" sz="2025" dirty="0">
                <a:solidFill>
                  <a:srgbClr val="C8CB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on our own face and real lighting.</a:t>
            </a:r>
            <a:endParaRPr lang="en-US" sz="2025" dirty="0"/>
          </a:p>
        </p:txBody>
      </p:sp>
      <p:sp>
        <p:nvSpPr>
          <p:cNvPr id="20" name="Text 18"/>
          <p:cNvSpPr/>
          <p:nvPr/>
        </p:nvSpPr>
        <p:spPr>
          <a:xfrm>
            <a:off x="9636848" y="6164033"/>
            <a:ext cx="1383767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7EC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 eyes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6341704" y="6164033"/>
            <a:ext cx="1181844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DFE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 eyes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9636848" y="6616470"/>
            <a:ext cx="7810500" cy="57150"/>
          </a:xfrm>
          <a:prstGeom prst="roundRect">
            <a:avLst>
              <a:gd name="adj" fmla="val 50000"/>
            </a:avLst>
          </a:prstGeom>
          <a:gradFill rotWithShape="1">
            <a:gsLst>
              <a:gs pos="0">
                <a:srgbClr val="7EC9E8">
                  <a:alpha val="100000"/>
                </a:srgbClr>
              </a:gs>
              <a:gs pos="45000">
                <a:srgbClr val="2A3350">
                  <a:alpha val="100000"/>
                </a:srgbClr>
              </a:gs>
              <a:gs pos="45000">
                <a:srgbClr val="2A3350">
                  <a:alpha val="100000"/>
                </a:srgbClr>
              </a:gs>
              <a:gs pos="100000">
                <a:srgbClr val="DFE2EA">
                  <a:alpha val="100000"/>
                </a:srgbClr>
              </a:gs>
            </a:gsLst>
            <a:lin ang="0" scaled="0"/>
          </a:gradFill>
          <a:ln/>
        </p:spPr>
        <p:txBody>
          <a:bodyPr/>
          <a:lstStyle/>
          <a:p>
            <a:endParaRPr lang="it-IT"/>
          </a:p>
        </p:txBody>
      </p:sp>
      <p:sp>
        <p:nvSpPr>
          <p:cNvPr id="23" name="Shape 21"/>
          <p:cNvSpPr/>
          <p:nvPr/>
        </p:nvSpPr>
        <p:spPr>
          <a:xfrm>
            <a:off x="11921360" y="6483121"/>
            <a:ext cx="19050" cy="323850"/>
          </a:xfrm>
          <a:prstGeom prst="rect">
            <a:avLst/>
          </a:prstGeom>
          <a:solidFill>
            <a:srgbClr val="F0A48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4" name="Shape 22"/>
          <p:cNvSpPr/>
          <p:nvPr/>
        </p:nvSpPr>
        <p:spPr>
          <a:xfrm>
            <a:off x="13151573" y="6483121"/>
            <a:ext cx="19050" cy="323850"/>
          </a:xfrm>
          <a:prstGeom prst="rect">
            <a:avLst/>
          </a:prstGeom>
          <a:solidFill>
            <a:srgbClr val="DFE2EA">
              <a:alpha val="50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5" name="Text 23"/>
          <p:cNvSpPr/>
          <p:nvPr/>
        </p:nvSpPr>
        <p:spPr>
          <a:xfrm>
            <a:off x="9636848" y="6730770"/>
            <a:ext cx="563091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589473" y="6730770"/>
            <a:ext cx="497904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0.10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3542098" y="6730770"/>
            <a:ext cx="56413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0.20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15494723" y="6730770"/>
            <a:ext cx="55974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0.30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16951155" y="6730770"/>
            <a:ext cx="57239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0.40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9636848" y="7359421"/>
            <a:ext cx="1563067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0A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0.117 </a:t>
            </a:r>
            <a:r>
              <a:rPr lang="en-US" sz="1800" dirty="0">
                <a:solidFill>
                  <a:srgbClr val="7D8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blink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1504715" y="7359421"/>
            <a:ext cx="1726034" cy="3905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DFE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0.18 </a:t>
            </a:r>
            <a:r>
              <a:rPr lang="en-US" sz="1800" dirty="0">
                <a:solidFill>
                  <a:srgbClr val="7D8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threshold</a:t>
            </a:r>
            <a:endParaRPr lang="en-US" sz="1200" dirty="0"/>
          </a:p>
        </p:txBody>
      </p:sp>
      <p:grpSp>
        <p:nvGrpSpPr>
          <p:cNvPr id="45" name="Gruppo 44">
            <a:extLst>
              <a:ext uri="{FF2B5EF4-FFF2-40B4-BE49-F238E27FC236}">
                <a16:creationId xmlns:a16="http://schemas.microsoft.com/office/drawing/2014/main" id="{475439ED-AFC8-9667-DE62-AC7AFDC30483}"/>
              </a:ext>
            </a:extLst>
          </p:cNvPr>
          <p:cNvGrpSpPr/>
          <p:nvPr/>
        </p:nvGrpSpPr>
        <p:grpSpPr>
          <a:xfrm>
            <a:off x="11180118" y="2456357"/>
            <a:ext cx="4933249" cy="2592985"/>
            <a:chOff x="6781013" y="6812353"/>
            <a:chExt cx="4032504" cy="2029968"/>
          </a:xfrm>
        </p:grpSpPr>
        <p:sp>
          <p:nvSpPr>
            <p:cNvPr id="32" name="Shape 2">
              <a:extLst>
                <a:ext uri="{FF2B5EF4-FFF2-40B4-BE49-F238E27FC236}">
                  <a16:creationId xmlns:a16="http://schemas.microsoft.com/office/drawing/2014/main" id="{52C57476-D08E-A0FA-73DC-410C87D60754}"/>
                </a:ext>
              </a:extLst>
            </p:cNvPr>
            <p:cNvSpPr/>
            <p:nvPr/>
          </p:nvSpPr>
          <p:spPr>
            <a:xfrm>
              <a:off x="6831305" y="7123249"/>
              <a:ext cx="3931920" cy="1417320"/>
            </a:xfrm>
            <a:prstGeom prst="ellipse">
              <a:avLst/>
            </a:prstGeom>
            <a:solidFill>
              <a:srgbClr val="0B1026"/>
            </a:solidFill>
            <a:ln w="25400">
              <a:solidFill>
                <a:srgbClr val="8FD9EC"/>
              </a:solidFill>
              <a:prstDash val="solid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33" name="Shape 3">
              <a:extLst>
                <a:ext uri="{FF2B5EF4-FFF2-40B4-BE49-F238E27FC236}">
                  <a16:creationId xmlns:a16="http://schemas.microsoft.com/office/drawing/2014/main" id="{4D9BF2F1-40BF-A88F-48E9-D3ACDD15042E}"/>
                </a:ext>
              </a:extLst>
            </p:cNvPr>
            <p:cNvSpPr/>
            <p:nvPr/>
          </p:nvSpPr>
          <p:spPr>
            <a:xfrm>
              <a:off x="6831305" y="7831909"/>
              <a:ext cx="3931920" cy="0"/>
            </a:xfrm>
            <a:prstGeom prst="line">
              <a:avLst/>
            </a:prstGeom>
            <a:noFill/>
            <a:ln w="25400">
              <a:solidFill>
                <a:srgbClr val="E8B87F"/>
              </a:solidFill>
              <a:prstDash val="solid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34" name="Shape 4">
              <a:extLst>
                <a:ext uri="{FF2B5EF4-FFF2-40B4-BE49-F238E27FC236}">
                  <a16:creationId xmlns:a16="http://schemas.microsoft.com/office/drawing/2014/main" id="{D898852B-056C-EBEB-43FC-281C700401D0}"/>
                </a:ext>
              </a:extLst>
            </p:cNvPr>
            <p:cNvSpPr/>
            <p:nvPr/>
          </p:nvSpPr>
          <p:spPr>
            <a:xfrm>
              <a:off x="8010881" y="7223833"/>
              <a:ext cx="0" cy="1261872"/>
            </a:xfrm>
            <a:prstGeom prst="line">
              <a:avLst/>
            </a:prstGeom>
            <a:noFill/>
            <a:ln w="25400">
              <a:solidFill>
                <a:srgbClr val="E8887F"/>
              </a:solidFill>
              <a:prstDash val="solid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35" name="Shape 5">
              <a:extLst>
                <a:ext uri="{FF2B5EF4-FFF2-40B4-BE49-F238E27FC236}">
                  <a16:creationId xmlns:a16="http://schemas.microsoft.com/office/drawing/2014/main" id="{C9C74B94-DA74-3E6F-C2D2-A5629268D706}"/>
                </a:ext>
              </a:extLst>
            </p:cNvPr>
            <p:cNvSpPr/>
            <p:nvPr/>
          </p:nvSpPr>
          <p:spPr>
            <a:xfrm flipH="1">
              <a:off x="9569361" y="7223833"/>
              <a:ext cx="0" cy="1261872"/>
            </a:xfrm>
            <a:prstGeom prst="line">
              <a:avLst/>
            </a:prstGeom>
            <a:noFill/>
            <a:ln w="25400">
              <a:solidFill>
                <a:srgbClr val="E8887F"/>
              </a:solidFill>
              <a:prstDash val="solid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36" name="Shape 6">
              <a:extLst>
                <a:ext uri="{FF2B5EF4-FFF2-40B4-BE49-F238E27FC236}">
                  <a16:creationId xmlns:a16="http://schemas.microsoft.com/office/drawing/2014/main" id="{B1C5541E-EB07-3C50-329E-8C34D0DD398C}"/>
                </a:ext>
              </a:extLst>
            </p:cNvPr>
            <p:cNvSpPr/>
            <p:nvPr/>
          </p:nvSpPr>
          <p:spPr>
            <a:xfrm>
              <a:off x="6781013" y="7781617"/>
              <a:ext cx="100584" cy="100584"/>
            </a:xfrm>
            <a:prstGeom prst="ellipse">
              <a:avLst/>
            </a:prstGeom>
            <a:solidFill>
              <a:srgbClr val="E8EEF7"/>
            </a:solidFill>
            <a:ln/>
          </p:spPr>
          <p:txBody>
            <a:bodyPr/>
            <a:lstStyle/>
            <a:p>
              <a:endParaRPr lang="en-IT"/>
            </a:p>
          </p:txBody>
        </p:sp>
        <p:sp>
          <p:nvSpPr>
            <p:cNvPr id="37" name="Shape 7">
              <a:extLst>
                <a:ext uri="{FF2B5EF4-FFF2-40B4-BE49-F238E27FC236}">
                  <a16:creationId xmlns:a16="http://schemas.microsoft.com/office/drawing/2014/main" id="{F72044CD-D804-F1D9-0B6E-64C2B649201B}"/>
                </a:ext>
              </a:extLst>
            </p:cNvPr>
            <p:cNvSpPr/>
            <p:nvPr/>
          </p:nvSpPr>
          <p:spPr>
            <a:xfrm>
              <a:off x="10712933" y="7781617"/>
              <a:ext cx="100584" cy="100584"/>
            </a:xfrm>
            <a:prstGeom prst="ellipse">
              <a:avLst/>
            </a:prstGeom>
            <a:solidFill>
              <a:srgbClr val="E8EEF7"/>
            </a:solidFill>
            <a:ln/>
          </p:spPr>
          <p:txBody>
            <a:bodyPr/>
            <a:lstStyle/>
            <a:p>
              <a:endParaRPr lang="en-IT"/>
            </a:p>
          </p:txBody>
        </p:sp>
        <p:sp>
          <p:nvSpPr>
            <p:cNvPr id="38" name="Shape 8">
              <a:extLst>
                <a:ext uri="{FF2B5EF4-FFF2-40B4-BE49-F238E27FC236}">
                  <a16:creationId xmlns:a16="http://schemas.microsoft.com/office/drawing/2014/main" id="{49347F8D-9CB3-DA8D-60BB-8EF31CFDDE56}"/>
                </a:ext>
              </a:extLst>
            </p:cNvPr>
            <p:cNvSpPr/>
            <p:nvPr/>
          </p:nvSpPr>
          <p:spPr>
            <a:xfrm>
              <a:off x="7960589" y="7151143"/>
              <a:ext cx="100584" cy="100584"/>
            </a:xfrm>
            <a:prstGeom prst="ellipse">
              <a:avLst/>
            </a:prstGeom>
            <a:solidFill>
              <a:srgbClr val="E8EEF7"/>
            </a:solidFill>
            <a:ln/>
          </p:spPr>
          <p:txBody>
            <a:bodyPr/>
            <a:lstStyle/>
            <a:p>
              <a:endParaRPr lang="en-IT"/>
            </a:p>
          </p:txBody>
        </p:sp>
        <p:sp>
          <p:nvSpPr>
            <p:cNvPr id="39" name="Shape 9">
              <a:extLst>
                <a:ext uri="{FF2B5EF4-FFF2-40B4-BE49-F238E27FC236}">
                  <a16:creationId xmlns:a16="http://schemas.microsoft.com/office/drawing/2014/main" id="{AE62AA96-0697-E281-009D-F96FC17F0C80}"/>
                </a:ext>
              </a:extLst>
            </p:cNvPr>
            <p:cNvSpPr/>
            <p:nvPr/>
          </p:nvSpPr>
          <p:spPr>
            <a:xfrm>
              <a:off x="7960589" y="8430749"/>
              <a:ext cx="100584" cy="100584"/>
            </a:xfrm>
            <a:prstGeom prst="ellipse">
              <a:avLst/>
            </a:prstGeom>
            <a:solidFill>
              <a:srgbClr val="E8EEF7"/>
            </a:solidFill>
            <a:ln/>
          </p:spPr>
          <p:txBody>
            <a:bodyPr/>
            <a:lstStyle/>
            <a:p>
              <a:endParaRPr lang="en-IT"/>
            </a:p>
          </p:txBody>
        </p:sp>
        <p:sp>
          <p:nvSpPr>
            <p:cNvPr id="40" name="Shape 10">
              <a:extLst>
                <a:ext uri="{FF2B5EF4-FFF2-40B4-BE49-F238E27FC236}">
                  <a16:creationId xmlns:a16="http://schemas.microsoft.com/office/drawing/2014/main" id="{69981F41-141F-296F-40E8-1940A7010361}"/>
                </a:ext>
              </a:extLst>
            </p:cNvPr>
            <p:cNvSpPr/>
            <p:nvPr/>
          </p:nvSpPr>
          <p:spPr>
            <a:xfrm>
              <a:off x="9524026" y="7141813"/>
              <a:ext cx="100584" cy="100584"/>
            </a:xfrm>
            <a:prstGeom prst="ellipse">
              <a:avLst/>
            </a:prstGeom>
            <a:solidFill>
              <a:srgbClr val="E8EEF7"/>
            </a:solidFill>
            <a:ln/>
          </p:spPr>
          <p:txBody>
            <a:bodyPr/>
            <a:lstStyle/>
            <a:p>
              <a:endParaRPr lang="en-IT"/>
            </a:p>
          </p:txBody>
        </p:sp>
        <p:sp>
          <p:nvSpPr>
            <p:cNvPr id="41" name="Shape 11">
              <a:extLst>
                <a:ext uri="{FF2B5EF4-FFF2-40B4-BE49-F238E27FC236}">
                  <a16:creationId xmlns:a16="http://schemas.microsoft.com/office/drawing/2014/main" id="{3E854BD3-0D0A-23C3-E17C-3E48A0E30829}"/>
                </a:ext>
              </a:extLst>
            </p:cNvPr>
            <p:cNvSpPr/>
            <p:nvPr/>
          </p:nvSpPr>
          <p:spPr>
            <a:xfrm>
              <a:off x="9524026" y="8430751"/>
              <a:ext cx="100584" cy="100584"/>
            </a:xfrm>
            <a:prstGeom prst="ellipse">
              <a:avLst/>
            </a:prstGeom>
            <a:solidFill>
              <a:srgbClr val="E8EEF7"/>
            </a:solidFill>
            <a:ln/>
          </p:spPr>
          <p:txBody>
            <a:bodyPr/>
            <a:lstStyle/>
            <a:p>
              <a:endParaRPr lang="en-IT"/>
            </a:p>
          </p:txBody>
        </p:sp>
        <p:sp>
          <p:nvSpPr>
            <p:cNvPr id="42" name="Text 12">
              <a:extLst>
                <a:ext uri="{FF2B5EF4-FFF2-40B4-BE49-F238E27FC236}">
                  <a16:creationId xmlns:a16="http://schemas.microsoft.com/office/drawing/2014/main" id="{81C09991-407E-9AEF-C301-442CB4A85B7B}"/>
                </a:ext>
              </a:extLst>
            </p:cNvPr>
            <p:cNvSpPr txBox="1"/>
            <p:nvPr/>
          </p:nvSpPr>
          <p:spPr>
            <a:xfrm>
              <a:off x="6831305" y="8586289"/>
              <a:ext cx="393192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E8B87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width</a:t>
              </a:r>
              <a:endParaRPr lang="en-US" sz="1100" dirty="0"/>
            </a:p>
          </p:txBody>
        </p:sp>
        <p:sp>
          <p:nvSpPr>
            <p:cNvPr id="43" name="Text 13">
              <a:extLst>
                <a:ext uri="{FF2B5EF4-FFF2-40B4-BE49-F238E27FC236}">
                  <a16:creationId xmlns:a16="http://schemas.microsoft.com/office/drawing/2014/main" id="{1B37E560-01D9-72AB-D6BC-3697A0D18A27}"/>
                </a:ext>
              </a:extLst>
            </p:cNvPr>
            <p:cNvSpPr txBox="1"/>
            <p:nvPr/>
          </p:nvSpPr>
          <p:spPr>
            <a:xfrm>
              <a:off x="9035009" y="6812353"/>
              <a:ext cx="109728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E8887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height</a:t>
              </a:r>
              <a:endParaRPr lang="en-US" sz="1100" dirty="0"/>
            </a:p>
          </p:txBody>
        </p:sp>
      </p:grpSp>
      <p:pic>
        <p:nvPicPr>
          <p:cNvPr id="46" name="Immagine 45">
            <a:extLst>
              <a:ext uri="{FF2B5EF4-FFF2-40B4-BE49-F238E27FC236}">
                <a16:creationId xmlns:a16="http://schemas.microsoft.com/office/drawing/2014/main" id="{A9BD802F-631E-69B6-13F1-943FEBD7694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46127" y="9366735"/>
            <a:ext cx="795337" cy="79533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71525"/>
            <a:ext cx="1986796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52" dirty="0">
                <a:solidFill>
                  <a:srgbClr val="F0A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PERCEPTION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3025378" y="807244"/>
            <a:ext cx="9525" cy="190500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3206353" y="762000"/>
            <a:ext cx="2140684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AA1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 and Emotion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828609" y="533400"/>
            <a:ext cx="1924273" cy="414338"/>
          </a:xfrm>
          <a:prstGeom prst="roundRect">
            <a:avLst>
              <a:gd name="adj" fmla="val 50000"/>
            </a:avLst>
          </a:prstGeom>
          <a:solidFill>
            <a:srgbClr val="F0A488">
              <a:alpha val="16000"/>
            </a:srgbClr>
          </a:solidFill>
          <a:ln w="9525">
            <a:solidFill>
              <a:srgbClr val="F0A48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9990534" y="609600"/>
            <a:ext cx="167662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F0A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PERCEPTION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1829083" y="533400"/>
            <a:ext cx="1931491" cy="414338"/>
          </a:xfrm>
          <a:prstGeom prst="roundRect">
            <a:avLst>
              <a:gd name="adj" fmla="val 50000"/>
            </a:avLst>
          </a:prstGeom>
          <a:ln w="9525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11991008" y="609600"/>
            <a:ext cx="1683841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RATIONALITY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3836774" y="533400"/>
            <a:ext cx="1256109" cy="414338"/>
          </a:xfrm>
          <a:prstGeom prst="roundRect">
            <a:avLst>
              <a:gd name="adj" fmla="val 50000"/>
            </a:avLst>
          </a:prstGeom>
          <a:ln w="9525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13998699" y="609600"/>
            <a:ext cx="1008459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5169083" y="533400"/>
            <a:ext cx="2071167" cy="414338"/>
          </a:xfrm>
          <a:prstGeom prst="roundRect">
            <a:avLst>
              <a:gd name="adj" fmla="val 50000"/>
            </a:avLst>
          </a:prstGeom>
          <a:ln w="9525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15331008" y="609600"/>
            <a:ext cx="1823517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PORTING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47750" y="1619250"/>
            <a:ext cx="10129778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5100" b="1" kern="0" spc="-51" dirty="0">
                <a:solidFill>
                  <a:srgbClr val="F5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Readings of the Same Face</a:t>
            </a:r>
            <a:endParaRPr lang="en-US" sz="5100" dirty="0"/>
          </a:p>
        </p:txBody>
      </p:sp>
      <p:sp>
        <p:nvSpPr>
          <p:cNvPr id="14" name="Shape 12"/>
          <p:cNvSpPr/>
          <p:nvPr/>
        </p:nvSpPr>
        <p:spPr>
          <a:xfrm>
            <a:off x="1047750" y="3048000"/>
            <a:ext cx="7962900" cy="2839640"/>
          </a:xfrm>
          <a:prstGeom prst="roundRect">
            <a:avLst>
              <a:gd name="adj" fmla="val 3279"/>
            </a:avLst>
          </a:prstGeom>
          <a:solidFill>
            <a:srgbClr val="12172A"/>
          </a:solidFill>
          <a:ln w="9525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1476375" y="3438525"/>
            <a:ext cx="781621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72" dirty="0">
                <a:solidFill>
                  <a:srgbClr val="F0A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Russell Emotional Face Algorithm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476375" y="3871913"/>
            <a:ext cx="7318820" cy="163234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2025" dirty="0">
                <a:solidFill>
                  <a:srgbClr val="C8CB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478 landmarks from MediaPipe compute, every second, heuristic weights on smile, duchenne and frown — enough to identify a known, visible emotion: a smile for happiness, a sulk for sadness.</a:t>
            </a:r>
            <a:endParaRPr lang="en-US" sz="2025" dirty="0"/>
          </a:p>
        </p:txBody>
      </p:sp>
      <p:sp>
        <p:nvSpPr>
          <p:cNvPr id="17" name="Shape 15"/>
          <p:cNvSpPr/>
          <p:nvPr/>
        </p:nvSpPr>
        <p:spPr>
          <a:xfrm>
            <a:off x="9277350" y="3048000"/>
            <a:ext cx="7962900" cy="2839640"/>
          </a:xfrm>
          <a:prstGeom prst="roundRect">
            <a:avLst>
              <a:gd name="adj" fmla="val 3279"/>
            </a:avLst>
          </a:prstGeom>
          <a:solidFill>
            <a:srgbClr val="171D33"/>
          </a:solidFill>
          <a:ln w="9525">
            <a:solidFill>
              <a:srgbClr val="7EC9E8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9705975" y="3438525"/>
            <a:ext cx="781621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72" dirty="0">
                <a:solidFill>
                  <a:srgbClr val="7EC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Claude, in Context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705975" y="3871913"/>
            <a:ext cx="7318820" cy="123378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2025" dirty="0">
                <a:solidFill>
                  <a:srgbClr val="C8CB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Claude call also factors in valence, arousal, smile arch, duchenne and frown for richer context — able to recognize humor, lies and shyness.</a:t>
            </a:r>
            <a:endParaRPr lang="en-US" sz="2025" dirty="0"/>
          </a:p>
        </p:txBody>
      </p:sp>
      <p:sp>
        <p:nvSpPr>
          <p:cNvPr id="20" name="Text 18"/>
          <p:cNvSpPr/>
          <p:nvPr/>
        </p:nvSpPr>
        <p:spPr>
          <a:xfrm>
            <a:off x="1047750" y="8991600"/>
            <a:ext cx="16678275" cy="7239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909"/>
              </a:lnSpc>
              <a:buNone/>
            </a:pPr>
            <a:r>
              <a:rPr lang="en-US" sz="1800" dirty="0">
                <a:solidFill>
                  <a:srgbClr val="7D8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existing face-recognition model would have meant a long computation time. Since our features rely on the same landmarks, we kept this lighter approach.</a:t>
            </a:r>
            <a:endParaRPr lang="en-US" sz="1800" dirty="0"/>
          </a:p>
        </p:txBody>
      </p:sp>
      <p:pic>
        <p:nvPicPr>
          <p:cNvPr id="21" name="Picture 35">
            <a:extLst>
              <a:ext uri="{FF2B5EF4-FFF2-40B4-BE49-F238E27FC236}">
                <a16:creationId xmlns:a16="http://schemas.microsoft.com/office/drawing/2014/main" id="{CD1D65E5-08BF-28AF-4EF0-2D20BD51C76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746" b="3496"/>
          <a:stretch>
            <a:fillRect/>
          </a:stretch>
        </p:blipFill>
        <p:spPr>
          <a:xfrm>
            <a:off x="4280697" y="6334125"/>
            <a:ext cx="2539626" cy="2333625"/>
          </a:xfrm>
          <a:prstGeom prst="rect">
            <a:avLst/>
          </a:prstGeom>
          <a:ln>
            <a:solidFill>
              <a:schemeClr val="accent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  <a:softEdge rad="317500"/>
          </a:effectLst>
        </p:spPr>
      </p:pic>
      <p:pic>
        <p:nvPicPr>
          <p:cNvPr id="22" name="Picture 36">
            <a:extLst>
              <a:ext uri="{FF2B5EF4-FFF2-40B4-BE49-F238E27FC236}">
                <a16:creationId xmlns:a16="http://schemas.microsoft.com/office/drawing/2014/main" id="{F3376466-46D8-A7BD-3A04-04604FA757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752882" y="6842523"/>
            <a:ext cx="1351644" cy="1328966"/>
          </a:xfrm>
          <a:prstGeom prst="rect">
            <a:avLst/>
          </a:prstGeom>
        </p:spPr>
      </p:pic>
      <p:pic>
        <p:nvPicPr>
          <p:cNvPr id="23" name="Picture 34">
            <a:extLst>
              <a:ext uri="{FF2B5EF4-FFF2-40B4-BE49-F238E27FC236}">
                <a16:creationId xmlns:a16="http://schemas.microsoft.com/office/drawing/2014/main" id="{1BA7C9C2-C3BC-E0D3-5144-81F14946DC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312898" y="6985906"/>
            <a:ext cx="1047751" cy="1030061"/>
          </a:xfrm>
          <a:prstGeom prst="rect">
            <a:avLst/>
          </a:prstGeom>
        </p:spPr>
      </p:pic>
      <p:sp>
        <p:nvSpPr>
          <p:cNvPr id="25" name="Shape 46">
            <a:extLst>
              <a:ext uri="{FF2B5EF4-FFF2-40B4-BE49-F238E27FC236}">
                <a16:creationId xmlns:a16="http://schemas.microsoft.com/office/drawing/2014/main" id="{767F4163-433A-6363-EC4B-3B6794014308}"/>
              </a:ext>
            </a:extLst>
          </p:cNvPr>
          <p:cNvSpPr/>
          <p:nvPr/>
        </p:nvSpPr>
        <p:spPr>
          <a:xfrm flipV="1">
            <a:off x="7094316" y="7553739"/>
            <a:ext cx="4083212" cy="12081"/>
          </a:xfrm>
          <a:prstGeom prst="line">
            <a:avLst/>
          </a:prstGeom>
          <a:noFill/>
          <a:ln w="17780">
            <a:solidFill>
              <a:srgbClr val="8FD9EC"/>
            </a:solidFill>
            <a:prstDash val="solid"/>
            <a:tailEnd type="triangle"/>
          </a:ln>
        </p:spPr>
        <p:txBody>
          <a:bodyPr/>
          <a:lstStyle/>
          <a:p>
            <a:endParaRPr lang="en-IT"/>
          </a:p>
        </p:txBody>
      </p:sp>
      <p:pic>
        <p:nvPicPr>
          <p:cNvPr id="26" name="Immagine 25">
            <a:extLst>
              <a:ext uri="{FF2B5EF4-FFF2-40B4-BE49-F238E27FC236}">
                <a16:creationId xmlns:a16="http://schemas.microsoft.com/office/drawing/2014/main" id="{265623EB-5E92-A3C0-F535-553FB92A67B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346127" y="9366735"/>
            <a:ext cx="795337" cy="79533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71525"/>
            <a:ext cx="1986796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52" dirty="0">
                <a:solidFill>
                  <a:srgbClr val="F0A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PERCEPTION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3025378" y="807244"/>
            <a:ext cx="9525" cy="190500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3206353" y="762000"/>
            <a:ext cx="2204204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AA1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and Gesture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828609" y="533400"/>
            <a:ext cx="1924273" cy="414338"/>
          </a:xfrm>
          <a:prstGeom prst="roundRect">
            <a:avLst>
              <a:gd name="adj" fmla="val 50000"/>
            </a:avLst>
          </a:prstGeom>
          <a:solidFill>
            <a:srgbClr val="F0A488">
              <a:alpha val="16000"/>
            </a:srgbClr>
          </a:solidFill>
          <a:ln w="9525">
            <a:solidFill>
              <a:srgbClr val="F0A48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9990534" y="609600"/>
            <a:ext cx="167662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F0A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PERCEPTION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1829083" y="533400"/>
            <a:ext cx="1931491" cy="414338"/>
          </a:xfrm>
          <a:prstGeom prst="roundRect">
            <a:avLst>
              <a:gd name="adj" fmla="val 50000"/>
            </a:avLst>
          </a:prstGeom>
          <a:ln w="9525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11991008" y="609600"/>
            <a:ext cx="1683841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RATIONALITY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3836774" y="533400"/>
            <a:ext cx="1256109" cy="414338"/>
          </a:xfrm>
          <a:prstGeom prst="roundRect">
            <a:avLst>
              <a:gd name="adj" fmla="val 50000"/>
            </a:avLst>
          </a:prstGeom>
          <a:ln w="9525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13998699" y="609600"/>
            <a:ext cx="1008459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5169083" y="533400"/>
            <a:ext cx="2071167" cy="414338"/>
          </a:xfrm>
          <a:prstGeom prst="roundRect">
            <a:avLst>
              <a:gd name="adj" fmla="val 50000"/>
            </a:avLst>
          </a:prstGeom>
          <a:ln w="9525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15331008" y="609600"/>
            <a:ext cx="1823517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PORTING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47750" y="1619250"/>
            <a:ext cx="5740770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5100" b="1" kern="0" spc="-51" dirty="0">
                <a:solidFill>
                  <a:srgbClr val="F5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and Gesture</a:t>
            </a:r>
            <a:endParaRPr lang="en-US" sz="5100" dirty="0"/>
          </a:p>
        </p:txBody>
      </p:sp>
      <p:sp>
        <p:nvSpPr>
          <p:cNvPr id="14" name="Shape 12"/>
          <p:cNvSpPr/>
          <p:nvPr/>
        </p:nvSpPr>
        <p:spPr>
          <a:xfrm>
            <a:off x="1047825" y="4373217"/>
            <a:ext cx="5232350" cy="2835965"/>
          </a:xfrm>
          <a:prstGeom prst="roundRect">
            <a:avLst>
              <a:gd name="adj" fmla="val 3641"/>
            </a:avLst>
          </a:prstGeom>
          <a:solidFill>
            <a:srgbClr val="12172A"/>
          </a:solidFill>
          <a:ln w="9525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1419300" y="4725642"/>
            <a:ext cx="493834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0A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Microphone &amp; Whisper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419300" y="5139980"/>
            <a:ext cx="4624082" cy="1824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9310"/>
              </a:lnSpc>
              <a:buNone/>
            </a:pPr>
            <a:r>
              <a:rPr lang="en-US" sz="1875" dirty="0">
                <a:solidFill>
                  <a:srgbClr val="C8CB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locally — small model, int8, on CPU. Recording starts when the eyes close and ends when they reopen. Audio never leaves the computer; only the transcription does.</a:t>
            </a:r>
            <a:endParaRPr lang="en-US" sz="1875" dirty="0"/>
          </a:p>
        </p:txBody>
      </p:sp>
      <p:sp>
        <p:nvSpPr>
          <p:cNvPr id="17" name="Shape 15"/>
          <p:cNvSpPr/>
          <p:nvPr/>
        </p:nvSpPr>
        <p:spPr>
          <a:xfrm>
            <a:off x="6527825" y="4373217"/>
            <a:ext cx="5232425" cy="2835965"/>
          </a:xfrm>
          <a:prstGeom prst="roundRect">
            <a:avLst>
              <a:gd name="adj" fmla="val 3641"/>
            </a:avLst>
          </a:prstGeom>
          <a:solidFill>
            <a:srgbClr val="12172A"/>
          </a:solidFill>
          <a:ln w="9525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6899300" y="4725642"/>
            <a:ext cx="4938422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0A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Gesture → Dispersal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6899300" y="5139980"/>
            <a:ext cx="4624159" cy="1466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9310"/>
              </a:lnSpc>
              <a:buNone/>
            </a:pPr>
            <a:r>
              <a:rPr lang="en-US" sz="1875" dirty="0">
                <a:solidFill>
                  <a:srgbClr val="C8CB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the tip of the nose — the most protruding of the 478 points — we derive movement energy. Below a threshold, it’s breathing, not intent.</a:t>
            </a:r>
            <a:endParaRPr lang="en-US" sz="1875" dirty="0"/>
          </a:p>
        </p:txBody>
      </p:sp>
      <p:sp>
        <p:nvSpPr>
          <p:cNvPr id="20" name="Shape 18"/>
          <p:cNvSpPr/>
          <p:nvPr/>
        </p:nvSpPr>
        <p:spPr>
          <a:xfrm>
            <a:off x="12007900" y="4373217"/>
            <a:ext cx="5232350" cy="2835965"/>
          </a:xfrm>
          <a:prstGeom prst="roundRect">
            <a:avLst>
              <a:gd name="adj" fmla="val 3641"/>
            </a:avLst>
          </a:prstGeom>
          <a:solidFill>
            <a:srgbClr val="12172A"/>
          </a:solidFill>
          <a:ln w="9525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21" name="Text 19"/>
          <p:cNvSpPr/>
          <p:nvPr/>
        </p:nvSpPr>
        <p:spPr>
          <a:xfrm>
            <a:off x="12379375" y="4725642"/>
            <a:ext cx="493834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0A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Streams, Opened Once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2379375" y="5139980"/>
            <a:ext cx="4624082" cy="1466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9310"/>
              </a:lnSpc>
              <a:buNone/>
            </a:pPr>
            <a:r>
              <a:rPr lang="en-US" sz="1875" dirty="0">
                <a:solidFill>
                  <a:srgbClr val="C8CB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Reconfiguring the sound card mid-stream causes an audible click. Mic, pad and track open at startup and stay open — only a switch turns on and off.</a:t>
            </a:r>
            <a:endParaRPr lang="en-US" sz="1875" dirty="0"/>
          </a:p>
        </p:txBody>
      </p:sp>
      <p:pic>
        <p:nvPicPr>
          <p:cNvPr id="23" name="Immagine 22">
            <a:extLst>
              <a:ext uri="{FF2B5EF4-FFF2-40B4-BE49-F238E27FC236}">
                <a16:creationId xmlns:a16="http://schemas.microsoft.com/office/drawing/2014/main" id="{FC262696-CCCE-F34D-7FA3-F44D947FF2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46127" y="9366735"/>
            <a:ext cx="795337" cy="79533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71525"/>
            <a:ext cx="2017328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52" dirty="0">
                <a:solidFill>
                  <a:srgbClr val="7EC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RATIONALITY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3053135" y="807244"/>
            <a:ext cx="9525" cy="190500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3234110" y="762000"/>
            <a:ext cx="1720766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AA1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Machine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828609" y="533400"/>
            <a:ext cx="1924273" cy="414338"/>
          </a:xfrm>
          <a:prstGeom prst="roundRect">
            <a:avLst>
              <a:gd name="adj" fmla="val 50000"/>
            </a:avLst>
          </a:prstGeom>
          <a:ln w="9525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9990534" y="609600"/>
            <a:ext cx="167662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PERCEPTION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1829083" y="533400"/>
            <a:ext cx="1931491" cy="414338"/>
          </a:xfrm>
          <a:prstGeom prst="roundRect">
            <a:avLst>
              <a:gd name="adj" fmla="val 50000"/>
            </a:avLst>
          </a:prstGeom>
          <a:solidFill>
            <a:srgbClr val="7EC9E8">
              <a:alpha val="16000"/>
            </a:srgbClr>
          </a:solidFill>
          <a:ln w="9525">
            <a:solidFill>
              <a:srgbClr val="7EC9E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11991008" y="609600"/>
            <a:ext cx="1683841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7EC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RATIONALITY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3836774" y="533400"/>
            <a:ext cx="1256109" cy="414338"/>
          </a:xfrm>
          <a:prstGeom prst="roundRect">
            <a:avLst>
              <a:gd name="adj" fmla="val 50000"/>
            </a:avLst>
          </a:prstGeom>
          <a:ln w="9525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13998699" y="609600"/>
            <a:ext cx="1008459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5169083" y="533400"/>
            <a:ext cx="2071167" cy="414338"/>
          </a:xfrm>
          <a:prstGeom prst="roundRect">
            <a:avLst>
              <a:gd name="adj" fmla="val 50000"/>
            </a:avLst>
          </a:prstGeom>
          <a:ln w="9525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15331008" y="609600"/>
            <a:ext cx="1823517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PORTING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47750" y="1619250"/>
            <a:ext cx="6426145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85000" lnSpcReduction="10000"/>
          </a:bodyPr>
          <a:lstStyle/>
          <a:p>
            <a:pPr marL="0" indent="0" algn="l">
              <a:buNone/>
            </a:pPr>
            <a:r>
              <a:rPr lang="en-US" sz="5100" b="1" kern="0" spc="-51" dirty="0">
                <a:solidFill>
                  <a:srgbClr val="F5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Twelve-State Machine</a:t>
            </a:r>
            <a:endParaRPr lang="en-US" sz="5100" dirty="0"/>
          </a:p>
        </p:txBody>
      </p:sp>
      <p:grpSp>
        <p:nvGrpSpPr>
          <p:cNvPr id="108" name="Gruppo 107">
            <a:extLst>
              <a:ext uri="{FF2B5EF4-FFF2-40B4-BE49-F238E27FC236}">
                <a16:creationId xmlns:a16="http://schemas.microsoft.com/office/drawing/2014/main" id="{87EBC846-FDC0-B7CB-B245-B217947B5F47}"/>
              </a:ext>
            </a:extLst>
          </p:cNvPr>
          <p:cNvGrpSpPr/>
          <p:nvPr/>
        </p:nvGrpSpPr>
        <p:grpSpPr>
          <a:xfrm>
            <a:off x="1567030" y="2543142"/>
            <a:ext cx="14944224" cy="6494011"/>
            <a:chOff x="521063" y="1762093"/>
            <a:chExt cx="11334025" cy="4299312"/>
          </a:xfrm>
        </p:grpSpPr>
        <p:sp>
          <p:nvSpPr>
            <p:cNvPr id="51" name="Shape 2">
              <a:extLst>
                <a:ext uri="{FF2B5EF4-FFF2-40B4-BE49-F238E27FC236}">
                  <a16:creationId xmlns:a16="http://schemas.microsoft.com/office/drawing/2014/main" id="{2F4961F6-BBFB-E1FC-DDE2-0BCCCCA8CAFB}"/>
                </a:ext>
              </a:extLst>
            </p:cNvPr>
            <p:cNvSpPr/>
            <p:nvPr/>
          </p:nvSpPr>
          <p:spPr>
            <a:xfrm>
              <a:off x="521063" y="2582187"/>
              <a:ext cx="1115568" cy="868680"/>
            </a:xfrm>
            <a:prstGeom prst="roundRect">
              <a:avLst>
                <a:gd name="adj" fmla="val 6316"/>
              </a:avLst>
            </a:prstGeom>
            <a:solidFill>
              <a:srgbClr val="141B33"/>
            </a:solidFill>
            <a:ln w="17780">
              <a:solidFill>
                <a:srgbClr val="5A7FB8"/>
              </a:solidFill>
              <a:prstDash val="solid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52" name="Text 3">
              <a:extLst>
                <a:ext uri="{FF2B5EF4-FFF2-40B4-BE49-F238E27FC236}">
                  <a16:creationId xmlns:a16="http://schemas.microsoft.com/office/drawing/2014/main" id="{EE3A9C00-B275-CA42-A4F8-B92B48ABF066}"/>
                </a:ext>
              </a:extLst>
            </p:cNvPr>
            <p:cNvSpPr txBox="1"/>
            <p:nvPr/>
          </p:nvSpPr>
          <p:spPr>
            <a:xfrm>
              <a:off x="557639" y="2582187"/>
              <a:ext cx="1042416" cy="8686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50" b="1" dirty="0">
                  <a:solidFill>
                    <a:srgbClr val="E8EEF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Welcome</a:t>
              </a:r>
              <a:endParaRPr lang="en-US" sz="950" dirty="0"/>
            </a:p>
          </p:txBody>
        </p:sp>
        <p:sp>
          <p:nvSpPr>
            <p:cNvPr id="53" name="Shape 4">
              <a:extLst>
                <a:ext uri="{FF2B5EF4-FFF2-40B4-BE49-F238E27FC236}">
                  <a16:creationId xmlns:a16="http://schemas.microsoft.com/office/drawing/2014/main" id="{94B301D4-CE6C-DE52-03E0-44D5F3ADB255}"/>
                </a:ext>
              </a:extLst>
            </p:cNvPr>
            <p:cNvSpPr/>
            <p:nvPr/>
          </p:nvSpPr>
          <p:spPr>
            <a:xfrm>
              <a:off x="1636631" y="3016527"/>
              <a:ext cx="150876" cy="0"/>
            </a:xfrm>
            <a:prstGeom prst="line">
              <a:avLst/>
            </a:prstGeom>
            <a:noFill/>
            <a:ln w="16510">
              <a:solidFill>
                <a:srgbClr val="44507A"/>
              </a:solidFill>
              <a:prstDash val="solid"/>
              <a:tailEnd type="triangle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54" name="Shape 5">
              <a:extLst>
                <a:ext uri="{FF2B5EF4-FFF2-40B4-BE49-F238E27FC236}">
                  <a16:creationId xmlns:a16="http://schemas.microsoft.com/office/drawing/2014/main" id="{C8FFEC12-D022-9B11-8AD8-DD27016A8AF5}"/>
                </a:ext>
              </a:extLst>
            </p:cNvPr>
            <p:cNvSpPr/>
            <p:nvPr/>
          </p:nvSpPr>
          <p:spPr>
            <a:xfrm>
              <a:off x="1787507" y="2582187"/>
              <a:ext cx="1115568" cy="868680"/>
            </a:xfrm>
            <a:prstGeom prst="roundRect">
              <a:avLst>
                <a:gd name="adj" fmla="val 6316"/>
              </a:avLst>
            </a:prstGeom>
            <a:solidFill>
              <a:srgbClr val="141B33"/>
            </a:solidFill>
            <a:ln w="17780">
              <a:solidFill>
                <a:srgbClr val="5A7FB8"/>
              </a:solidFill>
              <a:prstDash val="solid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55" name="Text 6">
              <a:extLst>
                <a:ext uri="{FF2B5EF4-FFF2-40B4-BE49-F238E27FC236}">
                  <a16:creationId xmlns:a16="http://schemas.microsoft.com/office/drawing/2014/main" id="{78535D2F-014F-F323-454A-CEA12948D8D0}"/>
                </a:ext>
              </a:extLst>
            </p:cNvPr>
            <p:cNvSpPr txBox="1"/>
            <p:nvPr/>
          </p:nvSpPr>
          <p:spPr>
            <a:xfrm>
              <a:off x="1824083" y="2582187"/>
              <a:ext cx="1042416" cy="8686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50" b="1" dirty="0" err="1">
                  <a:solidFill>
                    <a:srgbClr val="E8EEF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Invitation</a:t>
              </a:r>
              <a:endParaRPr lang="en-US" sz="950" b="1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endParaRPr>
            </a:p>
            <a:p>
              <a:pPr marL="0" indent="0" algn="ctr">
                <a:buNone/>
              </a:pPr>
              <a:r>
                <a:rPr lang="en-US" sz="950" b="1" dirty="0">
                  <a:solidFill>
                    <a:srgbClr val="E8EEF7"/>
                  </a:solidFill>
                  <a:latin typeface="Calibri" pitchFamily="34" charset="0"/>
                  <a:cs typeface="Calibri" pitchFamily="34" charset="-120"/>
                </a:rPr>
                <a:t>to speak</a:t>
              </a:r>
              <a:endParaRPr lang="en-US" sz="950" dirty="0"/>
            </a:p>
          </p:txBody>
        </p:sp>
        <p:sp>
          <p:nvSpPr>
            <p:cNvPr id="56" name="Shape 7">
              <a:extLst>
                <a:ext uri="{FF2B5EF4-FFF2-40B4-BE49-F238E27FC236}">
                  <a16:creationId xmlns:a16="http://schemas.microsoft.com/office/drawing/2014/main" id="{92094A7E-0F24-6942-B246-9D271B513BCB}"/>
                </a:ext>
              </a:extLst>
            </p:cNvPr>
            <p:cNvSpPr/>
            <p:nvPr/>
          </p:nvSpPr>
          <p:spPr>
            <a:xfrm>
              <a:off x="2903075" y="3016527"/>
              <a:ext cx="150876" cy="0"/>
            </a:xfrm>
            <a:prstGeom prst="line">
              <a:avLst/>
            </a:prstGeom>
            <a:noFill/>
            <a:ln w="16510">
              <a:solidFill>
                <a:srgbClr val="44507A"/>
              </a:solidFill>
              <a:prstDash val="solid"/>
              <a:tailEnd type="triangle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57" name="Shape 8">
              <a:extLst>
                <a:ext uri="{FF2B5EF4-FFF2-40B4-BE49-F238E27FC236}">
                  <a16:creationId xmlns:a16="http://schemas.microsoft.com/office/drawing/2014/main" id="{407AE071-7E35-BA12-723D-DB40B8B1B0B0}"/>
                </a:ext>
              </a:extLst>
            </p:cNvPr>
            <p:cNvSpPr/>
            <p:nvPr/>
          </p:nvSpPr>
          <p:spPr>
            <a:xfrm>
              <a:off x="3053951" y="2582187"/>
              <a:ext cx="1115568" cy="868680"/>
            </a:xfrm>
            <a:prstGeom prst="roundRect">
              <a:avLst>
                <a:gd name="adj" fmla="val 6316"/>
              </a:avLst>
            </a:prstGeom>
            <a:solidFill>
              <a:srgbClr val="141B33"/>
            </a:solidFill>
            <a:ln w="17780">
              <a:solidFill>
                <a:srgbClr val="E8B87F"/>
              </a:solidFill>
              <a:prstDash val="solid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58" name="Text 9">
              <a:extLst>
                <a:ext uri="{FF2B5EF4-FFF2-40B4-BE49-F238E27FC236}">
                  <a16:creationId xmlns:a16="http://schemas.microsoft.com/office/drawing/2014/main" id="{9EDF641B-63A8-0501-B1EB-30E91C8DA233}"/>
                </a:ext>
              </a:extLst>
            </p:cNvPr>
            <p:cNvSpPr txBox="1"/>
            <p:nvPr/>
          </p:nvSpPr>
          <p:spPr>
            <a:xfrm>
              <a:off x="3090527" y="2582187"/>
              <a:ext cx="1042416" cy="8686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50" b="1" dirty="0" err="1">
                  <a:solidFill>
                    <a:srgbClr val="E8B87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Listening</a:t>
              </a:r>
              <a:endParaRPr lang="en-US" sz="950" dirty="0"/>
            </a:p>
          </p:txBody>
        </p:sp>
        <p:sp>
          <p:nvSpPr>
            <p:cNvPr id="59" name="Shape 10">
              <a:extLst>
                <a:ext uri="{FF2B5EF4-FFF2-40B4-BE49-F238E27FC236}">
                  <a16:creationId xmlns:a16="http://schemas.microsoft.com/office/drawing/2014/main" id="{CA875C36-C5A9-BB01-445E-875675C397CF}"/>
                </a:ext>
              </a:extLst>
            </p:cNvPr>
            <p:cNvSpPr/>
            <p:nvPr/>
          </p:nvSpPr>
          <p:spPr>
            <a:xfrm>
              <a:off x="4169519" y="3016527"/>
              <a:ext cx="150876" cy="0"/>
            </a:xfrm>
            <a:prstGeom prst="line">
              <a:avLst/>
            </a:prstGeom>
            <a:noFill/>
            <a:ln w="16510">
              <a:solidFill>
                <a:srgbClr val="44507A"/>
              </a:solidFill>
              <a:prstDash val="solid"/>
              <a:tailEnd type="triangle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60" name="Shape 11">
              <a:extLst>
                <a:ext uri="{FF2B5EF4-FFF2-40B4-BE49-F238E27FC236}">
                  <a16:creationId xmlns:a16="http://schemas.microsoft.com/office/drawing/2014/main" id="{E8915D97-501E-F544-C7BF-2159EE5220DD}"/>
                </a:ext>
              </a:extLst>
            </p:cNvPr>
            <p:cNvSpPr/>
            <p:nvPr/>
          </p:nvSpPr>
          <p:spPr>
            <a:xfrm>
              <a:off x="4320395" y="2582187"/>
              <a:ext cx="1115568" cy="868680"/>
            </a:xfrm>
            <a:prstGeom prst="roundRect">
              <a:avLst>
                <a:gd name="adj" fmla="val 6316"/>
              </a:avLst>
            </a:prstGeom>
            <a:solidFill>
              <a:srgbClr val="141B33"/>
            </a:solidFill>
            <a:ln w="17780">
              <a:solidFill>
                <a:srgbClr val="5A7FB8"/>
              </a:solidFill>
              <a:prstDash val="solid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61" name="Text 12">
              <a:extLst>
                <a:ext uri="{FF2B5EF4-FFF2-40B4-BE49-F238E27FC236}">
                  <a16:creationId xmlns:a16="http://schemas.microsoft.com/office/drawing/2014/main" id="{5BC4A8CC-ED87-C461-B156-218EFF85F8EB}"/>
                </a:ext>
              </a:extLst>
            </p:cNvPr>
            <p:cNvSpPr txBox="1"/>
            <p:nvPr/>
          </p:nvSpPr>
          <p:spPr>
            <a:xfrm>
              <a:off x="4356971" y="2582187"/>
              <a:ext cx="1042416" cy="8686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50" b="1" dirty="0" err="1">
                  <a:solidFill>
                    <a:srgbClr val="E8EEF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Waiting</a:t>
              </a:r>
              <a:endParaRPr lang="en-US" sz="950" dirty="0"/>
            </a:p>
          </p:txBody>
        </p:sp>
        <p:sp>
          <p:nvSpPr>
            <p:cNvPr id="62" name="Shape 13">
              <a:extLst>
                <a:ext uri="{FF2B5EF4-FFF2-40B4-BE49-F238E27FC236}">
                  <a16:creationId xmlns:a16="http://schemas.microsoft.com/office/drawing/2014/main" id="{D89A2ABB-888E-4C67-97D7-1C16DB0195DB}"/>
                </a:ext>
              </a:extLst>
            </p:cNvPr>
            <p:cNvSpPr/>
            <p:nvPr/>
          </p:nvSpPr>
          <p:spPr>
            <a:xfrm>
              <a:off x="5435963" y="3016527"/>
              <a:ext cx="150876" cy="0"/>
            </a:xfrm>
            <a:prstGeom prst="line">
              <a:avLst/>
            </a:prstGeom>
            <a:noFill/>
            <a:ln w="16510">
              <a:solidFill>
                <a:srgbClr val="44507A"/>
              </a:solidFill>
              <a:prstDash val="solid"/>
              <a:tailEnd type="triangle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63" name="Shape 14">
              <a:extLst>
                <a:ext uri="{FF2B5EF4-FFF2-40B4-BE49-F238E27FC236}">
                  <a16:creationId xmlns:a16="http://schemas.microsoft.com/office/drawing/2014/main" id="{69BBDE53-6D8A-D282-3BC2-79027CD66963}"/>
                </a:ext>
              </a:extLst>
            </p:cNvPr>
            <p:cNvSpPr/>
            <p:nvPr/>
          </p:nvSpPr>
          <p:spPr>
            <a:xfrm>
              <a:off x="5586839" y="2582187"/>
              <a:ext cx="1115568" cy="868680"/>
            </a:xfrm>
            <a:prstGeom prst="roundRect">
              <a:avLst>
                <a:gd name="adj" fmla="val 6316"/>
              </a:avLst>
            </a:prstGeom>
            <a:solidFill>
              <a:srgbClr val="141B33"/>
            </a:solidFill>
            <a:ln w="17780">
              <a:solidFill>
                <a:srgbClr val="5A7FB8"/>
              </a:solidFill>
              <a:prstDash val="solid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64" name="Text 15">
              <a:extLst>
                <a:ext uri="{FF2B5EF4-FFF2-40B4-BE49-F238E27FC236}">
                  <a16:creationId xmlns:a16="http://schemas.microsoft.com/office/drawing/2014/main" id="{4B41BE6B-E683-A243-6EA7-442B8BB0D731}"/>
                </a:ext>
              </a:extLst>
            </p:cNvPr>
            <p:cNvSpPr txBox="1"/>
            <p:nvPr/>
          </p:nvSpPr>
          <p:spPr>
            <a:xfrm>
              <a:off x="5623415" y="2582187"/>
              <a:ext cx="1042416" cy="8686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50" b="1" dirty="0">
                  <a:solidFill>
                    <a:srgbClr val="E8EEF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Display of personalized phrases</a:t>
              </a:r>
              <a:endParaRPr lang="en-US" sz="950" dirty="0"/>
            </a:p>
          </p:txBody>
        </p:sp>
        <p:sp>
          <p:nvSpPr>
            <p:cNvPr id="65" name="Shape 16">
              <a:extLst>
                <a:ext uri="{FF2B5EF4-FFF2-40B4-BE49-F238E27FC236}">
                  <a16:creationId xmlns:a16="http://schemas.microsoft.com/office/drawing/2014/main" id="{869E99B0-BD96-C2EA-1271-8EADDB8D1942}"/>
                </a:ext>
              </a:extLst>
            </p:cNvPr>
            <p:cNvSpPr/>
            <p:nvPr/>
          </p:nvSpPr>
          <p:spPr>
            <a:xfrm>
              <a:off x="6702407" y="3016527"/>
              <a:ext cx="150876" cy="0"/>
            </a:xfrm>
            <a:prstGeom prst="line">
              <a:avLst/>
            </a:prstGeom>
            <a:noFill/>
            <a:ln w="16510">
              <a:solidFill>
                <a:srgbClr val="44507A"/>
              </a:solidFill>
              <a:prstDash val="solid"/>
              <a:tailEnd type="triangle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66" name="Shape 17">
              <a:extLst>
                <a:ext uri="{FF2B5EF4-FFF2-40B4-BE49-F238E27FC236}">
                  <a16:creationId xmlns:a16="http://schemas.microsoft.com/office/drawing/2014/main" id="{B059B70A-7536-FFB9-23C7-5A3403006847}"/>
                </a:ext>
              </a:extLst>
            </p:cNvPr>
            <p:cNvSpPr/>
            <p:nvPr/>
          </p:nvSpPr>
          <p:spPr>
            <a:xfrm>
              <a:off x="6853283" y="2582187"/>
              <a:ext cx="1115568" cy="868680"/>
            </a:xfrm>
            <a:prstGeom prst="roundRect">
              <a:avLst>
                <a:gd name="adj" fmla="val 6316"/>
              </a:avLst>
            </a:prstGeom>
            <a:solidFill>
              <a:srgbClr val="141B33"/>
            </a:solidFill>
            <a:ln w="17780">
              <a:solidFill>
                <a:srgbClr val="5A7FB8"/>
              </a:solidFill>
              <a:prstDash val="solid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67" name="Text 18">
              <a:extLst>
                <a:ext uri="{FF2B5EF4-FFF2-40B4-BE49-F238E27FC236}">
                  <a16:creationId xmlns:a16="http://schemas.microsoft.com/office/drawing/2014/main" id="{8FC11C19-8A1A-CEBB-68FD-9DB8512F0B9D}"/>
                </a:ext>
              </a:extLst>
            </p:cNvPr>
            <p:cNvSpPr txBox="1"/>
            <p:nvPr/>
          </p:nvSpPr>
          <p:spPr>
            <a:xfrm>
              <a:off x="6889859" y="2582187"/>
              <a:ext cx="1042416" cy="8686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50" b="1" dirty="0" err="1">
                  <a:solidFill>
                    <a:srgbClr val="E8EEF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Invitation</a:t>
              </a:r>
              <a:endParaRPr lang="en-US" sz="950" dirty="0"/>
            </a:p>
            <a:p>
              <a:pPr marL="0" indent="0" algn="ctr">
                <a:buNone/>
              </a:pPr>
              <a:r>
                <a:rPr lang="en-US" sz="950" b="1" dirty="0">
                  <a:solidFill>
                    <a:srgbClr val="E8EEF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to meditate</a:t>
              </a:r>
              <a:endParaRPr lang="en-US" sz="950" dirty="0"/>
            </a:p>
          </p:txBody>
        </p:sp>
        <p:sp>
          <p:nvSpPr>
            <p:cNvPr id="68" name="Shape 19">
              <a:extLst>
                <a:ext uri="{FF2B5EF4-FFF2-40B4-BE49-F238E27FC236}">
                  <a16:creationId xmlns:a16="http://schemas.microsoft.com/office/drawing/2014/main" id="{C45DE482-ECE6-820D-001B-DC76F8C335F1}"/>
                </a:ext>
              </a:extLst>
            </p:cNvPr>
            <p:cNvSpPr/>
            <p:nvPr/>
          </p:nvSpPr>
          <p:spPr>
            <a:xfrm>
              <a:off x="7968851" y="3016527"/>
              <a:ext cx="150876" cy="0"/>
            </a:xfrm>
            <a:prstGeom prst="line">
              <a:avLst/>
            </a:prstGeom>
            <a:noFill/>
            <a:ln w="16510">
              <a:solidFill>
                <a:srgbClr val="44507A"/>
              </a:solidFill>
              <a:prstDash val="solid"/>
              <a:tailEnd type="triangle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69" name="Shape 20">
              <a:extLst>
                <a:ext uri="{FF2B5EF4-FFF2-40B4-BE49-F238E27FC236}">
                  <a16:creationId xmlns:a16="http://schemas.microsoft.com/office/drawing/2014/main" id="{4D414B22-0B56-15C7-E95F-ED9C99EFD1C2}"/>
                </a:ext>
              </a:extLst>
            </p:cNvPr>
            <p:cNvSpPr/>
            <p:nvPr/>
          </p:nvSpPr>
          <p:spPr>
            <a:xfrm>
              <a:off x="8119727" y="2582187"/>
              <a:ext cx="1115568" cy="868680"/>
            </a:xfrm>
            <a:prstGeom prst="roundRect">
              <a:avLst>
                <a:gd name="adj" fmla="val 6316"/>
              </a:avLst>
            </a:prstGeom>
            <a:solidFill>
              <a:srgbClr val="141B33"/>
            </a:solidFill>
            <a:ln w="17780">
              <a:solidFill>
                <a:srgbClr val="E8B87F"/>
              </a:solidFill>
              <a:prstDash val="solid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70" name="Text 21">
              <a:extLst>
                <a:ext uri="{FF2B5EF4-FFF2-40B4-BE49-F238E27FC236}">
                  <a16:creationId xmlns:a16="http://schemas.microsoft.com/office/drawing/2014/main" id="{0A667C68-232E-219D-F213-CA98307D2A26}"/>
                </a:ext>
              </a:extLst>
            </p:cNvPr>
            <p:cNvSpPr txBox="1"/>
            <p:nvPr/>
          </p:nvSpPr>
          <p:spPr>
            <a:xfrm>
              <a:off x="8156303" y="2582187"/>
              <a:ext cx="1042416" cy="8686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50" b="1" dirty="0" err="1">
                  <a:solidFill>
                    <a:srgbClr val="E8B87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Meditation</a:t>
              </a:r>
              <a:endParaRPr lang="en-US" sz="950" dirty="0"/>
            </a:p>
          </p:txBody>
        </p:sp>
        <p:sp>
          <p:nvSpPr>
            <p:cNvPr id="71" name="Shape 22">
              <a:extLst>
                <a:ext uri="{FF2B5EF4-FFF2-40B4-BE49-F238E27FC236}">
                  <a16:creationId xmlns:a16="http://schemas.microsoft.com/office/drawing/2014/main" id="{EFC22C79-3A95-FA5F-FD91-320FA35B7CEF}"/>
                </a:ext>
              </a:extLst>
            </p:cNvPr>
            <p:cNvSpPr/>
            <p:nvPr/>
          </p:nvSpPr>
          <p:spPr>
            <a:xfrm>
              <a:off x="9235295" y="3016527"/>
              <a:ext cx="150876" cy="0"/>
            </a:xfrm>
            <a:prstGeom prst="line">
              <a:avLst/>
            </a:prstGeom>
            <a:noFill/>
            <a:ln w="16510">
              <a:solidFill>
                <a:srgbClr val="44507A"/>
              </a:solidFill>
              <a:prstDash val="solid"/>
              <a:tailEnd type="triangle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72" name="Shape 23">
              <a:extLst>
                <a:ext uri="{FF2B5EF4-FFF2-40B4-BE49-F238E27FC236}">
                  <a16:creationId xmlns:a16="http://schemas.microsoft.com/office/drawing/2014/main" id="{E46F1DE9-3E51-12E2-8DBE-872C5B4B601C}"/>
                </a:ext>
              </a:extLst>
            </p:cNvPr>
            <p:cNvSpPr/>
            <p:nvPr/>
          </p:nvSpPr>
          <p:spPr>
            <a:xfrm>
              <a:off x="9386171" y="2582187"/>
              <a:ext cx="1115568" cy="868680"/>
            </a:xfrm>
            <a:prstGeom prst="roundRect">
              <a:avLst>
                <a:gd name="adj" fmla="val 6316"/>
              </a:avLst>
            </a:prstGeom>
            <a:solidFill>
              <a:srgbClr val="141B33"/>
            </a:solidFill>
            <a:ln w="17780">
              <a:solidFill>
                <a:srgbClr val="5A7FB8"/>
              </a:solidFill>
              <a:prstDash val="solid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73" name="Text 24">
              <a:extLst>
                <a:ext uri="{FF2B5EF4-FFF2-40B4-BE49-F238E27FC236}">
                  <a16:creationId xmlns:a16="http://schemas.microsoft.com/office/drawing/2014/main" id="{AD8CAEC6-9049-AD36-8E03-837E9C25533E}"/>
                </a:ext>
              </a:extLst>
            </p:cNvPr>
            <p:cNvSpPr txBox="1"/>
            <p:nvPr/>
          </p:nvSpPr>
          <p:spPr>
            <a:xfrm>
              <a:off x="9422747" y="2582187"/>
              <a:ext cx="1042416" cy="8686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50" b="1" dirty="0">
                  <a:solidFill>
                    <a:srgbClr val="E8EEF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Mandala</a:t>
              </a:r>
              <a:endParaRPr lang="en-US" sz="950" dirty="0"/>
            </a:p>
          </p:txBody>
        </p:sp>
        <p:sp>
          <p:nvSpPr>
            <p:cNvPr id="74" name="Shape 25">
              <a:extLst>
                <a:ext uri="{FF2B5EF4-FFF2-40B4-BE49-F238E27FC236}">
                  <a16:creationId xmlns:a16="http://schemas.microsoft.com/office/drawing/2014/main" id="{24042F28-E6A8-E432-4991-CC0A9D863591}"/>
                </a:ext>
              </a:extLst>
            </p:cNvPr>
            <p:cNvSpPr/>
            <p:nvPr/>
          </p:nvSpPr>
          <p:spPr>
            <a:xfrm>
              <a:off x="10501739" y="3016527"/>
              <a:ext cx="150876" cy="0"/>
            </a:xfrm>
            <a:prstGeom prst="line">
              <a:avLst/>
            </a:prstGeom>
            <a:noFill/>
            <a:ln w="16510">
              <a:solidFill>
                <a:srgbClr val="44507A"/>
              </a:solidFill>
              <a:prstDash val="solid"/>
              <a:tailEnd type="triangle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75" name="Shape 26">
              <a:extLst>
                <a:ext uri="{FF2B5EF4-FFF2-40B4-BE49-F238E27FC236}">
                  <a16:creationId xmlns:a16="http://schemas.microsoft.com/office/drawing/2014/main" id="{06CE316C-01BC-777C-DC95-ECF7D803745D}"/>
                </a:ext>
              </a:extLst>
            </p:cNvPr>
            <p:cNvSpPr/>
            <p:nvPr/>
          </p:nvSpPr>
          <p:spPr>
            <a:xfrm>
              <a:off x="10652615" y="2582187"/>
              <a:ext cx="1115568" cy="868680"/>
            </a:xfrm>
            <a:prstGeom prst="roundRect">
              <a:avLst>
                <a:gd name="adj" fmla="val 6316"/>
              </a:avLst>
            </a:prstGeom>
            <a:solidFill>
              <a:srgbClr val="141B33"/>
            </a:solidFill>
            <a:ln w="17780">
              <a:solidFill>
                <a:srgbClr val="E8B87F"/>
              </a:solidFill>
              <a:prstDash val="solid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76" name="Text 27">
              <a:extLst>
                <a:ext uri="{FF2B5EF4-FFF2-40B4-BE49-F238E27FC236}">
                  <a16:creationId xmlns:a16="http://schemas.microsoft.com/office/drawing/2014/main" id="{BA084FD8-B132-496B-6BBE-BD039C918E12}"/>
                </a:ext>
              </a:extLst>
            </p:cNvPr>
            <p:cNvSpPr txBox="1"/>
            <p:nvPr/>
          </p:nvSpPr>
          <p:spPr>
            <a:xfrm>
              <a:off x="10689191" y="2582187"/>
              <a:ext cx="1042416" cy="8686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50" b="1" dirty="0" err="1">
                  <a:solidFill>
                    <a:srgbClr val="E8B87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Mandala Destruction</a:t>
              </a:r>
              <a:endParaRPr lang="en-US" sz="950" dirty="0"/>
            </a:p>
          </p:txBody>
        </p:sp>
        <p:sp>
          <p:nvSpPr>
            <p:cNvPr id="77" name="Text 28">
              <a:extLst>
                <a:ext uri="{FF2B5EF4-FFF2-40B4-BE49-F238E27FC236}">
                  <a16:creationId xmlns:a16="http://schemas.microsoft.com/office/drawing/2014/main" id="{A162CB7B-ED09-14FF-4F19-F3279739BB4D}"/>
                </a:ext>
              </a:extLst>
            </p:cNvPr>
            <p:cNvSpPr txBox="1"/>
            <p:nvPr/>
          </p:nvSpPr>
          <p:spPr>
            <a:xfrm>
              <a:off x="2334029" y="3834915"/>
              <a:ext cx="1298448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8FD9EC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eyes</a:t>
              </a:r>
              <a:endParaRPr lang="en-US" sz="900" dirty="0"/>
            </a:p>
            <a:p>
              <a:pPr marL="0" indent="0" algn="ctr">
                <a:buNone/>
              </a:pPr>
              <a:r>
                <a:rPr lang="en-US" sz="900" b="1" dirty="0">
                  <a:solidFill>
                    <a:srgbClr val="8FD9EC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CLOSED</a:t>
              </a:r>
              <a:endParaRPr lang="en-US" sz="900" dirty="0"/>
            </a:p>
          </p:txBody>
        </p:sp>
        <p:sp>
          <p:nvSpPr>
            <p:cNvPr id="78" name="Shape 29">
              <a:extLst>
                <a:ext uri="{FF2B5EF4-FFF2-40B4-BE49-F238E27FC236}">
                  <a16:creationId xmlns:a16="http://schemas.microsoft.com/office/drawing/2014/main" id="{0BD33C76-47BC-87B5-F926-52BB468A3D49}"/>
                </a:ext>
              </a:extLst>
            </p:cNvPr>
            <p:cNvSpPr/>
            <p:nvPr/>
          </p:nvSpPr>
          <p:spPr>
            <a:xfrm>
              <a:off x="2983253" y="3524019"/>
              <a:ext cx="0" cy="292608"/>
            </a:xfrm>
            <a:prstGeom prst="line">
              <a:avLst/>
            </a:prstGeom>
            <a:noFill/>
            <a:ln w="15240">
              <a:solidFill>
                <a:srgbClr val="8FD9EC"/>
              </a:solidFill>
              <a:prstDash val="solid"/>
              <a:headEnd type="triangle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79" name="Text 30">
              <a:extLst>
                <a:ext uri="{FF2B5EF4-FFF2-40B4-BE49-F238E27FC236}">
                  <a16:creationId xmlns:a16="http://schemas.microsoft.com/office/drawing/2014/main" id="{F378A501-F2DD-22C5-D041-6719E161F0AB}"/>
                </a:ext>
              </a:extLst>
            </p:cNvPr>
            <p:cNvSpPr txBox="1"/>
            <p:nvPr/>
          </p:nvSpPr>
          <p:spPr>
            <a:xfrm>
              <a:off x="3600472" y="3834915"/>
              <a:ext cx="1298448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8FD9EC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eyes</a:t>
              </a:r>
              <a:endParaRPr lang="en-US" sz="900" dirty="0"/>
            </a:p>
            <a:p>
              <a:pPr marL="0" indent="0" algn="ctr">
                <a:buNone/>
              </a:pPr>
              <a:r>
                <a:rPr lang="en-US" sz="900" b="1" dirty="0">
                  <a:solidFill>
                    <a:srgbClr val="8FD9EC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OPEN</a:t>
              </a:r>
              <a:endParaRPr lang="en-US" sz="900" dirty="0"/>
            </a:p>
          </p:txBody>
        </p:sp>
        <p:sp>
          <p:nvSpPr>
            <p:cNvPr id="80" name="Shape 31">
              <a:extLst>
                <a:ext uri="{FF2B5EF4-FFF2-40B4-BE49-F238E27FC236}">
                  <a16:creationId xmlns:a16="http://schemas.microsoft.com/office/drawing/2014/main" id="{C2E675F9-FB6C-A765-5D59-24E275123621}"/>
                </a:ext>
              </a:extLst>
            </p:cNvPr>
            <p:cNvSpPr/>
            <p:nvPr/>
          </p:nvSpPr>
          <p:spPr>
            <a:xfrm>
              <a:off x="4249696" y="3524019"/>
              <a:ext cx="0" cy="292608"/>
            </a:xfrm>
            <a:prstGeom prst="line">
              <a:avLst/>
            </a:prstGeom>
            <a:noFill/>
            <a:ln w="15240">
              <a:solidFill>
                <a:srgbClr val="8FD9EC"/>
              </a:solidFill>
              <a:prstDash val="solid"/>
              <a:headEnd type="triangle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81" name="Text 32">
              <a:extLst>
                <a:ext uri="{FF2B5EF4-FFF2-40B4-BE49-F238E27FC236}">
                  <a16:creationId xmlns:a16="http://schemas.microsoft.com/office/drawing/2014/main" id="{211CB627-2A3A-A1EF-C99A-47A9A297882E}"/>
                </a:ext>
              </a:extLst>
            </p:cNvPr>
            <p:cNvSpPr txBox="1"/>
            <p:nvPr/>
          </p:nvSpPr>
          <p:spPr>
            <a:xfrm>
              <a:off x="7421068" y="3834915"/>
              <a:ext cx="1298448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8FD9EC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eyes</a:t>
              </a:r>
              <a:endParaRPr lang="en-US" sz="900" dirty="0"/>
            </a:p>
            <a:p>
              <a:pPr marL="0" indent="0" algn="ctr">
                <a:buNone/>
              </a:pPr>
              <a:r>
                <a:rPr lang="en-US" sz="900" b="1" dirty="0">
                  <a:solidFill>
                    <a:srgbClr val="8FD9EC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CLOSED</a:t>
              </a:r>
              <a:endParaRPr lang="en-US" sz="900" dirty="0"/>
            </a:p>
          </p:txBody>
        </p:sp>
        <p:sp>
          <p:nvSpPr>
            <p:cNvPr id="82" name="Shape 33">
              <a:extLst>
                <a:ext uri="{FF2B5EF4-FFF2-40B4-BE49-F238E27FC236}">
                  <a16:creationId xmlns:a16="http://schemas.microsoft.com/office/drawing/2014/main" id="{1BF0A702-1BCB-E314-0B15-A8A12E5053F2}"/>
                </a:ext>
              </a:extLst>
            </p:cNvPr>
            <p:cNvSpPr/>
            <p:nvPr/>
          </p:nvSpPr>
          <p:spPr>
            <a:xfrm>
              <a:off x="8070292" y="3524019"/>
              <a:ext cx="0" cy="292608"/>
            </a:xfrm>
            <a:prstGeom prst="line">
              <a:avLst/>
            </a:prstGeom>
            <a:noFill/>
            <a:ln w="15240">
              <a:solidFill>
                <a:srgbClr val="8FD9EC"/>
              </a:solidFill>
              <a:prstDash val="solid"/>
              <a:headEnd type="triangle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83" name="Text 34">
              <a:extLst>
                <a:ext uri="{FF2B5EF4-FFF2-40B4-BE49-F238E27FC236}">
                  <a16:creationId xmlns:a16="http://schemas.microsoft.com/office/drawing/2014/main" id="{27F0F263-CA97-5AD1-D427-F107A276826F}"/>
                </a:ext>
              </a:extLst>
            </p:cNvPr>
            <p:cNvSpPr txBox="1"/>
            <p:nvPr/>
          </p:nvSpPr>
          <p:spPr>
            <a:xfrm>
              <a:off x="8687512" y="3834915"/>
              <a:ext cx="1298448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8FD9EC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eyes</a:t>
              </a:r>
              <a:endParaRPr lang="en-US" sz="900" dirty="0"/>
            </a:p>
            <a:p>
              <a:pPr marL="0" indent="0" algn="ctr">
                <a:buNone/>
              </a:pPr>
              <a:r>
                <a:rPr lang="en-US" sz="900" b="1" dirty="0">
                  <a:solidFill>
                    <a:srgbClr val="8FD9EC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OPEN</a:t>
              </a:r>
              <a:endParaRPr lang="en-US" sz="900" dirty="0"/>
            </a:p>
          </p:txBody>
        </p:sp>
        <p:sp>
          <p:nvSpPr>
            <p:cNvPr id="84" name="Shape 35">
              <a:extLst>
                <a:ext uri="{FF2B5EF4-FFF2-40B4-BE49-F238E27FC236}">
                  <a16:creationId xmlns:a16="http://schemas.microsoft.com/office/drawing/2014/main" id="{63E968E8-5319-20BD-6F16-22109A1A11A0}"/>
                </a:ext>
              </a:extLst>
            </p:cNvPr>
            <p:cNvSpPr/>
            <p:nvPr/>
          </p:nvSpPr>
          <p:spPr>
            <a:xfrm>
              <a:off x="9336736" y="3524019"/>
              <a:ext cx="0" cy="292608"/>
            </a:xfrm>
            <a:prstGeom prst="line">
              <a:avLst/>
            </a:prstGeom>
            <a:noFill/>
            <a:ln w="15240">
              <a:solidFill>
                <a:srgbClr val="8FD9EC"/>
              </a:solidFill>
              <a:prstDash val="solid"/>
              <a:headEnd type="triangle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85" name="Text 36">
              <a:extLst>
                <a:ext uri="{FF2B5EF4-FFF2-40B4-BE49-F238E27FC236}">
                  <a16:creationId xmlns:a16="http://schemas.microsoft.com/office/drawing/2014/main" id="{F3FDD11E-9C0A-FB5A-B7FD-14C6D57B3F0C}"/>
                </a:ext>
              </a:extLst>
            </p:cNvPr>
            <p:cNvSpPr txBox="1"/>
            <p:nvPr/>
          </p:nvSpPr>
          <p:spPr>
            <a:xfrm>
              <a:off x="10556640" y="1762093"/>
              <a:ext cx="1298448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E8887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movement</a:t>
              </a:r>
              <a:endParaRPr lang="en-US" sz="900" dirty="0"/>
            </a:p>
            <a:p>
              <a:pPr marL="0" indent="0" algn="ctr">
                <a:buNone/>
              </a:pPr>
              <a:r>
                <a:rPr lang="en-US" sz="900" b="1" dirty="0">
                  <a:solidFill>
                    <a:srgbClr val="E8887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of the face</a:t>
              </a:r>
              <a:endParaRPr lang="en-US" sz="900" dirty="0"/>
            </a:p>
          </p:txBody>
        </p:sp>
        <p:sp>
          <p:nvSpPr>
            <p:cNvPr id="86" name="Shape 37">
              <a:extLst>
                <a:ext uri="{FF2B5EF4-FFF2-40B4-BE49-F238E27FC236}">
                  <a16:creationId xmlns:a16="http://schemas.microsoft.com/office/drawing/2014/main" id="{AA8EF6F7-7F34-A161-E7CA-3274E5EE4D95}"/>
                </a:ext>
              </a:extLst>
            </p:cNvPr>
            <p:cNvSpPr/>
            <p:nvPr/>
          </p:nvSpPr>
          <p:spPr>
            <a:xfrm flipV="1">
              <a:off x="11205861" y="2224591"/>
              <a:ext cx="9073" cy="269822"/>
            </a:xfrm>
            <a:prstGeom prst="line">
              <a:avLst/>
            </a:prstGeom>
            <a:noFill/>
            <a:ln w="15240">
              <a:solidFill>
                <a:srgbClr val="E8887F"/>
              </a:solidFill>
              <a:prstDash val="solid"/>
              <a:headEnd type="triangle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87" name="Shape 39">
              <a:extLst>
                <a:ext uri="{FF2B5EF4-FFF2-40B4-BE49-F238E27FC236}">
                  <a16:creationId xmlns:a16="http://schemas.microsoft.com/office/drawing/2014/main" id="{A4F73548-6B2A-72A2-5FEB-86D35137966D}"/>
                </a:ext>
              </a:extLst>
            </p:cNvPr>
            <p:cNvSpPr/>
            <p:nvPr/>
          </p:nvSpPr>
          <p:spPr>
            <a:xfrm>
              <a:off x="1078847" y="2326155"/>
              <a:ext cx="0" cy="237744"/>
            </a:xfrm>
            <a:prstGeom prst="line">
              <a:avLst/>
            </a:prstGeom>
            <a:noFill/>
            <a:ln w="13970">
              <a:solidFill>
                <a:srgbClr val="44507A"/>
              </a:solidFill>
              <a:prstDash val="solid"/>
              <a:tailEnd type="triangle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88" name="Text 40">
              <a:extLst>
                <a:ext uri="{FF2B5EF4-FFF2-40B4-BE49-F238E27FC236}">
                  <a16:creationId xmlns:a16="http://schemas.microsoft.com/office/drawing/2014/main" id="{214ADC3B-125F-0375-7949-D5BB9A19EAE7}"/>
                </a:ext>
              </a:extLst>
            </p:cNvPr>
            <p:cNvSpPr txBox="1"/>
            <p:nvPr/>
          </p:nvSpPr>
          <p:spPr>
            <a:xfrm>
              <a:off x="3908915" y="2015259"/>
              <a:ext cx="193852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850" i="1" dirty="0">
                  <a:solidFill>
                    <a:srgbClr val="8A97B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when Claude responds</a:t>
              </a:r>
              <a:endParaRPr lang="en-US" sz="850" dirty="0"/>
            </a:p>
          </p:txBody>
        </p:sp>
        <p:sp>
          <p:nvSpPr>
            <p:cNvPr id="89" name="Shape 41">
              <a:extLst>
                <a:ext uri="{FF2B5EF4-FFF2-40B4-BE49-F238E27FC236}">
                  <a16:creationId xmlns:a16="http://schemas.microsoft.com/office/drawing/2014/main" id="{061FCD2B-1BC4-EA3D-0108-BC5C6B7BFC7D}"/>
                </a:ext>
              </a:extLst>
            </p:cNvPr>
            <p:cNvSpPr/>
            <p:nvPr/>
          </p:nvSpPr>
          <p:spPr>
            <a:xfrm>
              <a:off x="4878179" y="2326155"/>
              <a:ext cx="0" cy="237744"/>
            </a:xfrm>
            <a:prstGeom prst="line">
              <a:avLst/>
            </a:prstGeom>
            <a:noFill/>
            <a:ln w="13970">
              <a:solidFill>
                <a:srgbClr val="44507A"/>
              </a:solidFill>
              <a:prstDash val="solid"/>
              <a:tailEnd type="triangle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90" name="Text 42">
              <a:extLst>
                <a:ext uri="{FF2B5EF4-FFF2-40B4-BE49-F238E27FC236}">
                  <a16:creationId xmlns:a16="http://schemas.microsoft.com/office/drawing/2014/main" id="{40529798-FC22-7BBE-8626-106465B942D8}"/>
                </a:ext>
              </a:extLst>
            </p:cNvPr>
            <p:cNvSpPr txBox="1"/>
            <p:nvPr/>
          </p:nvSpPr>
          <p:spPr>
            <a:xfrm>
              <a:off x="5175359" y="2015259"/>
              <a:ext cx="193852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850" i="1" dirty="0">
                  <a:solidFill>
                    <a:srgbClr val="8A97B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timed</a:t>
              </a:r>
              <a:endParaRPr lang="en-US" sz="850" dirty="0"/>
            </a:p>
          </p:txBody>
        </p:sp>
        <p:sp>
          <p:nvSpPr>
            <p:cNvPr id="91" name="Shape 43">
              <a:extLst>
                <a:ext uri="{FF2B5EF4-FFF2-40B4-BE49-F238E27FC236}">
                  <a16:creationId xmlns:a16="http://schemas.microsoft.com/office/drawing/2014/main" id="{EEE2701B-F88F-96FD-354E-0E6C0F9C7D46}"/>
                </a:ext>
              </a:extLst>
            </p:cNvPr>
            <p:cNvSpPr/>
            <p:nvPr/>
          </p:nvSpPr>
          <p:spPr>
            <a:xfrm>
              <a:off x="6144623" y="2326155"/>
              <a:ext cx="0" cy="237744"/>
            </a:xfrm>
            <a:prstGeom prst="line">
              <a:avLst/>
            </a:prstGeom>
            <a:noFill/>
            <a:ln w="13970">
              <a:solidFill>
                <a:srgbClr val="44507A"/>
              </a:solidFill>
              <a:prstDash val="solid"/>
              <a:tailEnd type="triangle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92" name="Text 44">
              <a:extLst>
                <a:ext uri="{FF2B5EF4-FFF2-40B4-BE49-F238E27FC236}">
                  <a16:creationId xmlns:a16="http://schemas.microsoft.com/office/drawing/2014/main" id="{CCE8780F-8A56-383D-5321-58B437D3CCAA}"/>
                </a:ext>
              </a:extLst>
            </p:cNvPr>
            <p:cNvSpPr txBox="1"/>
            <p:nvPr/>
          </p:nvSpPr>
          <p:spPr>
            <a:xfrm>
              <a:off x="8974691" y="2015259"/>
              <a:ext cx="1938528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850" i="1" dirty="0">
                  <a:solidFill>
                    <a:srgbClr val="8A97B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timed</a:t>
              </a:r>
              <a:endParaRPr lang="en-US" sz="850" dirty="0"/>
            </a:p>
          </p:txBody>
        </p:sp>
        <p:sp>
          <p:nvSpPr>
            <p:cNvPr id="93" name="Shape 45">
              <a:extLst>
                <a:ext uri="{FF2B5EF4-FFF2-40B4-BE49-F238E27FC236}">
                  <a16:creationId xmlns:a16="http://schemas.microsoft.com/office/drawing/2014/main" id="{3402446F-32DC-12BB-0501-E3AA0F52238C}"/>
                </a:ext>
              </a:extLst>
            </p:cNvPr>
            <p:cNvSpPr/>
            <p:nvPr/>
          </p:nvSpPr>
          <p:spPr>
            <a:xfrm>
              <a:off x="9943955" y="2326155"/>
              <a:ext cx="0" cy="237744"/>
            </a:xfrm>
            <a:prstGeom prst="line">
              <a:avLst/>
            </a:prstGeom>
            <a:noFill/>
            <a:ln w="13970">
              <a:solidFill>
                <a:srgbClr val="44507A"/>
              </a:solidFill>
              <a:prstDash val="solid"/>
              <a:tailEnd type="triangle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94" name="Shape 2">
              <a:extLst>
                <a:ext uri="{FF2B5EF4-FFF2-40B4-BE49-F238E27FC236}">
                  <a16:creationId xmlns:a16="http://schemas.microsoft.com/office/drawing/2014/main" id="{E64BF3A8-CBB9-19AA-A299-5F876C2D114D}"/>
                </a:ext>
              </a:extLst>
            </p:cNvPr>
            <p:cNvSpPr/>
            <p:nvPr/>
          </p:nvSpPr>
          <p:spPr>
            <a:xfrm>
              <a:off x="9388384" y="4500794"/>
              <a:ext cx="1115568" cy="868680"/>
            </a:xfrm>
            <a:prstGeom prst="roundRect">
              <a:avLst>
                <a:gd name="adj" fmla="val 6316"/>
              </a:avLst>
            </a:prstGeom>
            <a:solidFill>
              <a:srgbClr val="141B33"/>
            </a:solidFill>
            <a:ln w="17780">
              <a:solidFill>
                <a:srgbClr val="5A7FB8"/>
              </a:solidFill>
              <a:prstDash val="solid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95" name="Text 3">
              <a:extLst>
                <a:ext uri="{FF2B5EF4-FFF2-40B4-BE49-F238E27FC236}">
                  <a16:creationId xmlns:a16="http://schemas.microsoft.com/office/drawing/2014/main" id="{23DEB10D-F9B1-6C72-856A-3FD041367D3E}"/>
                </a:ext>
              </a:extLst>
            </p:cNvPr>
            <p:cNvSpPr txBox="1"/>
            <p:nvPr/>
          </p:nvSpPr>
          <p:spPr>
            <a:xfrm>
              <a:off x="9424960" y="4500794"/>
              <a:ext cx="1042416" cy="8686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950" b="1" dirty="0" err="1">
                  <a:solidFill>
                    <a:srgbClr val="E8EEF7"/>
                  </a:solidFill>
                  <a:ea typeface="Calibri"/>
                  <a:cs typeface="Calibri"/>
                </a:rPr>
                <a:t>Emotional</a:t>
              </a:r>
            </a:p>
            <a:p>
              <a:pPr algn="ctr"/>
              <a:r>
                <a:rPr lang="en-US" sz="950" b="1" dirty="0" err="1">
                  <a:solidFill>
                    <a:srgbClr val="E8EEF7"/>
                  </a:solidFill>
                  <a:ea typeface="Calibri"/>
                  <a:cs typeface="Calibri"/>
                </a:rPr>
                <a:t>trend</a:t>
              </a:r>
              <a:endParaRPr lang="en-US" dirty="0" err="1"/>
            </a:p>
          </p:txBody>
        </p:sp>
        <p:sp>
          <p:nvSpPr>
            <p:cNvPr id="96" name="Text 28">
              <a:extLst>
                <a:ext uri="{FF2B5EF4-FFF2-40B4-BE49-F238E27FC236}">
                  <a16:creationId xmlns:a16="http://schemas.microsoft.com/office/drawing/2014/main" id="{4F8EB79E-FCE6-7289-3FE2-4F71D722B9AF}"/>
                </a:ext>
              </a:extLst>
            </p:cNvPr>
            <p:cNvSpPr txBox="1"/>
            <p:nvPr/>
          </p:nvSpPr>
          <p:spPr>
            <a:xfrm>
              <a:off x="1064028" y="3834914"/>
              <a:ext cx="1298448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8FD9EC"/>
                  </a:solidFill>
                  <a:latin typeface="Calibri"/>
                  <a:ea typeface="Calibri"/>
                  <a:cs typeface="Calibri"/>
                </a:rPr>
                <a:t>START</a:t>
              </a:r>
              <a:endParaRPr lang="en-US" dirty="0"/>
            </a:p>
          </p:txBody>
        </p:sp>
        <p:sp>
          <p:nvSpPr>
            <p:cNvPr id="97" name="Shape 29">
              <a:extLst>
                <a:ext uri="{FF2B5EF4-FFF2-40B4-BE49-F238E27FC236}">
                  <a16:creationId xmlns:a16="http://schemas.microsoft.com/office/drawing/2014/main" id="{1BDD6D87-7D3E-99CC-2729-15A90AA4F32A}"/>
                </a:ext>
              </a:extLst>
            </p:cNvPr>
            <p:cNvSpPr/>
            <p:nvPr/>
          </p:nvSpPr>
          <p:spPr>
            <a:xfrm>
              <a:off x="1713252" y="3669161"/>
              <a:ext cx="0" cy="292608"/>
            </a:xfrm>
            <a:prstGeom prst="line">
              <a:avLst/>
            </a:prstGeom>
            <a:noFill/>
            <a:ln w="15240">
              <a:solidFill>
                <a:srgbClr val="8FD9EC"/>
              </a:solidFill>
              <a:prstDash val="solid"/>
              <a:headEnd type="triangle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98" name="Text 28">
              <a:extLst>
                <a:ext uri="{FF2B5EF4-FFF2-40B4-BE49-F238E27FC236}">
                  <a16:creationId xmlns:a16="http://schemas.microsoft.com/office/drawing/2014/main" id="{2691BDB9-49A7-C88B-B9AF-F9AB135E9691}"/>
                </a:ext>
              </a:extLst>
            </p:cNvPr>
            <p:cNvSpPr txBox="1"/>
            <p:nvPr/>
          </p:nvSpPr>
          <p:spPr>
            <a:xfrm>
              <a:off x="9940420" y="5558485"/>
              <a:ext cx="1298448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8FD9EC"/>
                  </a:solidFill>
                  <a:latin typeface="Calibri"/>
                  <a:ea typeface="Calibri"/>
                  <a:cs typeface="Calibri"/>
                </a:rPr>
                <a:t>END</a:t>
              </a:r>
              <a:endParaRPr lang="en-US" dirty="0"/>
            </a:p>
          </p:txBody>
        </p:sp>
        <p:sp>
          <p:nvSpPr>
            <p:cNvPr id="99" name="Shape 29">
              <a:extLst>
                <a:ext uri="{FF2B5EF4-FFF2-40B4-BE49-F238E27FC236}">
                  <a16:creationId xmlns:a16="http://schemas.microsoft.com/office/drawing/2014/main" id="{CB0134AC-5291-2B6C-1410-2A3D5E9B8033}"/>
                </a:ext>
              </a:extLst>
            </p:cNvPr>
            <p:cNvSpPr/>
            <p:nvPr/>
          </p:nvSpPr>
          <p:spPr>
            <a:xfrm>
              <a:off x="10589644" y="5392732"/>
              <a:ext cx="0" cy="292608"/>
            </a:xfrm>
            <a:prstGeom prst="line">
              <a:avLst/>
            </a:prstGeom>
            <a:noFill/>
            <a:ln w="15240">
              <a:solidFill>
                <a:srgbClr val="8FD9EC"/>
              </a:solidFill>
              <a:prstDash val="solid"/>
              <a:headEnd type="triangle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100" name="Shape 20">
              <a:extLst>
                <a:ext uri="{FF2B5EF4-FFF2-40B4-BE49-F238E27FC236}">
                  <a16:creationId xmlns:a16="http://schemas.microsoft.com/office/drawing/2014/main" id="{4BB7747F-B5E7-7F1E-FCE6-40848248CB5A}"/>
                </a:ext>
              </a:extLst>
            </p:cNvPr>
            <p:cNvSpPr/>
            <p:nvPr/>
          </p:nvSpPr>
          <p:spPr>
            <a:xfrm>
              <a:off x="10655190" y="4500793"/>
              <a:ext cx="1115568" cy="868680"/>
            </a:xfrm>
            <a:prstGeom prst="roundRect">
              <a:avLst>
                <a:gd name="adj" fmla="val 6316"/>
              </a:avLst>
            </a:prstGeom>
            <a:solidFill>
              <a:srgbClr val="141B33"/>
            </a:solidFill>
            <a:ln w="17780">
              <a:solidFill>
                <a:srgbClr val="E8B87F"/>
              </a:solidFill>
              <a:prstDash val="solid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101" name="Text 21">
              <a:extLst>
                <a:ext uri="{FF2B5EF4-FFF2-40B4-BE49-F238E27FC236}">
                  <a16:creationId xmlns:a16="http://schemas.microsoft.com/office/drawing/2014/main" id="{BFC7D5C8-3DFB-64BE-9734-699C1B385480}"/>
                </a:ext>
              </a:extLst>
            </p:cNvPr>
            <p:cNvSpPr txBox="1"/>
            <p:nvPr/>
          </p:nvSpPr>
          <p:spPr>
            <a:xfrm>
              <a:off x="10691766" y="4500793"/>
              <a:ext cx="1042416" cy="86868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algn="ctr"/>
              <a:r>
                <a:rPr lang="en-US" sz="950" b="1" dirty="0">
                  <a:solidFill>
                    <a:srgbClr val="E8B87F"/>
                  </a:solidFill>
                  <a:ea typeface="Calibri"/>
                  <a:cs typeface="Calibri"/>
                </a:rPr>
                <a:t>Final feedback</a:t>
              </a:r>
            </a:p>
          </p:txBody>
        </p:sp>
        <p:sp>
          <p:nvSpPr>
            <p:cNvPr id="102" name="Shape 45">
              <a:extLst>
                <a:ext uri="{FF2B5EF4-FFF2-40B4-BE49-F238E27FC236}">
                  <a16:creationId xmlns:a16="http://schemas.microsoft.com/office/drawing/2014/main" id="{C2878284-50E9-93AB-AF45-D366F331A3D6}"/>
                </a:ext>
              </a:extLst>
            </p:cNvPr>
            <p:cNvSpPr/>
            <p:nvPr/>
          </p:nvSpPr>
          <p:spPr>
            <a:xfrm>
              <a:off x="11218489" y="3537190"/>
              <a:ext cx="4536" cy="877279"/>
            </a:xfrm>
            <a:prstGeom prst="line">
              <a:avLst/>
            </a:prstGeom>
            <a:noFill/>
            <a:ln w="13970">
              <a:solidFill>
                <a:srgbClr val="44507A"/>
              </a:solidFill>
              <a:prstDash val="solid"/>
              <a:tailEnd type="triangle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103" name="Shape 45">
              <a:extLst>
                <a:ext uri="{FF2B5EF4-FFF2-40B4-BE49-F238E27FC236}">
                  <a16:creationId xmlns:a16="http://schemas.microsoft.com/office/drawing/2014/main" id="{8092F0A1-1CAA-CFC7-1A62-919307751486}"/>
                </a:ext>
              </a:extLst>
            </p:cNvPr>
            <p:cNvSpPr/>
            <p:nvPr/>
          </p:nvSpPr>
          <p:spPr>
            <a:xfrm flipH="1" flipV="1">
              <a:off x="10533595" y="4927004"/>
              <a:ext cx="122464" cy="7185"/>
            </a:xfrm>
            <a:prstGeom prst="line">
              <a:avLst/>
            </a:prstGeom>
            <a:noFill/>
            <a:ln w="13970">
              <a:solidFill>
                <a:srgbClr val="44507A"/>
              </a:solidFill>
              <a:prstDash val="solid"/>
              <a:tailEnd type="triangle"/>
            </a:ln>
          </p:spPr>
          <p:txBody>
            <a:bodyPr/>
            <a:lstStyle/>
            <a:p>
              <a:endParaRPr lang="en-IT"/>
            </a:p>
          </p:txBody>
        </p:sp>
        <p:cxnSp>
          <p:nvCxnSpPr>
            <p:cNvPr id="104" name="Straight Arrow Connector 69">
              <a:extLst>
                <a:ext uri="{FF2B5EF4-FFF2-40B4-BE49-F238E27FC236}">
                  <a16:creationId xmlns:a16="http://schemas.microsoft.com/office/drawing/2014/main" id="{09A711E5-6DCC-F312-6BF9-C8A5A739E31C}"/>
                </a:ext>
              </a:extLst>
            </p:cNvPr>
            <p:cNvCxnSpPr/>
            <p:nvPr/>
          </p:nvCxnSpPr>
          <p:spPr>
            <a:xfrm flipH="1" flipV="1">
              <a:off x="2360507" y="3636928"/>
              <a:ext cx="5503" cy="1309294"/>
            </a:xfrm>
            <a:prstGeom prst="straightConnector1">
              <a:avLst/>
            </a:prstGeom>
            <a:noFill/>
            <a:ln w="13970">
              <a:solidFill>
                <a:srgbClr val="44507A"/>
              </a:solidFill>
              <a:prstDash val="solid"/>
              <a:tailEnd type="triangle"/>
            </a:ln>
          </p:spPr>
        </p:cxnSp>
        <p:cxnSp>
          <p:nvCxnSpPr>
            <p:cNvPr id="105" name="Straight Arrow Connector 71">
              <a:extLst>
                <a:ext uri="{FF2B5EF4-FFF2-40B4-BE49-F238E27FC236}">
                  <a16:creationId xmlns:a16="http://schemas.microsoft.com/office/drawing/2014/main" id="{E67242F3-7403-57AB-B0A6-B593B948B172}"/>
                </a:ext>
              </a:extLst>
            </p:cNvPr>
            <p:cNvCxnSpPr/>
            <p:nvPr/>
          </p:nvCxnSpPr>
          <p:spPr>
            <a:xfrm>
              <a:off x="2358521" y="4935670"/>
              <a:ext cx="6956713" cy="460"/>
            </a:xfrm>
            <a:prstGeom prst="straightConnector1">
              <a:avLst/>
            </a:prstGeom>
            <a:ln w="12700">
              <a:solidFill>
                <a:srgbClr val="44507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Text 28">
              <a:extLst>
                <a:ext uri="{FF2B5EF4-FFF2-40B4-BE49-F238E27FC236}">
                  <a16:creationId xmlns:a16="http://schemas.microsoft.com/office/drawing/2014/main" id="{6F896BB4-86DB-0509-DC63-DAD3464C19AC}"/>
                </a:ext>
              </a:extLst>
            </p:cNvPr>
            <p:cNvSpPr txBox="1"/>
            <p:nvPr/>
          </p:nvSpPr>
          <p:spPr>
            <a:xfrm>
              <a:off x="5114420" y="5213770"/>
              <a:ext cx="1298448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900" b="1" dirty="0">
                  <a:solidFill>
                    <a:srgbClr val="8FD9EC"/>
                  </a:solidFill>
                  <a:latin typeface="Calibri"/>
                  <a:ea typeface="Calibri"/>
                  <a:cs typeface="Calibri"/>
                </a:rPr>
                <a:t>RESTART</a:t>
              </a:r>
              <a:endParaRPr lang="en-US" dirty="0"/>
            </a:p>
          </p:txBody>
        </p:sp>
        <p:sp>
          <p:nvSpPr>
            <p:cNvPr id="107" name="Shape 29">
              <a:extLst>
                <a:ext uri="{FF2B5EF4-FFF2-40B4-BE49-F238E27FC236}">
                  <a16:creationId xmlns:a16="http://schemas.microsoft.com/office/drawing/2014/main" id="{292294BE-5C9E-016B-E684-6792A2EE999A}"/>
                </a:ext>
              </a:extLst>
            </p:cNvPr>
            <p:cNvSpPr/>
            <p:nvPr/>
          </p:nvSpPr>
          <p:spPr>
            <a:xfrm>
              <a:off x="5763644" y="5048017"/>
              <a:ext cx="0" cy="292608"/>
            </a:xfrm>
            <a:prstGeom prst="line">
              <a:avLst/>
            </a:prstGeom>
            <a:noFill/>
            <a:ln w="15240">
              <a:solidFill>
                <a:srgbClr val="8FD9EC"/>
              </a:solidFill>
              <a:prstDash val="solid"/>
              <a:headEnd type="triangle"/>
            </a:ln>
          </p:spPr>
          <p:txBody>
            <a:bodyPr/>
            <a:lstStyle/>
            <a:p>
              <a:endParaRPr lang="en-IT"/>
            </a:p>
          </p:txBody>
        </p:sp>
      </p:grpSp>
      <p:pic>
        <p:nvPicPr>
          <p:cNvPr id="109" name="Immagine 108">
            <a:extLst>
              <a:ext uri="{FF2B5EF4-FFF2-40B4-BE49-F238E27FC236}">
                <a16:creationId xmlns:a16="http://schemas.microsoft.com/office/drawing/2014/main" id="{F8DB4903-2320-4D81-CDE6-71AEB9CA71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46127" y="9366735"/>
            <a:ext cx="795337" cy="79533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71525"/>
            <a:ext cx="1131838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52" dirty="0">
                <a:solidFill>
                  <a:srgbClr val="F0A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274838" y="807244"/>
            <a:ext cx="9525" cy="190500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2455813" y="762000"/>
            <a:ext cx="1930971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AA1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to Particles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828609" y="533400"/>
            <a:ext cx="1924273" cy="414338"/>
          </a:xfrm>
          <a:prstGeom prst="roundRect">
            <a:avLst>
              <a:gd name="adj" fmla="val 50000"/>
            </a:avLst>
          </a:prstGeom>
          <a:ln w="9525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9990534" y="609600"/>
            <a:ext cx="167662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PERCEPTION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1829083" y="533400"/>
            <a:ext cx="1931491" cy="414338"/>
          </a:xfrm>
          <a:prstGeom prst="roundRect">
            <a:avLst>
              <a:gd name="adj" fmla="val 50000"/>
            </a:avLst>
          </a:prstGeom>
          <a:ln w="9525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11991008" y="609600"/>
            <a:ext cx="1683841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RATIONALITY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3836774" y="533400"/>
            <a:ext cx="1256109" cy="414338"/>
          </a:xfrm>
          <a:prstGeom prst="roundRect">
            <a:avLst>
              <a:gd name="adj" fmla="val 50000"/>
            </a:avLst>
          </a:prstGeom>
          <a:solidFill>
            <a:srgbClr val="F0A488">
              <a:alpha val="16000"/>
            </a:srgbClr>
          </a:solidFill>
          <a:ln w="9525">
            <a:solidFill>
              <a:srgbClr val="F0A48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13998699" y="609600"/>
            <a:ext cx="1008459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F0A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5169083" y="533400"/>
            <a:ext cx="2071167" cy="414338"/>
          </a:xfrm>
          <a:prstGeom prst="roundRect">
            <a:avLst>
              <a:gd name="adj" fmla="val 50000"/>
            </a:avLst>
          </a:prstGeom>
          <a:ln w="9525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15331008" y="609600"/>
            <a:ext cx="1823517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PORTING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47750" y="1876425"/>
            <a:ext cx="9938290" cy="12573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800" b="1" kern="0" spc="-48" dirty="0">
                <a:solidFill>
                  <a:srgbClr val="F5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Turning a Phrase into Particles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1028700" y="3876675"/>
            <a:ext cx="60960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F0A488">
                    <a:alpha val="3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1790700" y="3876675"/>
            <a:ext cx="696157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9310"/>
              </a:lnSpc>
              <a:buNone/>
            </a:pPr>
            <a:r>
              <a:rPr lang="en-US" sz="1875" dirty="0">
                <a:solidFill>
                  <a:srgbClr val="DFE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phrase is drawn white on black on an offscreen canvas.</a:t>
            </a:r>
            <a:endParaRPr lang="en-US" sz="1875" dirty="0"/>
          </a:p>
        </p:txBody>
      </p:sp>
      <p:sp>
        <p:nvSpPr>
          <p:cNvPr id="16" name="Text 14"/>
          <p:cNvSpPr/>
          <p:nvPr/>
        </p:nvSpPr>
        <p:spPr>
          <a:xfrm>
            <a:off x="1028700" y="4591050"/>
            <a:ext cx="609600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F0A488">
                    <a:alpha val="3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1790700" y="4591050"/>
            <a:ext cx="7259955" cy="8667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9310"/>
              </a:lnSpc>
              <a:buNone/>
            </a:pPr>
            <a:r>
              <a:rPr lang="en-US" sz="1875" dirty="0">
                <a:solidFill>
                  <a:srgbClr val="DFE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Lit pixels above a brightness threshold are read — the silhouette of the letters.</a:t>
            </a:r>
            <a:endParaRPr lang="en-US" sz="1875" dirty="0"/>
          </a:p>
        </p:txBody>
      </p:sp>
      <p:sp>
        <p:nvSpPr>
          <p:cNvPr id="18" name="Text 16"/>
          <p:cNvSpPr/>
          <p:nvPr/>
        </p:nvSpPr>
        <p:spPr>
          <a:xfrm>
            <a:off x="1028700" y="5648325"/>
            <a:ext cx="609600" cy="752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F0A488">
                    <a:alpha val="3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300" dirty="0"/>
          </a:p>
        </p:txBody>
      </p:sp>
      <p:sp>
        <p:nvSpPr>
          <p:cNvPr id="19" name="Text 17"/>
          <p:cNvSpPr/>
          <p:nvPr/>
        </p:nvSpPr>
        <p:spPr>
          <a:xfrm>
            <a:off x="1790700" y="5648325"/>
            <a:ext cx="7259955" cy="752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9310"/>
              </a:lnSpc>
              <a:buNone/>
            </a:pPr>
            <a:r>
              <a:rPr lang="en-US" sz="1875" dirty="0">
                <a:solidFill>
                  <a:srgbClr val="DFE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~13,664 points are sampled at random among those pixels, with a fixed seed — reproducible.</a:t>
            </a:r>
            <a:endParaRPr lang="en-US" sz="1875" dirty="0"/>
          </a:p>
        </p:txBody>
      </p:sp>
      <p:sp>
        <p:nvSpPr>
          <p:cNvPr id="20" name="Text 18"/>
          <p:cNvSpPr/>
          <p:nvPr/>
        </p:nvSpPr>
        <p:spPr>
          <a:xfrm>
            <a:off x="1028700" y="6591300"/>
            <a:ext cx="60960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F0A488">
                    <a:alpha val="3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300" dirty="0"/>
          </a:p>
        </p:txBody>
      </p:sp>
      <p:sp>
        <p:nvSpPr>
          <p:cNvPr id="21" name="Text 19"/>
          <p:cNvSpPr/>
          <p:nvPr/>
        </p:nvSpPr>
        <p:spPr>
          <a:xfrm>
            <a:off x="1790700" y="6591300"/>
            <a:ext cx="703653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9310"/>
              </a:lnSpc>
              <a:buNone/>
            </a:pPr>
            <a:r>
              <a:rPr lang="en-US" sz="1875" dirty="0">
                <a:solidFill>
                  <a:srgbClr val="DFE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points are scaled and centered into the scene’s text box.</a:t>
            </a:r>
            <a:endParaRPr lang="en-US" sz="1875" dirty="0"/>
          </a:p>
        </p:txBody>
      </p:sp>
      <p:sp>
        <p:nvSpPr>
          <p:cNvPr id="22" name="Text 20"/>
          <p:cNvSpPr/>
          <p:nvPr/>
        </p:nvSpPr>
        <p:spPr>
          <a:xfrm>
            <a:off x="1028700" y="7305675"/>
            <a:ext cx="609600" cy="752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F0A488">
                    <a:alpha val="3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3300" dirty="0"/>
          </a:p>
        </p:txBody>
      </p:sp>
      <p:sp>
        <p:nvSpPr>
          <p:cNvPr id="23" name="Text 21"/>
          <p:cNvSpPr/>
          <p:nvPr/>
        </p:nvSpPr>
        <p:spPr>
          <a:xfrm>
            <a:off x="1790700" y="7305675"/>
            <a:ext cx="7259955" cy="752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9310"/>
              </a:lnSpc>
              <a:buNone/>
            </a:pPr>
            <a:r>
              <a:rPr lang="en-US" sz="1875" dirty="0">
                <a:solidFill>
                  <a:srgbClr val="DFE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 is an array of 3D positions (x, y, z≈0), cached for that phrase that each particles has to reach.</a:t>
            </a:r>
            <a:endParaRPr lang="en-US" sz="1875" dirty="0"/>
          </a:p>
        </p:txBody>
      </p:sp>
      <p:sp>
        <p:nvSpPr>
          <p:cNvPr id="24" name="Shape 22"/>
          <p:cNvSpPr/>
          <p:nvPr/>
        </p:nvSpPr>
        <p:spPr>
          <a:xfrm>
            <a:off x="9305925" y="4838700"/>
            <a:ext cx="8601075" cy="2247900"/>
          </a:xfrm>
          <a:prstGeom prst="rect">
            <a:avLst/>
          </a:prstGeom>
          <a:solidFill>
            <a:srgbClr val="7F7F7F">
              <a:alpha val="8000"/>
            </a:srgbClr>
          </a:solidFill>
          <a:ln/>
        </p:spPr>
        <p:txBody>
          <a:bodyPr/>
          <a:lstStyle/>
          <a:p>
            <a:endParaRPr lang="it-IT"/>
          </a:p>
        </p:txBody>
      </p:sp>
      <p:pic>
        <p:nvPicPr>
          <p:cNvPr id="25" name="Image 0" descr="preencoded.png"/>
          <p:cNvPicPr>
            <a:picLocks noChangeAspect="1"/>
          </p:cNvPicPr>
          <p:nvPr/>
        </p:nvPicPr>
        <p:blipFill>
          <a:blip r:embed="rId3"/>
          <a:srcRect t="3205" b="3205"/>
          <a:stretch/>
        </p:blipFill>
        <p:spPr>
          <a:xfrm>
            <a:off x="9305925" y="4838700"/>
            <a:ext cx="8601075" cy="2247900"/>
          </a:xfrm>
          <a:prstGeom prst="rect">
            <a:avLst/>
          </a:prstGeom>
        </p:spPr>
      </p:pic>
      <p:pic>
        <p:nvPicPr>
          <p:cNvPr id="26" name="Immagine 25">
            <a:extLst>
              <a:ext uri="{FF2B5EF4-FFF2-40B4-BE49-F238E27FC236}">
                <a16:creationId xmlns:a16="http://schemas.microsoft.com/office/drawing/2014/main" id="{D0C52C5C-11DF-41C4-22F6-3285758D5E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46127" y="9366735"/>
            <a:ext cx="795337" cy="79533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71525"/>
            <a:ext cx="1131838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52" dirty="0">
                <a:solidFill>
                  <a:srgbClr val="F0A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274838" y="807244"/>
            <a:ext cx="9525" cy="190500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2455813" y="762000"/>
            <a:ext cx="2512226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AA1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Particles on the Face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828609" y="533400"/>
            <a:ext cx="1924273" cy="414338"/>
          </a:xfrm>
          <a:prstGeom prst="roundRect">
            <a:avLst>
              <a:gd name="adj" fmla="val 50000"/>
            </a:avLst>
          </a:prstGeom>
          <a:ln w="9525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9990534" y="609600"/>
            <a:ext cx="167662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PERCEPTION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1829083" y="533400"/>
            <a:ext cx="1931491" cy="414338"/>
          </a:xfrm>
          <a:prstGeom prst="roundRect">
            <a:avLst>
              <a:gd name="adj" fmla="val 50000"/>
            </a:avLst>
          </a:prstGeom>
          <a:ln w="9525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11991008" y="609600"/>
            <a:ext cx="1683841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RATIONALITY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3836774" y="533400"/>
            <a:ext cx="1256109" cy="414338"/>
          </a:xfrm>
          <a:prstGeom prst="roundRect">
            <a:avLst>
              <a:gd name="adj" fmla="val 50000"/>
            </a:avLst>
          </a:prstGeom>
          <a:solidFill>
            <a:srgbClr val="F0A488">
              <a:alpha val="16000"/>
            </a:srgbClr>
          </a:solidFill>
          <a:ln w="9525">
            <a:solidFill>
              <a:srgbClr val="F0A48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13998699" y="609600"/>
            <a:ext cx="1008459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F0A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5169083" y="533400"/>
            <a:ext cx="2071167" cy="414338"/>
          </a:xfrm>
          <a:prstGeom prst="roundRect">
            <a:avLst>
              <a:gd name="adj" fmla="val 50000"/>
            </a:avLst>
          </a:prstGeom>
          <a:ln w="9525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15331008" y="609600"/>
            <a:ext cx="1823517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PORTING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47750" y="1619250"/>
            <a:ext cx="9211089" cy="14382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800" b="1" kern="0" spc="-48" dirty="0">
                <a:solidFill>
                  <a:srgbClr val="F5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Anchoring Particles to the Face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1047750" y="3876986"/>
            <a:ext cx="609600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F0A488">
                    <a:alpha val="3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1809750" y="3876986"/>
            <a:ext cx="5085418" cy="5238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9310"/>
              </a:lnSpc>
              <a:buNone/>
            </a:pPr>
            <a:r>
              <a:rPr lang="en-US" sz="1875" dirty="0">
                <a:solidFill>
                  <a:srgbClr val="DFE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MediaPipe gives 478 landmarks of the face.</a:t>
            </a:r>
            <a:endParaRPr lang="en-US" sz="1875" dirty="0"/>
          </a:p>
        </p:txBody>
      </p:sp>
      <p:sp>
        <p:nvSpPr>
          <p:cNvPr id="16" name="Text 14"/>
          <p:cNvSpPr/>
          <p:nvPr/>
        </p:nvSpPr>
        <p:spPr>
          <a:xfrm>
            <a:off x="1047750" y="4591361"/>
            <a:ext cx="609600" cy="752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F0A488">
                    <a:alpha val="3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1809750" y="4591361"/>
            <a:ext cx="7259955" cy="752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9310"/>
              </a:lnSpc>
              <a:buNone/>
            </a:pPr>
            <a:r>
              <a:rPr lang="en-US" sz="1875" dirty="0">
                <a:solidFill>
                  <a:srgbClr val="7EC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face_triangoli.txt </a:t>
            </a:r>
            <a:r>
              <a:rPr lang="en-US" sz="1875" dirty="0">
                <a:solidFill>
                  <a:srgbClr val="DFE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holds the fixed tessellation — the triangles between those indices.</a:t>
            </a:r>
            <a:endParaRPr lang="en-US" sz="1875" dirty="0"/>
          </a:p>
        </p:txBody>
      </p:sp>
      <p:sp>
        <p:nvSpPr>
          <p:cNvPr id="18" name="Text 16"/>
          <p:cNvSpPr/>
          <p:nvPr/>
        </p:nvSpPr>
        <p:spPr>
          <a:xfrm>
            <a:off x="1047750" y="5534336"/>
            <a:ext cx="609600" cy="7881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F0A488">
                    <a:alpha val="3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3300" dirty="0"/>
          </a:p>
        </p:txBody>
      </p:sp>
      <p:sp>
        <p:nvSpPr>
          <p:cNvPr id="19" name="Text 17"/>
          <p:cNvSpPr/>
          <p:nvPr/>
        </p:nvSpPr>
        <p:spPr>
          <a:xfrm>
            <a:off x="1809750" y="5534336"/>
            <a:ext cx="7259955" cy="78819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29310"/>
              </a:lnSpc>
              <a:buNone/>
            </a:pPr>
            <a:r>
              <a:rPr lang="en-US" sz="1875" dirty="0">
                <a:solidFill>
                  <a:srgbClr val="DFE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particle is assigned a triangle (A, B, C) and fixed random barycentric coordinates (w </a:t>
            </a:r>
            <a:r>
              <a:rPr lang="en-US" sz="1562" baseline="-40000" dirty="0">
                <a:solidFill>
                  <a:srgbClr val="DFE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r>
              <a:rPr lang="en-US" sz="1875" dirty="0">
                <a:solidFill>
                  <a:srgbClr val="DFE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w</a:t>
            </a:r>
            <a:r>
              <a:rPr lang="en-US" sz="1562" baseline="-40000" dirty="0">
                <a:solidFill>
                  <a:srgbClr val="DFE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r>
              <a:rPr lang="en-US" sz="1875" dirty="0">
                <a:solidFill>
                  <a:srgbClr val="DFE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w</a:t>
            </a:r>
            <a:r>
              <a:rPr lang="en-US" sz="1562" baseline="-40000" dirty="0">
                <a:solidFill>
                  <a:srgbClr val="DFE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</a:t>
            </a:r>
            <a:r>
              <a:rPr lang="en-US" sz="1875" dirty="0">
                <a:solidFill>
                  <a:srgbClr val="DFE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</a:t>
            </a:r>
            <a:endParaRPr lang="en-US" sz="1875" dirty="0"/>
          </a:p>
        </p:txBody>
      </p:sp>
      <p:sp>
        <p:nvSpPr>
          <p:cNvPr id="20" name="Text 18"/>
          <p:cNvSpPr/>
          <p:nvPr/>
        </p:nvSpPr>
        <p:spPr>
          <a:xfrm>
            <a:off x="1047750" y="6513030"/>
            <a:ext cx="609600" cy="752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300" b="1" dirty="0">
                <a:solidFill>
                  <a:srgbClr val="F0A488">
                    <a:alpha val="3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3300" dirty="0"/>
          </a:p>
        </p:txBody>
      </p:sp>
      <p:sp>
        <p:nvSpPr>
          <p:cNvPr id="21" name="Text 19"/>
          <p:cNvSpPr/>
          <p:nvPr/>
        </p:nvSpPr>
        <p:spPr>
          <a:xfrm>
            <a:off x="1809750" y="6513030"/>
            <a:ext cx="7259955" cy="752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9310"/>
              </a:lnSpc>
              <a:buNone/>
            </a:pPr>
            <a:r>
              <a:rPr lang="en-US" sz="1875" dirty="0">
                <a:solidFill>
                  <a:srgbClr val="DFE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assignment never changes — the particle always lives at the same relative point of the mesh.</a:t>
            </a:r>
            <a:endParaRPr lang="en-US" sz="1875" dirty="0"/>
          </a:p>
        </p:txBody>
      </p:sp>
      <p:pic>
        <p:nvPicPr>
          <p:cNvPr id="23" name="Image 0" descr="preencoded.png"/>
          <p:cNvPicPr>
            <a:picLocks noChangeAspect="1"/>
          </p:cNvPicPr>
          <p:nvPr/>
        </p:nvPicPr>
        <p:blipFill>
          <a:blip r:embed="rId3"/>
          <a:srcRect t="4464" b="4464"/>
          <a:stretch/>
        </p:blipFill>
        <p:spPr>
          <a:xfrm>
            <a:off x="11667157" y="3057525"/>
            <a:ext cx="5693465" cy="4880113"/>
          </a:xfrm>
          <a:prstGeom prst="rect">
            <a:avLst/>
          </a:prstGeom>
        </p:spPr>
      </p:pic>
      <p:pic>
        <p:nvPicPr>
          <p:cNvPr id="24" name="Immagine 23">
            <a:extLst>
              <a:ext uri="{FF2B5EF4-FFF2-40B4-BE49-F238E27FC236}">
                <a16:creationId xmlns:a16="http://schemas.microsoft.com/office/drawing/2014/main" id="{9D02278B-86F2-205E-DB67-CA5F55A1BF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46127" y="9366735"/>
            <a:ext cx="795337" cy="79533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l="14270" r="14270"/>
          <a:stretch/>
        </p:blipFill>
        <p:spPr>
          <a:xfrm>
            <a:off x="11298324" y="1081086"/>
            <a:ext cx="6989675" cy="9205913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1298324" y="1081088"/>
            <a:ext cx="6989676" cy="9205912"/>
          </a:xfrm>
          <a:prstGeom prst="rect">
            <a:avLst/>
          </a:prstGeom>
          <a:gradFill rotWithShape="1">
            <a:gsLst>
              <a:gs pos="0">
                <a:srgbClr val="05070D">
                  <a:alpha val="100000"/>
                </a:srgbClr>
              </a:gs>
              <a:gs pos="22000">
                <a:srgbClr val="05070D">
                  <a:alpha val="0"/>
                </a:srgbClr>
              </a:gs>
            </a:gsLst>
            <a:lin ang="0" scaled="0"/>
          </a:gra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Text 1"/>
          <p:cNvSpPr/>
          <p:nvPr/>
        </p:nvSpPr>
        <p:spPr>
          <a:xfrm>
            <a:off x="1047750" y="771525"/>
            <a:ext cx="1131838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52" dirty="0">
                <a:solidFill>
                  <a:srgbClr val="F0A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</a:t>
            </a:r>
            <a:endParaRPr lang="en-US" sz="1800" dirty="0"/>
          </a:p>
        </p:txBody>
      </p:sp>
      <p:sp>
        <p:nvSpPr>
          <p:cNvPr id="5" name="Shape 2"/>
          <p:cNvSpPr/>
          <p:nvPr/>
        </p:nvSpPr>
        <p:spPr>
          <a:xfrm>
            <a:off x="2274838" y="807244"/>
            <a:ext cx="9525" cy="190500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6" name="Text 3"/>
          <p:cNvSpPr/>
          <p:nvPr/>
        </p:nvSpPr>
        <p:spPr>
          <a:xfrm>
            <a:off x="2455813" y="762000"/>
            <a:ext cx="1575227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AA1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Particles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9828609" y="533400"/>
            <a:ext cx="1924273" cy="414338"/>
          </a:xfrm>
          <a:prstGeom prst="roundRect">
            <a:avLst>
              <a:gd name="adj" fmla="val 50000"/>
            </a:avLst>
          </a:prstGeom>
          <a:ln w="9525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5"/>
          <p:cNvSpPr/>
          <p:nvPr/>
        </p:nvSpPr>
        <p:spPr>
          <a:xfrm>
            <a:off x="9990534" y="609600"/>
            <a:ext cx="167662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PERCEPTION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11829083" y="533400"/>
            <a:ext cx="1931491" cy="414338"/>
          </a:xfrm>
          <a:prstGeom prst="roundRect">
            <a:avLst>
              <a:gd name="adj" fmla="val 50000"/>
            </a:avLst>
          </a:prstGeom>
          <a:ln w="9525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7"/>
          <p:cNvSpPr/>
          <p:nvPr/>
        </p:nvSpPr>
        <p:spPr>
          <a:xfrm>
            <a:off x="11991008" y="609600"/>
            <a:ext cx="1683841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RATIONALITY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13836774" y="533400"/>
            <a:ext cx="1256109" cy="414338"/>
          </a:xfrm>
          <a:prstGeom prst="roundRect">
            <a:avLst>
              <a:gd name="adj" fmla="val 50000"/>
            </a:avLst>
          </a:prstGeom>
          <a:solidFill>
            <a:srgbClr val="F0A488">
              <a:alpha val="16000"/>
            </a:srgbClr>
          </a:solidFill>
          <a:ln w="9525">
            <a:solidFill>
              <a:srgbClr val="F0A48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9"/>
          <p:cNvSpPr/>
          <p:nvPr/>
        </p:nvSpPr>
        <p:spPr>
          <a:xfrm>
            <a:off x="13998699" y="609600"/>
            <a:ext cx="1008459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F0A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15169083" y="533400"/>
            <a:ext cx="2071167" cy="414338"/>
          </a:xfrm>
          <a:prstGeom prst="roundRect">
            <a:avLst>
              <a:gd name="adj" fmla="val 50000"/>
            </a:avLst>
          </a:prstGeom>
          <a:ln w="9525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4" name="Text 11"/>
          <p:cNvSpPr/>
          <p:nvPr/>
        </p:nvSpPr>
        <p:spPr>
          <a:xfrm>
            <a:off x="15331008" y="609600"/>
            <a:ext cx="1823517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PORTING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047750" y="1619250"/>
            <a:ext cx="7819168" cy="1457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800" b="1" kern="0" spc="-48" dirty="0">
                <a:solidFill>
                  <a:srgbClr val="F5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13,664 Reactive Particles</a:t>
            </a:r>
            <a:endParaRPr lang="en-US" sz="4800" dirty="0"/>
          </a:p>
        </p:txBody>
      </p:sp>
      <p:sp>
        <p:nvSpPr>
          <p:cNvPr id="16" name="Shape 13"/>
          <p:cNvSpPr/>
          <p:nvPr/>
        </p:nvSpPr>
        <p:spPr>
          <a:xfrm>
            <a:off x="1047750" y="3048000"/>
            <a:ext cx="28575" cy="1219200"/>
          </a:xfrm>
          <a:prstGeom prst="rect">
            <a:avLst/>
          </a:prstGeom>
          <a:solidFill>
            <a:srgbClr val="F0A48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7" name="Text 14"/>
          <p:cNvSpPr/>
          <p:nvPr/>
        </p:nvSpPr>
        <p:spPr>
          <a:xfrm>
            <a:off x="1323975" y="3095625"/>
            <a:ext cx="6450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950" i="1" dirty="0">
                <a:solidFill>
                  <a:srgbClr val="C8CB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 particle system is a collection of many minute particles that together represent a fuzzy object.”</a:t>
            </a:r>
            <a:endParaRPr lang="en-US" sz="1950" dirty="0"/>
          </a:p>
        </p:txBody>
      </p:sp>
      <p:sp>
        <p:nvSpPr>
          <p:cNvPr id="18" name="Text 15"/>
          <p:cNvSpPr/>
          <p:nvPr/>
        </p:nvSpPr>
        <p:spPr>
          <a:xfrm>
            <a:off x="1323975" y="3924300"/>
            <a:ext cx="733425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909"/>
              </a:lnSpc>
              <a:buNone/>
            </a:pPr>
            <a:r>
              <a:rPr lang="en-US" sz="1800" dirty="0">
                <a:solidFill>
                  <a:srgbClr val="7D8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 W. T. Reeves, Lucasfilm, 1982</a:t>
            </a:r>
            <a:endParaRPr lang="en-US" sz="1800" dirty="0"/>
          </a:p>
        </p:txBody>
      </p:sp>
      <p:pic>
        <p:nvPicPr>
          <p:cNvPr id="27" name="Image 0" descr="/tmp/ppt/p_seek.png">
            <a:extLst>
              <a:ext uri="{FF2B5EF4-FFF2-40B4-BE49-F238E27FC236}">
                <a16:creationId xmlns:a16="http://schemas.microsoft.com/office/drawing/2014/main" id="{A9861508-F283-A048-F2A7-76859576342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4435" y="5246752"/>
            <a:ext cx="2743200" cy="2212848"/>
          </a:xfrm>
          <a:prstGeom prst="rect">
            <a:avLst/>
          </a:prstGeom>
        </p:spPr>
      </p:pic>
      <p:sp>
        <p:nvSpPr>
          <p:cNvPr id="28" name="Text 3">
            <a:extLst>
              <a:ext uri="{FF2B5EF4-FFF2-40B4-BE49-F238E27FC236}">
                <a16:creationId xmlns:a16="http://schemas.microsoft.com/office/drawing/2014/main" id="{709A9CBD-7C75-10C5-94F3-FBD8FC3D682A}"/>
              </a:ext>
            </a:extLst>
          </p:cNvPr>
          <p:cNvSpPr txBox="1"/>
          <p:nvPr/>
        </p:nvSpPr>
        <p:spPr>
          <a:xfrm>
            <a:off x="380387" y="7532752"/>
            <a:ext cx="3502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FD9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SEEK</a:t>
            </a:r>
            <a:endParaRPr lang="en-US" sz="1400" dirty="0"/>
          </a:p>
        </p:txBody>
      </p:sp>
      <p:sp>
        <p:nvSpPr>
          <p:cNvPr id="29" name="Text 4">
            <a:extLst>
              <a:ext uri="{FF2B5EF4-FFF2-40B4-BE49-F238E27FC236}">
                <a16:creationId xmlns:a16="http://schemas.microsoft.com/office/drawing/2014/main" id="{F21094E0-C862-F60A-6C83-DC49A2BFD7B2}"/>
              </a:ext>
            </a:extLst>
          </p:cNvPr>
          <p:cNvSpPr txBox="1"/>
          <p:nvPr/>
        </p:nvSpPr>
        <p:spPr>
          <a:xfrm>
            <a:off x="517547" y="7916800"/>
            <a:ext cx="3227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chases its own position with its own inertia: it compares where it is with where it would like to be, and applies a force.</a:t>
            </a:r>
            <a:endParaRPr lang="en-US" sz="1100" dirty="0"/>
          </a:p>
        </p:txBody>
      </p:sp>
      <p:pic>
        <p:nvPicPr>
          <p:cNvPr id="30" name="Image 1" descr="/tmp/ppt/p_repulsione.png">
            <a:extLst>
              <a:ext uri="{FF2B5EF4-FFF2-40B4-BE49-F238E27FC236}">
                <a16:creationId xmlns:a16="http://schemas.microsoft.com/office/drawing/2014/main" id="{700450E2-FBD5-2541-B7F1-8EE10C77D0C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0907" y="5246752"/>
            <a:ext cx="2743200" cy="2212848"/>
          </a:xfrm>
          <a:prstGeom prst="rect">
            <a:avLst/>
          </a:prstGeom>
        </p:spPr>
      </p:pic>
      <p:sp>
        <p:nvSpPr>
          <p:cNvPr id="31" name="Text 5">
            <a:extLst>
              <a:ext uri="{FF2B5EF4-FFF2-40B4-BE49-F238E27FC236}">
                <a16:creationId xmlns:a16="http://schemas.microsoft.com/office/drawing/2014/main" id="{2FAEC099-D8D8-0ECB-085F-52BD684C38B6}"/>
              </a:ext>
            </a:extLst>
          </p:cNvPr>
          <p:cNvSpPr txBox="1"/>
          <p:nvPr/>
        </p:nvSpPr>
        <p:spPr>
          <a:xfrm>
            <a:off x="4156859" y="7532752"/>
            <a:ext cx="3502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888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REPULSION</a:t>
            </a:r>
            <a:endParaRPr lang="en-US" sz="1400" dirty="0"/>
          </a:p>
        </p:txBody>
      </p:sp>
      <p:sp>
        <p:nvSpPr>
          <p:cNvPr id="32" name="Text 6">
            <a:extLst>
              <a:ext uri="{FF2B5EF4-FFF2-40B4-BE49-F238E27FC236}">
                <a16:creationId xmlns:a16="http://schemas.microsoft.com/office/drawing/2014/main" id="{423041D6-91A4-4515-6A70-C08BD204E86A}"/>
              </a:ext>
            </a:extLst>
          </p:cNvPr>
          <p:cNvSpPr txBox="1"/>
          <p:nvPr/>
        </p:nvSpPr>
        <p:spPr>
          <a:xfrm>
            <a:off x="4294019" y="7916800"/>
            <a:ext cx="3227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nose repels whatever passes near it. The push decreases with the square of the distance and drops to zero at the edge of the radius.</a:t>
            </a:r>
            <a:endParaRPr lang="en-US" sz="1100" dirty="0"/>
          </a:p>
        </p:txBody>
      </p:sp>
      <p:pic>
        <p:nvPicPr>
          <p:cNvPr id="33" name="Image 2" descr="/tmp/ppt/p_swarm.png">
            <a:extLst>
              <a:ext uri="{FF2B5EF4-FFF2-40B4-BE49-F238E27FC236}">
                <a16:creationId xmlns:a16="http://schemas.microsoft.com/office/drawing/2014/main" id="{71F67025-3451-BAB8-BBF0-C9F4AE9A2F5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17379" y="5246752"/>
            <a:ext cx="2743200" cy="2212848"/>
          </a:xfrm>
          <a:prstGeom prst="rect">
            <a:avLst/>
          </a:prstGeom>
        </p:spPr>
      </p:pic>
      <p:sp>
        <p:nvSpPr>
          <p:cNvPr id="34" name="Text 8">
            <a:extLst>
              <a:ext uri="{FF2B5EF4-FFF2-40B4-BE49-F238E27FC236}">
                <a16:creationId xmlns:a16="http://schemas.microsoft.com/office/drawing/2014/main" id="{D828B9F8-44FF-49C4-72C7-C89ACCB19C5D}"/>
              </a:ext>
            </a:extLst>
          </p:cNvPr>
          <p:cNvSpPr txBox="1"/>
          <p:nvPr/>
        </p:nvSpPr>
        <p:spPr>
          <a:xfrm>
            <a:off x="8070491" y="7916800"/>
            <a:ext cx="3227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5000"/>
              </a:lnSpc>
              <a:buNone/>
            </a:pPr>
            <a:r>
              <a:rPr lang="en-US" sz="1100" dirty="0">
                <a:solidFill>
                  <a:srgbClr val="E8EE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interaction between particles: the shape emerges from the sum of these forces.</a:t>
            </a:r>
            <a:endParaRPr lang="en-US" sz="1100" dirty="0"/>
          </a:p>
        </p:txBody>
      </p:sp>
      <p:sp>
        <p:nvSpPr>
          <p:cNvPr id="37" name="Text 7">
            <a:extLst>
              <a:ext uri="{FF2B5EF4-FFF2-40B4-BE49-F238E27FC236}">
                <a16:creationId xmlns:a16="http://schemas.microsoft.com/office/drawing/2014/main" id="{A3B4DF65-BF34-9B6F-4C0A-8BCC6129D38B}"/>
              </a:ext>
            </a:extLst>
          </p:cNvPr>
          <p:cNvSpPr txBox="1"/>
          <p:nvPr/>
        </p:nvSpPr>
        <p:spPr>
          <a:xfrm>
            <a:off x="7933332" y="7580758"/>
            <a:ext cx="35021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A7F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SWARM</a:t>
            </a:r>
            <a:endParaRPr lang="en-US" sz="1400" dirty="0"/>
          </a:p>
        </p:txBody>
      </p:sp>
      <p:pic>
        <p:nvPicPr>
          <p:cNvPr id="38" name="Immagine 37">
            <a:extLst>
              <a:ext uri="{FF2B5EF4-FFF2-40B4-BE49-F238E27FC236}">
                <a16:creationId xmlns:a16="http://schemas.microsoft.com/office/drawing/2014/main" id="{F739781D-242A-D740-4500-D665B3615E1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346127" y="9366735"/>
            <a:ext cx="795337" cy="79533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71525"/>
            <a:ext cx="1131838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52" dirty="0">
                <a:solidFill>
                  <a:srgbClr val="F0A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274838" y="807244"/>
            <a:ext cx="9525" cy="190500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2455813" y="762000"/>
            <a:ext cx="1217042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AA1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Music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828609" y="533400"/>
            <a:ext cx="1924273" cy="414338"/>
          </a:xfrm>
          <a:prstGeom prst="roundRect">
            <a:avLst>
              <a:gd name="adj" fmla="val 50000"/>
            </a:avLst>
          </a:prstGeom>
          <a:ln w="9525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9990534" y="609600"/>
            <a:ext cx="167662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PERCEPTION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1829083" y="533400"/>
            <a:ext cx="1931491" cy="414338"/>
          </a:xfrm>
          <a:prstGeom prst="roundRect">
            <a:avLst>
              <a:gd name="adj" fmla="val 50000"/>
            </a:avLst>
          </a:prstGeom>
          <a:ln w="9525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11991008" y="609600"/>
            <a:ext cx="1683841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RATIONALITY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3836774" y="533400"/>
            <a:ext cx="1256109" cy="414338"/>
          </a:xfrm>
          <a:prstGeom prst="roundRect">
            <a:avLst>
              <a:gd name="adj" fmla="val 50000"/>
            </a:avLst>
          </a:prstGeom>
          <a:solidFill>
            <a:srgbClr val="F0A488">
              <a:alpha val="16000"/>
            </a:srgbClr>
          </a:solidFill>
          <a:ln w="9525">
            <a:solidFill>
              <a:srgbClr val="F0A48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13998699" y="609600"/>
            <a:ext cx="1008459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F0A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5169083" y="533400"/>
            <a:ext cx="2071167" cy="414338"/>
          </a:xfrm>
          <a:prstGeom prst="roundRect">
            <a:avLst>
              <a:gd name="adj" fmla="val 50000"/>
            </a:avLst>
          </a:prstGeom>
          <a:ln w="9525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15331008" y="609600"/>
            <a:ext cx="1823517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PORTING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47750" y="1619250"/>
            <a:ext cx="7175532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5100" b="1" kern="0" spc="-51" dirty="0">
                <a:solidFill>
                  <a:srgbClr val="F5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Emotion to Score</a:t>
            </a:r>
            <a:endParaRPr lang="en-US" sz="5100" dirty="0"/>
          </a:p>
        </p:txBody>
      </p:sp>
      <p:sp>
        <p:nvSpPr>
          <p:cNvPr id="14" name="Text 12"/>
          <p:cNvSpPr/>
          <p:nvPr/>
        </p:nvSpPr>
        <p:spPr>
          <a:xfrm>
            <a:off x="1047750" y="3048000"/>
            <a:ext cx="85915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0A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Iso Principle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47750" y="3443288"/>
            <a:ext cx="8044815" cy="12782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3538"/>
              </a:lnSpc>
              <a:buNone/>
            </a:pPr>
            <a:r>
              <a:rPr lang="en-US" sz="2100" dirty="0">
                <a:solidFill>
                  <a:srgbClr val="DFE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Music meets the listener’s energy before easing it down. Someone who starts agitated doesn’t get a lullaby right away — they get their own agitation, which then settles.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047750" y="5007248"/>
            <a:ext cx="85915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0A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 and Q2 Follow the Same Descent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047750" y="5402535"/>
            <a:ext cx="8044815" cy="12782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538"/>
              </a:lnSpc>
              <a:buNone/>
            </a:pPr>
            <a:r>
              <a:rPr lang="en-US" sz="2100" dirty="0">
                <a:solidFill>
                  <a:srgbClr val="DFE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But start from tonally opposite tracks: one bright, one dark. And calm isn’t silence — Q3 and Q4 settle onto a gentle pulse, not zero.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982200" y="3238500"/>
            <a:ext cx="7258050" cy="6115050"/>
          </a:xfrm>
          <a:prstGeom prst="roundRect">
            <a:avLst>
              <a:gd name="adj" fmla="val 3115"/>
            </a:avLst>
          </a:prstGeom>
          <a:solidFill>
            <a:srgbClr val="12172A"/>
          </a:solidFill>
          <a:ln w="9525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Shape 17"/>
          <p:cNvSpPr/>
          <p:nvPr/>
        </p:nvSpPr>
        <p:spPr>
          <a:xfrm>
            <a:off x="10372725" y="3629025"/>
            <a:ext cx="3162300" cy="2590800"/>
          </a:xfrm>
          <a:prstGeom prst="roundRect">
            <a:avLst>
              <a:gd name="adj" fmla="val 5147"/>
            </a:avLst>
          </a:prstGeom>
          <a:solidFill>
            <a:srgbClr val="1B2340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0" name="Text 18"/>
          <p:cNvSpPr/>
          <p:nvPr/>
        </p:nvSpPr>
        <p:spPr>
          <a:xfrm>
            <a:off x="11788676" y="4602956"/>
            <a:ext cx="406598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F5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10935519" y="4964906"/>
            <a:ext cx="2240302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7D8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energy, bright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3687425" y="3629025"/>
            <a:ext cx="3162300" cy="2590800"/>
          </a:xfrm>
          <a:prstGeom prst="roundRect">
            <a:avLst>
              <a:gd name="adj" fmla="val 5147"/>
            </a:avLst>
          </a:prstGeom>
          <a:solidFill>
            <a:srgbClr val="241A2A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3" name="Text 21"/>
          <p:cNvSpPr/>
          <p:nvPr/>
        </p:nvSpPr>
        <p:spPr>
          <a:xfrm>
            <a:off x="15103376" y="4602956"/>
            <a:ext cx="406598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F5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1950" dirty="0"/>
          </a:p>
        </p:txBody>
      </p:sp>
      <p:sp>
        <p:nvSpPr>
          <p:cNvPr id="24" name="Text 22"/>
          <p:cNvSpPr/>
          <p:nvPr/>
        </p:nvSpPr>
        <p:spPr>
          <a:xfrm>
            <a:off x="14325377" y="4964906"/>
            <a:ext cx="2074954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7D8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energy, dark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10372725" y="6372225"/>
            <a:ext cx="3162300" cy="2590800"/>
          </a:xfrm>
          <a:prstGeom prst="roundRect">
            <a:avLst>
              <a:gd name="adj" fmla="val 5147"/>
            </a:avLst>
          </a:prstGeom>
          <a:solidFill>
            <a:srgbClr val="12241F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6" name="Text 24"/>
          <p:cNvSpPr/>
          <p:nvPr/>
        </p:nvSpPr>
        <p:spPr>
          <a:xfrm>
            <a:off x="11788676" y="7346156"/>
            <a:ext cx="406598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F5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1950" dirty="0"/>
          </a:p>
        </p:txBody>
      </p:sp>
      <p:sp>
        <p:nvSpPr>
          <p:cNvPr id="27" name="Text 25"/>
          <p:cNvSpPr/>
          <p:nvPr/>
        </p:nvSpPr>
        <p:spPr>
          <a:xfrm>
            <a:off x="11313468" y="7708106"/>
            <a:ext cx="1408814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7D8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calm, bright</a:t>
            </a:r>
            <a:endParaRPr lang="en-US" sz="1800" dirty="0"/>
          </a:p>
        </p:txBody>
      </p:sp>
      <p:sp>
        <p:nvSpPr>
          <p:cNvPr id="28" name="Shape 26"/>
          <p:cNvSpPr/>
          <p:nvPr/>
        </p:nvSpPr>
        <p:spPr>
          <a:xfrm>
            <a:off x="13687425" y="6372225"/>
            <a:ext cx="3162300" cy="2590800"/>
          </a:xfrm>
          <a:prstGeom prst="roundRect">
            <a:avLst>
              <a:gd name="adj" fmla="val 5147"/>
            </a:avLst>
          </a:prstGeom>
          <a:solidFill>
            <a:srgbClr val="161B2C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9" name="Text 27"/>
          <p:cNvSpPr/>
          <p:nvPr/>
        </p:nvSpPr>
        <p:spPr>
          <a:xfrm>
            <a:off x="15103376" y="7346156"/>
            <a:ext cx="406598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b="1" dirty="0">
                <a:solidFill>
                  <a:srgbClr val="F5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1950" dirty="0"/>
          </a:p>
        </p:txBody>
      </p:sp>
      <p:sp>
        <p:nvSpPr>
          <p:cNvPr id="30" name="Text 28"/>
          <p:cNvSpPr/>
          <p:nvPr/>
        </p:nvSpPr>
        <p:spPr>
          <a:xfrm>
            <a:off x="14703326" y="7708106"/>
            <a:ext cx="1206624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7D8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calm, dark</a:t>
            </a:r>
            <a:endParaRPr lang="en-US" sz="1800" dirty="0"/>
          </a:p>
        </p:txBody>
      </p:sp>
      <p:pic>
        <p:nvPicPr>
          <p:cNvPr id="31" name="Immagine 30">
            <a:extLst>
              <a:ext uri="{FF2B5EF4-FFF2-40B4-BE49-F238E27FC236}">
                <a16:creationId xmlns:a16="http://schemas.microsoft.com/office/drawing/2014/main" id="{E834848D-5434-AA15-955C-7DE2B03163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46127" y="9366735"/>
            <a:ext cx="795337" cy="79533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71525"/>
            <a:ext cx="1131838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52" dirty="0">
                <a:solidFill>
                  <a:srgbClr val="F0A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274838" y="807244"/>
            <a:ext cx="9525" cy="190500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2455813" y="762000"/>
            <a:ext cx="1217042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AA1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Music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828609" y="533400"/>
            <a:ext cx="1924273" cy="414338"/>
          </a:xfrm>
          <a:prstGeom prst="roundRect">
            <a:avLst>
              <a:gd name="adj" fmla="val 50000"/>
            </a:avLst>
          </a:prstGeom>
          <a:ln w="9525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9990534" y="609600"/>
            <a:ext cx="167662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PERCEPTION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1829083" y="533400"/>
            <a:ext cx="1931491" cy="414338"/>
          </a:xfrm>
          <a:prstGeom prst="roundRect">
            <a:avLst>
              <a:gd name="adj" fmla="val 50000"/>
            </a:avLst>
          </a:prstGeom>
          <a:ln w="9525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11991008" y="609600"/>
            <a:ext cx="1683841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RATIONALITY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3836774" y="533400"/>
            <a:ext cx="1256109" cy="414338"/>
          </a:xfrm>
          <a:prstGeom prst="roundRect">
            <a:avLst>
              <a:gd name="adj" fmla="val 50000"/>
            </a:avLst>
          </a:prstGeom>
          <a:solidFill>
            <a:srgbClr val="F0A488">
              <a:alpha val="16000"/>
            </a:srgbClr>
          </a:solidFill>
          <a:ln w="9525">
            <a:solidFill>
              <a:srgbClr val="F0A48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13998699" y="609600"/>
            <a:ext cx="1008459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F0A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5169083" y="533400"/>
            <a:ext cx="2071167" cy="414338"/>
          </a:xfrm>
          <a:prstGeom prst="roundRect">
            <a:avLst>
              <a:gd name="adj" fmla="val 50000"/>
            </a:avLst>
          </a:prstGeom>
          <a:ln w="9525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15331008" y="609600"/>
            <a:ext cx="1823517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PORTING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47750" y="1619250"/>
            <a:ext cx="9820855" cy="695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4500" b="1" kern="0" spc="-45" dirty="0">
                <a:solidFill>
                  <a:srgbClr val="F5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MuseMorphose: A Transformer‑VAE</a:t>
            </a:r>
            <a:endParaRPr lang="en-US" sz="4500" dirty="0"/>
          </a:p>
        </p:txBody>
      </p:sp>
      <p:sp>
        <p:nvSpPr>
          <p:cNvPr id="35" name="Text 33"/>
          <p:cNvSpPr/>
          <p:nvPr/>
        </p:nvSpPr>
        <p:spPr>
          <a:xfrm>
            <a:off x="1047750" y="7998281"/>
            <a:ext cx="8142923" cy="16406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333"/>
              </a:lnSpc>
              <a:buNone/>
            </a:pPr>
            <a:r>
              <a:rPr lang="en-US" sz="1950" dirty="0">
                <a:solidFill>
                  <a:srgbClr val="C8CB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encoder compresses each bar into a point in latent space. The decoder rewrites it — but with the density values we impose, bar by bar. Same musical material, different performance.</a:t>
            </a:r>
            <a:endParaRPr lang="en-US" sz="1950" dirty="0"/>
          </a:p>
        </p:txBody>
      </p:sp>
      <p:sp>
        <p:nvSpPr>
          <p:cNvPr id="36" name="Text 34"/>
          <p:cNvSpPr/>
          <p:nvPr/>
        </p:nvSpPr>
        <p:spPr>
          <a:xfrm>
            <a:off x="9361558" y="8036719"/>
            <a:ext cx="8142923" cy="164068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333"/>
              </a:lnSpc>
              <a:buNone/>
            </a:pPr>
            <a:r>
              <a:rPr lang="en-US" sz="1950" dirty="0">
                <a:solidFill>
                  <a:srgbClr val="C8CB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a VAE, not a network composing from scratch: the regularized latent space lets us preserve the material and change only its performance — exactly what an emotional trajectory needs.</a:t>
            </a:r>
            <a:endParaRPr lang="en-US" sz="1950" dirty="0"/>
          </a:p>
        </p:txBody>
      </p:sp>
      <p:sp>
        <p:nvSpPr>
          <p:cNvPr id="37" name="Text 35"/>
          <p:cNvSpPr/>
          <p:nvPr/>
        </p:nvSpPr>
        <p:spPr>
          <a:xfrm>
            <a:off x="1047750" y="9472613"/>
            <a:ext cx="8249476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Wu &amp; Yang, IEEE/ACM TASLP 2022 · model used without modification</a:t>
            </a:r>
            <a:endParaRPr lang="en-US" sz="1800" dirty="0"/>
          </a:p>
        </p:txBody>
      </p:sp>
      <p:grpSp>
        <p:nvGrpSpPr>
          <p:cNvPr id="62" name="Gruppo 61">
            <a:extLst>
              <a:ext uri="{FF2B5EF4-FFF2-40B4-BE49-F238E27FC236}">
                <a16:creationId xmlns:a16="http://schemas.microsoft.com/office/drawing/2014/main" id="{BE0CDD94-EB96-06E9-946A-CBDCBEBA0EB8}"/>
              </a:ext>
            </a:extLst>
          </p:cNvPr>
          <p:cNvGrpSpPr/>
          <p:nvPr/>
        </p:nvGrpSpPr>
        <p:grpSpPr>
          <a:xfrm>
            <a:off x="2523746" y="3121512"/>
            <a:ext cx="13333854" cy="4108269"/>
            <a:chOff x="502920" y="2606040"/>
            <a:chExt cx="11155680" cy="3063240"/>
          </a:xfrm>
        </p:grpSpPr>
        <p:sp>
          <p:nvSpPr>
            <p:cNvPr id="38" name="Shape 3">
              <a:extLst>
                <a:ext uri="{FF2B5EF4-FFF2-40B4-BE49-F238E27FC236}">
                  <a16:creationId xmlns:a16="http://schemas.microsoft.com/office/drawing/2014/main" id="{26E19515-7ECD-8916-A0DA-D879057FE909}"/>
                </a:ext>
              </a:extLst>
            </p:cNvPr>
            <p:cNvSpPr/>
            <p:nvPr/>
          </p:nvSpPr>
          <p:spPr>
            <a:xfrm>
              <a:off x="502920" y="2606040"/>
              <a:ext cx="1874520" cy="1417320"/>
            </a:xfrm>
            <a:prstGeom prst="roundRect">
              <a:avLst>
                <a:gd name="adj" fmla="val 3226"/>
              </a:avLst>
            </a:prstGeom>
            <a:solidFill>
              <a:srgbClr val="141B33"/>
            </a:solidFill>
            <a:ln w="19050">
              <a:solidFill>
                <a:srgbClr val="5A7FB8"/>
              </a:solidFill>
              <a:prstDash val="solid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39" name="Text 4">
              <a:extLst>
                <a:ext uri="{FF2B5EF4-FFF2-40B4-BE49-F238E27FC236}">
                  <a16:creationId xmlns:a16="http://schemas.microsoft.com/office/drawing/2014/main" id="{184778BF-65D5-5910-8260-00AC97369F9E}"/>
                </a:ext>
              </a:extLst>
            </p:cNvPr>
            <p:cNvSpPr txBox="1"/>
            <p:nvPr/>
          </p:nvSpPr>
          <p:spPr>
            <a:xfrm>
              <a:off x="557784" y="2788920"/>
              <a:ext cx="1764792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50" b="1" dirty="0">
                  <a:solidFill>
                    <a:srgbClr val="5A7FB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Reference</a:t>
              </a:r>
              <a:endParaRPr lang="en-US" sz="1250" dirty="0"/>
            </a:p>
            <a:p>
              <a:pPr marL="0" indent="0" algn="ctr">
                <a:buNone/>
              </a:pPr>
              <a:r>
                <a:rPr lang="en-US" sz="1250" b="1" dirty="0">
                  <a:solidFill>
                    <a:srgbClr val="5A7FB8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track</a:t>
              </a:r>
              <a:endParaRPr lang="en-US" sz="1250" dirty="0"/>
            </a:p>
          </p:txBody>
        </p:sp>
        <p:sp>
          <p:nvSpPr>
            <p:cNvPr id="40" name="Text 5">
              <a:extLst>
                <a:ext uri="{FF2B5EF4-FFF2-40B4-BE49-F238E27FC236}">
                  <a16:creationId xmlns:a16="http://schemas.microsoft.com/office/drawing/2014/main" id="{06AEF672-C68A-CD03-64B0-50DE2B6FE909}"/>
                </a:ext>
              </a:extLst>
            </p:cNvPr>
            <p:cNvSpPr txBox="1"/>
            <p:nvPr/>
          </p:nvSpPr>
          <p:spPr>
            <a:xfrm>
              <a:off x="557784" y="3355848"/>
              <a:ext cx="1764792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05000"/>
                </a:lnSpc>
                <a:buNone/>
              </a:pPr>
              <a:r>
                <a:rPr lang="en-US" sz="1000" dirty="0">
                  <a:solidFill>
                    <a:srgbClr val="E8EEF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MIDI, by bar</a:t>
              </a:r>
              <a:endParaRPr lang="en-US" sz="1000" dirty="0"/>
            </a:p>
          </p:txBody>
        </p:sp>
        <p:sp>
          <p:nvSpPr>
            <p:cNvPr id="41" name="Shape 6">
              <a:extLst>
                <a:ext uri="{FF2B5EF4-FFF2-40B4-BE49-F238E27FC236}">
                  <a16:creationId xmlns:a16="http://schemas.microsoft.com/office/drawing/2014/main" id="{32CCA9FD-0882-EFE5-EB46-992AE249273F}"/>
                </a:ext>
              </a:extLst>
            </p:cNvPr>
            <p:cNvSpPr/>
            <p:nvPr/>
          </p:nvSpPr>
          <p:spPr>
            <a:xfrm>
              <a:off x="2743200" y="2606040"/>
              <a:ext cx="2011680" cy="1417320"/>
            </a:xfrm>
            <a:prstGeom prst="roundRect">
              <a:avLst>
                <a:gd name="adj" fmla="val 3226"/>
              </a:avLst>
            </a:prstGeom>
            <a:solidFill>
              <a:srgbClr val="141B33"/>
            </a:solidFill>
            <a:ln w="19050">
              <a:solidFill>
                <a:srgbClr val="8FD9EC"/>
              </a:solidFill>
              <a:prstDash val="solid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42" name="Text 7">
              <a:extLst>
                <a:ext uri="{FF2B5EF4-FFF2-40B4-BE49-F238E27FC236}">
                  <a16:creationId xmlns:a16="http://schemas.microsoft.com/office/drawing/2014/main" id="{13B2E682-D95C-B9BA-8ED7-B7A7FC8EAD66}"/>
                </a:ext>
              </a:extLst>
            </p:cNvPr>
            <p:cNvSpPr txBox="1"/>
            <p:nvPr/>
          </p:nvSpPr>
          <p:spPr>
            <a:xfrm>
              <a:off x="2798064" y="2788920"/>
              <a:ext cx="1901952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50" b="1" dirty="0">
                  <a:solidFill>
                    <a:srgbClr val="8FD9EC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Transformer</a:t>
              </a:r>
              <a:endParaRPr lang="en-US" sz="1250" dirty="0"/>
            </a:p>
            <a:p>
              <a:pPr marL="0" indent="0" algn="ctr">
                <a:buNone/>
              </a:pPr>
              <a:r>
                <a:rPr lang="en-US" sz="1250" b="1" dirty="0">
                  <a:solidFill>
                    <a:srgbClr val="8FD9EC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ENCODER</a:t>
              </a:r>
              <a:endParaRPr lang="en-US" sz="1250" dirty="0"/>
            </a:p>
          </p:txBody>
        </p:sp>
        <p:sp>
          <p:nvSpPr>
            <p:cNvPr id="43" name="Text 8">
              <a:extLst>
                <a:ext uri="{FF2B5EF4-FFF2-40B4-BE49-F238E27FC236}">
                  <a16:creationId xmlns:a16="http://schemas.microsoft.com/office/drawing/2014/main" id="{0E2079B4-C4B1-8824-478E-74053FFCD897}"/>
                </a:ext>
              </a:extLst>
            </p:cNvPr>
            <p:cNvSpPr txBox="1"/>
            <p:nvPr/>
          </p:nvSpPr>
          <p:spPr>
            <a:xfrm>
              <a:off x="2798064" y="3355848"/>
              <a:ext cx="1901952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05000"/>
                </a:lnSpc>
                <a:buNone/>
              </a:pPr>
              <a:r>
                <a:rPr lang="en-US" sz="1000" dirty="0">
                  <a:solidFill>
                    <a:srgbClr val="E8EEF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reads one bar</a:t>
              </a:r>
              <a:endParaRPr lang="en-US" sz="1000" dirty="0"/>
            </a:p>
          </p:txBody>
        </p:sp>
        <p:sp>
          <p:nvSpPr>
            <p:cNvPr id="44" name="Shape 9">
              <a:extLst>
                <a:ext uri="{FF2B5EF4-FFF2-40B4-BE49-F238E27FC236}">
                  <a16:creationId xmlns:a16="http://schemas.microsoft.com/office/drawing/2014/main" id="{38E7A9DB-46C6-AFF3-6939-C346C2D5EEC3}"/>
                </a:ext>
              </a:extLst>
            </p:cNvPr>
            <p:cNvSpPr/>
            <p:nvPr/>
          </p:nvSpPr>
          <p:spPr>
            <a:xfrm>
              <a:off x="5120640" y="2606040"/>
              <a:ext cx="1920240" cy="1417320"/>
            </a:xfrm>
            <a:prstGeom prst="roundRect">
              <a:avLst>
                <a:gd name="adj" fmla="val 3226"/>
              </a:avLst>
            </a:prstGeom>
            <a:solidFill>
              <a:srgbClr val="141B33"/>
            </a:solidFill>
            <a:ln w="19050">
              <a:solidFill>
                <a:srgbClr val="E8B87F"/>
              </a:solidFill>
              <a:prstDash val="solid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45" name="Text 10">
              <a:extLst>
                <a:ext uri="{FF2B5EF4-FFF2-40B4-BE49-F238E27FC236}">
                  <a16:creationId xmlns:a16="http://schemas.microsoft.com/office/drawing/2014/main" id="{D0B5DFF4-710C-79DB-8C0E-DAEA62A92618}"/>
                </a:ext>
              </a:extLst>
            </p:cNvPr>
            <p:cNvSpPr txBox="1"/>
            <p:nvPr/>
          </p:nvSpPr>
          <p:spPr>
            <a:xfrm>
              <a:off x="5175504" y="2788920"/>
              <a:ext cx="1810512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50" b="1" dirty="0">
                  <a:solidFill>
                    <a:srgbClr val="E8B87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latent space</a:t>
              </a:r>
              <a:endParaRPr lang="en-US" sz="1250" dirty="0"/>
            </a:p>
          </p:txBody>
        </p:sp>
        <p:sp>
          <p:nvSpPr>
            <p:cNvPr id="46" name="Text 11">
              <a:extLst>
                <a:ext uri="{FF2B5EF4-FFF2-40B4-BE49-F238E27FC236}">
                  <a16:creationId xmlns:a16="http://schemas.microsoft.com/office/drawing/2014/main" id="{B1A15402-9045-4F4E-202A-02DB2800F354}"/>
                </a:ext>
              </a:extLst>
            </p:cNvPr>
            <p:cNvSpPr txBox="1"/>
            <p:nvPr/>
          </p:nvSpPr>
          <p:spPr>
            <a:xfrm>
              <a:off x="5175504" y="3355848"/>
              <a:ext cx="1810512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05000"/>
                </a:lnSpc>
                <a:buNone/>
              </a:pPr>
              <a:r>
                <a:rPr lang="en-US" sz="1000" dirty="0">
                  <a:solidFill>
                    <a:srgbClr val="E8EEF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vector per bar</a:t>
              </a:r>
              <a:endParaRPr lang="en-US" sz="1000" dirty="0"/>
            </a:p>
            <a:p>
              <a:pPr marL="0" indent="0" algn="ctr">
                <a:lnSpc>
                  <a:spcPct val="105000"/>
                </a:lnSpc>
                <a:buNone/>
              </a:pPr>
              <a:r>
                <a:rPr lang="en-US" sz="1000" dirty="0">
                  <a:solidFill>
                    <a:srgbClr val="E8EEF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KL-regularized</a:t>
              </a:r>
              <a:endParaRPr lang="en-US" sz="1000" dirty="0"/>
            </a:p>
          </p:txBody>
        </p:sp>
        <p:sp>
          <p:nvSpPr>
            <p:cNvPr id="47" name="Shape 12">
              <a:extLst>
                <a:ext uri="{FF2B5EF4-FFF2-40B4-BE49-F238E27FC236}">
                  <a16:creationId xmlns:a16="http://schemas.microsoft.com/office/drawing/2014/main" id="{83D3F94D-3291-A0B6-26C0-EEEF1B903445}"/>
                </a:ext>
              </a:extLst>
            </p:cNvPr>
            <p:cNvSpPr/>
            <p:nvPr/>
          </p:nvSpPr>
          <p:spPr>
            <a:xfrm>
              <a:off x="7406640" y="2606040"/>
              <a:ext cx="2103120" cy="1417320"/>
            </a:xfrm>
            <a:prstGeom prst="roundRect">
              <a:avLst>
                <a:gd name="adj" fmla="val 3226"/>
              </a:avLst>
            </a:prstGeom>
            <a:solidFill>
              <a:srgbClr val="141B33"/>
            </a:solidFill>
            <a:ln w="19050">
              <a:solidFill>
                <a:srgbClr val="8FD9EC"/>
              </a:solidFill>
              <a:prstDash val="solid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48" name="Text 13">
              <a:extLst>
                <a:ext uri="{FF2B5EF4-FFF2-40B4-BE49-F238E27FC236}">
                  <a16:creationId xmlns:a16="http://schemas.microsoft.com/office/drawing/2014/main" id="{C0B886E1-5039-3943-3C1C-A61CF2803192}"/>
                </a:ext>
              </a:extLst>
            </p:cNvPr>
            <p:cNvSpPr txBox="1"/>
            <p:nvPr/>
          </p:nvSpPr>
          <p:spPr>
            <a:xfrm>
              <a:off x="7461504" y="2788920"/>
              <a:ext cx="1993392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50" b="1" dirty="0">
                  <a:solidFill>
                    <a:srgbClr val="8FD9EC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Transformer</a:t>
              </a:r>
              <a:endParaRPr lang="en-US" sz="1250" dirty="0"/>
            </a:p>
            <a:p>
              <a:pPr marL="0" indent="0" algn="ctr">
                <a:buNone/>
              </a:pPr>
              <a:r>
                <a:rPr lang="en-US" sz="1250" b="1" dirty="0">
                  <a:solidFill>
                    <a:srgbClr val="8FD9EC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DECODER</a:t>
              </a:r>
              <a:endParaRPr lang="en-US" sz="1250" dirty="0"/>
            </a:p>
          </p:txBody>
        </p:sp>
        <p:sp>
          <p:nvSpPr>
            <p:cNvPr id="49" name="Text 14">
              <a:extLst>
                <a:ext uri="{FF2B5EF4-FFF2-40B4-BE49-F238E27FC236}">
                  <a16:creationId xmlns:a16="http://schemas.microsoft.com/office/drawing/2014/main" id="{EC7B7F64-1452-12C2-C5E7-E7AD9330D898}"/>
                </a:ext>
              </a:extLst>
            </p:cNvPr>
            <p:cNvSpPr txBox="1"/>
            <p:nvPr/>
          </p:nvSpPr>
          <p:spPr>
            <a:xfrm>
              <a:off x="7461504" y="3355848"/>
              <a:ext cx="1993392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05000"/>
                </a:lnSpc>
                <a:buNone/>
              </a:pPr>
              <a:r>
                <a:rPr lang="en-US" sz="1000" dirty="0">
                  <a:solidFill>
                    <a:srgbClr val="E8EEF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in-attention</a:t>
              </a:r>
              <a:endParaRPr lang="en-US" sz="1000" dirty="0"/>
            </a:p>
          </p:txBody>
        </p:sp>
        <p:sp>
          <p:nvSpPr>
            <p:cNvPr id="50" name="Shape 15">
              <a:extLst>
                <a:ext uri="{FF2B5EF4-FFF2-40B4-BE49-F238E27FC236}">
                  <a16:creationId xmlns:a16="http://schemas.microsoft.com/office/drawing/2014/main" id="{642178FA-644B-DF74-8CB2-15B77B8201AC}"/>
                </a:ext>
              </a:extLst>
            </p:cNvPr>
            <p:cNvSpPr/>
            <p:nvPr/>
          </p:nvSpPr>
          <p:spPr>
            <a:xfrm>
              <a:off x="9875520" y="2606040"/>
              <a:ext cx="1783080" cy="1417320"/>
            </a:xfrm>
            <a:prstGeom prst="roundRect">
              <a:avLst>
                <a:gd name="adj" fmla="val 3226"/>
              </a:avLst>
            </a:prstGeom>
            <a:solidFill>
              <a:srgbClr val="141B33"/>
            </a:solidFill>
            <a:ln w="19050">
              <a:solidFill>
                <a:srgbClr val="C9A0DC"/>
              </a:solidFill>
              <a:prstDash val="solid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51" name="Text 16">
              <a:extLst>
                <a:ext uri="{FF2B5EF4-FFF2-40B4-BE49-F238E27FC236}">
                  <a16:creationId xmlns:a16="http://schemas.microsoft.com/office/drawing/2014/main" id="{46B1F703-FCAE-AED7-D216-2E575653810E}"/>
                </a:ext>
              </a:extLst>
            </p:cNvPr>
            <p:cNvSpPr txBox="1"/>
            <p:nvPr/>
          </p:nvSpPr>
          <p:spPr>
            <a:xfrm>
              <a:off x="9930384" y="2788920"/>
              <a:ext cx="1673352" cy="54864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50" b="1" dirty="0">
                  <a:solidFill>
                    <a:srgbClr val="C9A0DC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Track</a:t>
              </a:r>
              <a:endParaRPr lang="en-US" sz="1250" dirty="0"/>
            </a:p>
            <a:p>
              <a:pPr marL="0" indent="0" algn="ctr">
                <a:buNone/>
              </a:pPr>
              <a:r>
                <a:rPr lang="en-US" sz="1250" b="1" dirty="0">
                  <a:solidFill>
                    <a:srgbClr val="C9A0DC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re-performed</a:t>
              </a:r>
              <a:endParaRPr lang="en-US" sz="1250" dirty="0"/>
            </a:p>
          </p:txBody>
        </p:sp>
        <p:sp>
          <p:nvSpPr>
            <p:cNvPr id="52" name="Text 17">
              <a:extLst>
                <a:ext uri="{FF2B5EF4-FFF2-40B4-BE49-F238E27FC236}">
                  <a16:creationId xmlns:a16="http://schemas.microsoft.com/office/drawing/2014/main" id="{567C21E5-91B4-C5B7-6C44-EC8BEF1637B2}"/>
                </a:ext>
              </a:extLst>
            </p:cNvPr>
            <p:cNvSpPr txBox="1"/>
            <p:nvPr/>
          </p:nvSpPr>
          <p:spPr>
            <a:xfrm>
              <a:off x="9930384" y="3355848"/>
              <a:ext cx="1673352" cy="5029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lnSpc>
                  <a:spcPct val="105000"/>
                </a:lnSpc>
                <a:buNone/>
              </a:pPr>
              <a:r>
                <a:rPr lang="en-US" sz="1000" dirty="0">
                  <a:solidFill>
                    <a:srgbClr val="E8EEF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same material,</a:t>
              </a:r>
              <a:endParaRPr lang="en-US" sz="1000" dirty="0"/>
            </a:p>
            <a:p>
              <a:pPr marL="0" indent="0" algn="ctr">
                <a:lnSpc>
                  <a:spcPct val="105000"/>
                </a:lnSpc>
                <a:buNone/>
              </a:pPr>
              <a:r>
                <a:rPr lang="en-US" sz="1000" dirty="0">
                  <a:solidFill>
                    <a:srgbClr val="E8EEF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different density</a:t>
              </a:r>
              <a:endParaRPr lang="en-US" sz="1000" dirty="0"/>
            </a:p>
          </p:txBody>
        </p:sp>
        <p:sp>
          <p:nvSpPr>
            <p:cNvPr id="53" name="Shape 18">
              <a:extLst>
                <a:ext uri="{FF2B5EF4-FFF2-40B4-BE49-F238E27FC236}">
                  <a16:creationId xmlns:a16="http://schemas.microsoft.com/office/drawing/2014/main" id="{484D4E31-8980-15CA-E9E2-83A4DC117673}"/>
                </a:ext>
              </a:extLst>
            </p:cNvPr>
            <p:cNvSpPr/>
            <p:nvPr/>
          </p:nvSpPr>
          <p:spPr>
            <a:xfrm>
              <a:off x="2377440" y="3314700"/>
              <a:ext cx="365760" cy="0"/>
            </a:xfrm>
            <a:prstGeom prst="line">
              <a:avLst/>
            </a:prstGeom>
            <a:noFill/>
            <a:ln w="20320">
              <a:solidFill>
                <a:srgbClr val="8FD9EC"/>
              </a:solidFill>
              <a:prstDash val="solid"/>
              <a:tailEnd type="triangle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54" name="Shape 19">
              <a:extLst>
                <a:ext uri="{FF2B5EF4-FFF2-40B4-BE49-F238E27FC236}">
                  <a16:creationId xmlns:a16="http://schemas.microsoft.com/office/drawing/2014/main" id="{8208AE2D-3126-D062-9CCB-2938071F7232}"/>
                </a:ext>
              </a:extLst>
            </p:cNvPr>
            <p:cNvSpPr/>
            <p:nvPr/>
          </p:nvSpPr>
          <p:spPr>
            <a:xfrm>
              <a:off x="4754880" y="3314700"/>
              <a:ext cx="365760" cy="0"/>
            </a:xfrm>
            <a:prstGeom prst="line">
              <a:avLst/>
            </a:prstGeom>
            <a:noFill/>
            <a:ln w="20320">
              <a:solidFill>
                <a:srgbClr val="8FD9EC"/>
              </a:solidFill>
              <a:prstDash val="solid"/>
              <a:tailEnd type="triangle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55" name="Shape 20">
              <a:extLst>
                <a:ext uri="{FF2B5EF4-FFF2-40B4-BE49-F238E27FC236}">
                  <a16:creationId xmlns:a16="http://schemas.microsoft.com/office/drawing/2014/main" id="{D15C8598-123F-D0CA-17A0-3EB3225F4055}"/>
                </a:ext>
              </a:extLst>
            </p:cNvPr>
            <p:cNvSpPr/>
            <p:nvPr/>
          </p:nvSpPr>
          <p:spPr>
            <a:xfrm>
              <a:off x="7040880" y="3314700"/>
              <a:ext cx="365760" cy="0"/>
            </a:xfrm>
            <a:prstGeom prst="line">
              <a:avLst/>
            </a:prstGeom>
            <a:noFill/>
            <a:ln w="20320">
              <a:solidFill>
                <a:srgbClr val="8FD9EC"/>
              </a:solidFill>
              <a:prstDash val="solid"/>
              <a:tailEnd type="triangle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56" name="Shape 21">
              <a:extLst>
                <a:ext uri="{FF2B5EF4-FFF2-40B4-BE49-F238E27FC236}">
                  <a16:creationId xmlns:a16="http://schemas.microsoft.com/office/drawing/2014/main" id="{81D4770A-87BF-2609-687F-18BE3F399E8E}"/>
                </a:ext>
              </a:extLst>
            </p:cNvPr>
            <p:cNvSpPr/>
            <p:nvPr/>
          </p:nvSpPr>
          <p:spPr>
            <a:xfrm>
              <a:off x="9509760" y="3314700"/>
              <a:ext cx="365760" cy="0"/>
            </a:xfrm>
            <a:prstGeom prst="line">
              <a:avLst/>
            </a:prstGeom>
            <a:noFill/>
            <a:ln w="20320">
              <a:solidFill>
                <a:srgbClr val="8FD9EC"/>
              </a:solidFill>
              <a:prstDash val="solid"/>
              <a:tailEnd type="triangle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57" name="Shape 22">
              <a:extLst>
                <a:ext uri="{FF2B5EF4-FFF2-40B4-BE49-F238E27FC236}">
                  <a16:creationId xmlns:a16="http://schemas.microsoft.com/office/drawing/2014/main" id="{CE054BCF-612D-950B-CAD4-8B02EC7A8C1A}"/>
                </a:ext>
              </a:extLst>
            </p:cNvPr>
            <p:cNvSpPr/>
            <p:nvPr/>
          </p:nvSpPr>
          <p:spPr>
            <a:xfrm>
              <a:off x="6537960" y="4617720"/>
              <a:ext cx="3840480" cy="1051560"/>
            </a:xfrm>
            <a:prstGeom prst="roundRect">
              <a:avLst>
                <a:gd name="adj" fmla="val 4348"/>
              </a:avLst>
            </a:prstGeom>
            <a:solidFill>
              <a:srgbClr val="141B33"/>
            </a:solidFill>
            <a:ln w="19050">
              <a:solidFill>
                <a:srgbClr val="E8887F"/>
              </a:solidFill>
              <a:prstDash val="solid"/>
            </a:ln>
          </p:spPr>
          <p:txBody>
            <a:bodyPr/>
            <a:lstStyle/>
            <a:p>
              <a:endParaRPr lang="en-IT"/>
            </a:p>
          </p:txBody>
        </p:sp>
        <p:sp>
          <p:nvSpPr>
            <p:cNvPr id="58" name="Text 23">
              <a:extLst>
                <a:ext uri="{FF2B5EF4-FFF2-40B4-BE49-F238E27FC236}">
                  <a16:creationId xmlns:a16="http://schemas.microsoft.com/office/drawing/2014/main" id="{07C1E078-4F35-36DE-3B1C-EAA5ACB59BE0}"/>
                </a:ext>
              </a:extLst>
            </p:cNvPr>
            <p:cNvSpPr txBox="1"/>
            <p:nvPr/>
          </p:nvSpPr>
          <p:spPr>
            <a:xfrm>
              <a:off x="6629400" y="4736592"/>
              <a:ext cx="36576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E8887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ATTRIBUTES per bar</a:t>
              </a:r>
              <a:endParaRPr lang="en-US" sz="1200" dirty="0"/>
            </a:p>
          </p:txBody>
        </p:sp>
        <p:sp>
          <p:nvSpPr>
            <p:cNvPr id="59" name="Text 24">
              <a:extLst>
                <a:ext uri="{FF2B5EF4-FFF2-40B4-BE49-F238E27FC236}">
                  <a16:creationId xmlns:a16="http://schemas.microsoft.com/office/drawing/2014/main" id="{E3C93548-B4B0-4032-8A63-1CCA2A5758AC}"/>
                </a:ext>
              </a:extLst>
            </p:cNvPr>
            <p:cNvSpPr txBox="1"/>
            <p:nvPr/>
          </p:nvSpPr>
          <p:spPr>
            <a:xfrm>
              <a:off x="6629400" y="5029200"/>
              <a:ext cx="36576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50" dirty="0">
                  <a:solidFill>
                    <a:srgbClr val="E8EEF7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rhythmic intensity · polyphony (classes 0-7)</a:t>
              </a:r>
              <a:endParaRPr lang="en-US" sz="1050" dirty="0"/>
            </a:p>
          </p:txBody>
        </p:sp>
        <p:sp>
          <p:nvSpPr>
            <p:cNvPr id="60" name="Text 25">
              <a:extLst>
                <a:ext uri="{FF2B5EF4-FFF2-40B4-BE49-F238E27FC236}">
                  <a16:creationId xmlns:a16="http://schemas.microsoft.com/office/drawing/2014/main" id="{D9A4C91F-E039-C57B-79DB-29A0C286D9A4}"/>
                </a:ext>
              </a:extLst>
            </p:cNvPr>
            <p:cNvSpPr txBox="1"/>
            <p:nvPr/>
          </p:nvSpPr>
          <p:spPr>
            <a:xfrm>
              <a:off x="6629400" y="5303520"/>
              <a:ext cx="3657600" cy="25603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000" i="1" dirty="0">
                  <a:solidFill>
                    <a:srgbClr val="8A97B0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this is where our emotional curve comes in</a:t>
              </a:r>
              <a:endParaRPr lang="en-US" sz="1000" dirty="0"/>
            </a:p>
          </p:txBody>
        </p:sp>
        <p:sp>
          <p:nvSpPr>
            <p:cNvPr id="61" name="Shape 26">
              <a:extLst>
                <a:ext uri="{FF2B5EF4-FFF2-40B4-BE49-F238E27FC236}">
                  <a16:creationId xmlns:a16="http://schemas.microsoft.com/office/drawing/2014/main" id="{4ED41A2D-AECA-8FE4-BC2B-4FF60EEAA914}"/>
                </a:ext>
              </a:extLst>
            </p:cNvPr>
            <p:cNvSpPr/>
            <p:nvPr/>
          </p:nvSpPr>
          <p:spPr>
            <a:xfrm>
              <a:off x="8458200" y="4023360"/>
              <a:ext cx="0" cy="594360"/>
            </a:xfrm>
            <a:prstGeom prst="line">
              <a:avLst/>
            </a:prstGeom>
            <a:noFill/>
            <a:ln w="20320">
              <a:solidFill>
                <a:srgbClr val="E8887F"/>
              </a:solidFill>
              <a:prstDash val="solid"/>
              <a:headEnd type="triangle"/>
            </a:ln>
          </p:spPr>
          <p:txBody>
            <a:bodyPr/>
            <a:lstStyle/>
            <a:p>
              <a:endParaRPr lang="en-IT"/>
            </a:p>
          </p:txBody>
        </p:sp>
      </p:grpSp>
      <p:pic>
        <p:nvPicPr>
          <p:cNvPr id="63" name="Immagine 62">
            <a:extLst>
              <a:ext uri="{FF2B5EF4-FFF2-40B4-BE49-F238E27FC236}">
                <a16:creationId xmlns:a16="http://schemas.microsoft.com/office/drawing/2014/main" id="{112F0F52-EBE3-941F-0CBF-D4453BBBD3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46127" y="9366735"/>
            <a:ext cx="795337" cy="795337"/>
          </a:xfrm>
          <a:prstGeom prst="rect">
            <a:avLst/>
          </a:prstGeom>
        </p:spPr>
      </p:pic>
      <p:pic>
        <p:nvPicPr>
          <p:cNvPr id="64" name="Immagine 63">
            <a:extLst>
              <a:ext uri="{FF2B5EF4-FFF2-40B4-BE49-F238E27FC236}">
                <a16:creationId xmlns:a16="http://schemas.microsoft.com/office/drawing/2014/main" id="{2B0A2A85-6FD8-9B78-0709-5C4C46F1B2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98527" y="9519135"/>
            <a:ext cx="795337" cy="79533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71525"/>
            <a:ext cx="1131838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52" dirty="0">
                <a:solidFill>
                  <a:srgbClr val="F0A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274838" y="807244"/>
            <a:ext cx="9525" cy="190500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2455813" y="762000"/>
            <a:ext cx="1217042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AA1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Music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828609" y="533400"/>
            <a:ext cx="1924273" cy="414338"/>
          </a:xfrm>
          <a:prstGeom prst="roundRect">
            <a:avLst>
              <a:gd name="adj" fmla="val 50000"/>
            </a:avLst>
          </a:prstGeom>
          <a:ln w="9525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9990534" y="609600"/>
            <a:ext cx="167662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PERCEPTION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1829083" y="533400"/>
            <a:ext cx="1931491" cy="414338"/>
          </a:xfrm>
          <a:prstGeom prst="roundRect">
            <a:avLst>
              <a:gd name="adj" fmla="val 50000"/>
            </a:avLst>
          </a:prstGeom>
          <a:ln w="9525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11991008" y="609600"/>
            <a:ext cx="1683841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RATIONALITY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3836774" y="533400"/>
            <a:ext cx="1256109" cy="414338"/>
          </a:xfrm>
          <a:prstGeom prst="roundRect">
            <a:avLst>
              <a:gd name="adj" fmla="val 50000"/>
            </a:avLst>
          </a:prstGeom>
          <a:solidFill>
            <a:srgbClr val="F0A488">
              <a:alpha val="16000"/>
            </a:srgbClr>
          </a:solidFill>
          <a:ln w="9525">
            <a:solidFill>
              <a:srgbClr val="F0A48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13998699" y="609600"/>
            <a:ext cx="1008459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F0A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5169083" y="533400"/>
            <a:ext cx="2071167" cy="414338"/>
          </a:xfrm>
          <a:prstGeom prst="roundRect">
            <a:avLst>
              <a:gd name="adj" fmla="val 50000"/>
            </a:avLst>
          </a:prstGeom>
          <a:ln w="9525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15331008" y="609600"/>
            <a:ext cx="1823517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PORTING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47750" y="1619250"/>
            <a:ext cx="6286091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5100" b="1" kern="0" spc="-51" dirty="0">
                <a:solidFill>
                  <a:srgbClr val="F5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MIDI to Sound</a:t>
            </a:r>
            <a:endParaRPr lang="en-US" sz="5100" dirty="0"/>
          </a:p>
        </p:txBody>
      </p:sp>
      <p:sp>
        <p:nvSpPr>
          <p:cNvPr id="14" name="Text 12"/>
          <p:cNvSpPr/>
          <p:nvPr/>
        </p:nvSpPr>
        <p:spPr>
          <a:xfrm>
            <a:off x="1548542" y="3983831"/>
            <a:ext cx="4248626" cy="6048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900" b="1" dirty="0">
                <a:solidFill>
                  <a:srgbClr val="F0A488">
                    <a:alpha val="3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3900" dirty="0"/>
          </a:p>
        </p:txBody>
      </p:sp>
      <p:sp>
        <p:nvSpPr>
          <p:cNvPr id="15" name="Text 13"/>
          <p:cNvSpPr/>
          <p:nvPr/>
        </p:nvSpPr>
        <p:spPr>
          <a:xfrm>
            <a:off x="1548542" y="4702968"/>
            <a:ext cx="424862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F5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Selection</a:t>
            </a:r>
            <a:endParaRPr lang="en-US" sz="1875" dirty="0"/>
          </a:p>
        </p:txBody>
      </p:sp>
      <p:sp>
        <p:nvSpPr>
          <p:cNvPr id="16" name="Text 14"/>
          <p:cNvSpPr/>
          <p:nvPr/>
        </p:nvSpPr>
        <p:spPr>
          <a:xfrm>
            <a:off x="1548542" y="5131594"/>
            <a:ext cx="3978259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0909"/>
              </a:lnSpc>
              <a:buNone/>
            </a:pPr>
            <a:r>
              <a:rPr lang="en-US" sz="1800" dirty="0">
                <a:solidFill>
                  <a:srgbClr val="9AA1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reference track with the right tonal color: darker for low valence, brighter for high.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658580" y="3983831"/>
            <a:ext cx="4248626" cy="6048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900" b="1" dirty="0">
                <a:solidFill>
                  <a:srgbClr val="F0A488">
                    <a:alpha val="3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900" dirty="0"/>
          </a:p>
        </p:txBody>
      </p:sp>
      <p:sp>
        <p:nvSpPr>
          <p:cNvPr id="18" name="Text 16"/>
          <p:cNvSpPr/>
          <p:nvPr/>
        </p:nvSpPr>
        <p:spPr>
          <a:xfrm>
            <a:off x="5658580" y="4702968"/>
            <a:ext cx="424862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F5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Regeneration</a:t>
            </a:r>
            <a:endParaRPr lang="en-US" sz="1875" dirty="0"/>
          </a:p>
        </p:txBody>
      </p:sp>
      <p:sp>
        <p:nvSpPr>
          <p:cNvPr id="19" name="Text 17"/>
          <p:cNvSpPr/>
          <p:nvPr/>
        </p:nvSpPr>
        <p:spPr>
          <a:xfrm>
            <a:off x="5658580" y="5131594"/>
            <a:ext cx="3978259" cy="1409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909"/>
              </a:lnSpc>
              <a:buNone/>
            </a:pPr>
            <a:r>
              <a:rPr lang="en-US" sz="1800" dirty="0">
                <a:solidFill>
                  <a:srgbClr val="9AA1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MuseMorphose re-performs the track along the density curve, bar by bar. Out comes a single-track piano MIDI.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768617" y="3983831"/>
            <a:ext cx="4248626" cy="6048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900" b="1" dirty="0">
                <a:solidFill>
                  <a:srgbClr val="F0A488">
                    <a:alpha val="3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900" dirty="0"/>
          </a:p>
        </p:txBody>
      </p:sp>
      <p:sp>
        <p:nvSpPr>
          <p:cNvPr id="21" name="Text 19"/>
          <p:cNvSpPr/>
          <p:nvPr/>
        </p:nvSpPr>
        <p:spPr>
          <a:xfrm>
            <a:off x="9768617" y="4702968"/>
            <a:ext cx="424862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F5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Orchestration</a:t>
            </a:r>
            <a:endParaRPr lang="en-US" sz="1875" dirty="0"/>
          </a:p>
        </p:txBody>
      </p:sp>
      <p:sp>
        <p:nvSpPr>
          <p:cNvPr id="22" name="Text 20"/>
          <p:cNvSpPr/>
          <p:nvPr/>
        </p:nvSpPr>
        <p:spPr>
          <a:xfrm>
            <a:off x="9768617" y="5131594"/>
            <a:ext cx="3978259" cy="14097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909"/>
              </a:lnSpc>
              <a:buNone/>
            </a:pPr>
            <a:r>
              <a:rPr lang="en-US" sz="1800" dirty="0">
                <a:solidFill>
                  <a:srgbClr val="9AA1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Notes are split by role — bass, harmony, melody — each assigned an instrument from the quadrant’s palette.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3878655" y="3983831"/>
            <a:ext cx="4248626" cy="6048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900" b="1" dirty="0">
                <a:solidFill>
                  <a:srgbClr val="F0A488">
                    <a:alpha val="35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900" dirty="0"/>
          </a:p>
        </p:txBody>
      </p:sp>
      <p:sp>
        <p:nvSpPr>
          <p:cNvPr id="24" name="Text 22"/>
          <p:cNvSpPr/>
          <p:nvPr/>
        </p:nvSpPr>
        <p:spPr>
          <a:xfrm>
            <a:off x="13878655" y="4702968"/>
            <a:ext cx="4248626" cy="3143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75" b="1" dirty="0">
                <a:solidFill>
                  <a:srgbClr val="F5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Rendering</a:t>
            </a:r>
            <a:endParaRPr lang="en-US" sz="1875" dirty="0"/>
          </a:p>
        </p:txBody>
      </p:sp>
      <p:sp>
        <p:nvSpPr>
          <p:cNvPr id="25" name="Text 23"/>
          <p:cNvSpPr/>
          <p:nvPr/>
        </p:nvSpPr>
        <p:spPr>
          <a:xfrm>
            <a:off x="13878655" y="5131594"/>
            <a:ext cx="3978259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0909"/>
              </a:lnSpc>
              <a:buNone/>
            </a:pPr>
            <a:r>
              <a:rPr lang="en-US" sz="1800" dirty="0">
                <a:solidFill>
                  <a:srgbClr val="9AA1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FluidSynth with a General MIDI soundfont, deep reverb, and a final fade-out. Out comes a stereo file.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047750" y="9334500"/>
            <a:ext cx="17811750" cy="3810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909"/>
              </a:lnSpc>
              <a:buNone/>
            </a:pPr>
            <a:r>
              <a:rPr lang="en-US" sz="1800" dirty="0">
                <a:solidFill>
                  <a:srgbClr val="7D8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Generation takes minutes on CPU: a pre-rendered library plays during the session, while the personalized track is created in the background as a gift.</a:t>
            </a:r>
            <a:endParaRPr lang="en-US" sz="1800" dirty="0"/>
          </a:p>
        </p:txBody>
      </p:sp>
      <p:pic>
        <p:nvPicPr>
          <p:cNvPr id="27" name="Immagine 26">
            <a:extLst>
              <a:ext uri="{FF2B5EF4-FFF2-40B4-BE49-F238E27FC236}">
                <a16:creationId xmlns:a16="http://schemas.microsoft.com/office/drawing/2014/main" id="{9205EC05-57B9-2F2F-9DA9-DBAA3359B1A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46127" y="9366735"/>
            <a:ext cx="795337" cy="79533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71525"/>
            <a:ext cx="1131838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52" dirty="0">
                <a:solidFill>
                  <a:srgbClr val="F0A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2274838" y="807244"/>
            <a:ext cx="9525" cy="190500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2455813" y="762000"/>
            <a:ext cx="1320083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AA1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Object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828609" y="533400"/>
            <a:ext cx="1924273" cy="414338"/>
          </a:xfrm>
          <a:prstGeom prst="roundRect">
            <a:avLst>
              <a:gd name="adj" fmla="val 50000"/>
            </a:avLst>
          </a:prstGeom>
          <a:ln w="9525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9990534" y="609600"/>
            <a:ext cx="167662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PERCEPTION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1829083" y="533400"/>
            <a:ext cx="1931491" cy="414338"/>
          </a:xfrm>
          <a:prstGeom prst="roundRect">
            <a:avLst>
              <a:gd name="adj" fmla="val 50000"/>
            </a:avLst>
          </a:prstGeom>
          <a:ln w="9525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11991008" y="609600"/>
            <a:ext cx="1683841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RATIONALITY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3836774" y="533400"/>
            <a:ext cx="1256109" cy="414338"/>
          </a:xfrm>
          <a:prstGeom prst="roundRect">
            <a:avLst>
              <a:gd name="adj" fmla="val 50000"/>
            </a:avLst>
          </a:prstGeom>
          <a:solidFill>
            <a:srgbClr val="F0A488">
              <a:alpha val="16000"/>
            </a:srgbClr>
          </a:solidFill>
          <a:ln w="9525">
            <a:solidFill>
              <a:srgbClr val="F0A48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13998699" y="609600"/>
            <a:ext cx="1008459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F0A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5169083" y="533400"/>
            <a:ext cx="2071167" cy="414338"/>
          </a:xfrm>
          <a:prstGeom prst="roundRect">
            <a:avLst>
              <a:gd name="adj" fmla="val 50000"/>
            </a:avLst>
          </a:prstGeom>
          <a:ln w="9525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15331008" y="609600"/>
            <a:ext cx="1823517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PORTING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47750" y="1619250"/>
            <a:ext cx="8591550" cy="738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4800" b="1" kern="0" spc="-48" dirty="0">
                <a:solidFill>
                  <a:srgbClr val="F5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Session’s Mandala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1047750" y="3048000"/>
            <a:ext cx="2522376" cy="6048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900" b="1" dirty="0">
                <a:solidFill>
                  <a:srgbClr val="F0A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260,000</a:t>
            </a:r>
            <a:endParaRPr lang="en-US" sz="3900" dirty="0"/>
          </a:p>
        </p:txBody>
      </p:sp>
      <p:sp>
        <p:nvSpPr>
          <p:cNvPr id="15" name="Text 13"/>
          <p:cNvSpPr/>
          <p:nvPr/>
        </p:nvSpPr>
        <p:spPr>
          <a:xfrm>
            <a:off x="1047750" y="3671888"/>
            <a:ext cx="2369269" cy="600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7D8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particles as an image (13,664 on screen)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817069" y="3048000"/>
            <a:ext cx="3796375" cy="60483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3900" b="1" dirty="0">
                <a:solidFill>
                  <a:srgbClr val="F0A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2400px</a:t>
            </a:r>
            <a:endParaRPr lang="en-US" sz="3900" dirty="0"/>
          </a:p>
        </p:txBody>
      </p:sp>
      <p:sp>
        <p:nvSpPr>
          <p:cNvPr id="17" name="Text 15"/>
          <p:cNvSpPr/>
          <p:nvPr/>
        </p:nvSpPr>
        <p:spPr>
          <a:xfrm>
            <a:off x="3817069" y="3671888"/>
            <a:ext cx="3554787" cy="6000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7D8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side, generated in 2 seconds — no TouchDesigner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47750" y="5334000"/>
            <a:ext cx="85915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5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you say chooses its character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047750" y="5691188"/>
            <a:ext cx="8044815" cy="752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9310"/>
              </a:lnSpc>
              <a:buNone/>
            </a:pPr>
            <a:r>
              <a:rPr lang="en-US" sz="1875" dirty="0">
                <a:solidFill>
                  <a:srgbClr val="C8CB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Petals, rings and tones are born from the narrative, in the same call that generates the phrases.</a:t>
            </a:r>
            <a:endParaRPr lang="en-US" sz="1875" dirty="0"/>
          </a:p>
        </p:txBody>
      </p:sp>
      <p:sp>
        <p:nvSpPr>
          <p:cNvPr id="20" name="Text 18"/>
          <p:cNvSpPr/>
          <p:nvPr/>
        </p:nvSpPr>
        <p:spPr>
          <a:xfrm>
            <a:off x="1047750" y="6691313"/>
            <a:ext cx="8591550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5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length of your meditation chooses its complexity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47750" y="7048500"/>
            <a:ext cx="8044815" cy="7524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29310"/>
              </a:lnSpc>
              <a:buNone/>
            </a:pPr>
            <a:r>
              <a:rPr lang="en-US" sz="1875" dirty="0">
                <a:solidFill>
                  <a:srgbClr val="C8CB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40 seconds adds a level of detail. Time becomes distance traveled toward the center.</a:t>
            </a:r>
            <a:endParaRPr lang="en-US" sz="1875" dirty="0"/>
          </a:p>
        </p:txBody>
      </p:sp>
      <p:pic>
        <p:nvPicPr>
          <p:cNvPr id="2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620500" y="2000250"/>
            <a:ext cx="6286500" cy="6286500"/>
          </a:xfrm>
          <a:prstGeom prst="rect">
            <a:avLst/>
          </a:prstGeom>
        </p:spPr>
      </p:pic>
      <p:pic>
        <p:nvPicPr>
          <p:cNvPr id="23" name="Immagine 22">
            <a:extLst>
              <a:ext uri="{FF2B5EF4-FFF2-40B4-BE49-F238E27FC236}">
                <a16:creationId xmlns:a16="http://schemas.microsoft.com/office/drawing/2014/main" id="{7224438A-658D-F301-2CD8-D2A8DC7E85B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46127" y="9366735"/>
            <a:ext cx="795337" cy="79533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71525"/>
            <a:ext cx="2170971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52" dirty="0">
                <a:solidFill>
                  <a:srgbClr val="7EC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PORTING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3192810" y="807244"/>
            <a:ext cx="9525" cy="190500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3373785" y="762000"/>
            <a:ext cx="2711462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AA1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and Frameworks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828609" y="533400"/>
            <a:ext cx="1924273" cy="414338"/>
          </a:xfrm>
          <a:prstGeom prst="roundRect">
            <a:avLst>
              <a:gd name="adj" fmla="val 50000"/>
            </a:avLst>
          </a:prstGeom>
          <a:ln w="9525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9990534" y="609600"/>
            <a:ext cx="167662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PERCEPTION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1829083" y="533400"/>
            <a:ext cx="1931491" cy="414338"/>
          </a:xfrm>
          <a:prstGeom prst="roundRect">
            <a:avLst>
              <a:gd name="adj" fmla="val 50000"/>
            </a:avLst>
          </a:prstGeom>
          <a:ln w="9525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11991008" y="609600"/>
            <a:ext cx="1683841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RATIONALITY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3836774" y="533400"/>
            <a:ext cx="1256109" cy="414338"/>
          </a:xfrm>
          <a:prstGeom prst="roundRect">
            <a:avLst>
              <a:gd name="adj" fmla="val 50000"/>
            </a:avLst>
          </a:prstGeom>
          <a:ln w="9525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13998699" y="609600"/>
            <a:ext cx="1008459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5169083" y="533400"/>
            <a:ext cx="2071167" cy="414338"/>
          </a:xfrm>
          <a:prstGeom prst="roundRect">
            <a:avLst>
              <a:gd name="adj" fmla="val 50000"/>
            </a:avLst>
          </a:prstGeom>
          <a:solidFill>
            <a:srgbClr val="7EC9E8">
              <a:alpha val="16000"/>
            </a:srgbClr>
          </a:solidFill>
          <a:ln w="9525">
            <a:solidFill>
              <a:srgbClr val="7EC9E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15331008" y="609600"/>
            <a:ext cx="1823517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7EC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PORTING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47750" y="1619250"/>
            <a:ext cx="7024345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5100" b="1" kern="0" spc="-51" dirty="0">
                <a:solidFill>
                  <a:srgbClr val="F5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Tools and Frameworks</a:t>
            </a:r>
            <a:endParaRPr lang="en-US" sz="5100" dirty="0"/>
          </a:p>
        </p:txBody>
      </p:sp>
      <p:sp>
        <p:nvSpPr>
          <p:cNvPr id="14" name="Text 12"/>
          <p:cNvSpPr/>
          <p:nvPr/>
        </p:nvSpPr>
        <p:spPr>
          <a:xfrm>
            <a:off x="1047750" y="2571750"/>
            <a:ext cx="15716250" cy="4238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645"/>
              </a:lnSpc>
              <a:buNone/>
            </a:pPr>
            <a:r>
              <a:rPr lang="en-US" sz="2025" dirty="0">
                <a:solidFill>
                  <a:srgbClr val="9AA1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entire system runs in a web browser, with a login and account a user can reach from any device.</a:t>
            </a:r>
            <a:endParaRPr lang="en-US" sz="2025" dirty="0"/>
          </a:p>
        </p:txBody>
      </p:sp>
      <p:sp>
        <p:nvSpPr>
          <p:cNvPr id="15" name="Shape 13"/>
          <p:cNvSpPr/>
          <p:nvPr/>
        </p:nvSpPr>
        <p:spPr>
          <a:xfrm>
            <a:off x="1047750" y="3905250"/>
            <a:ext cx="7953375" cy="5429250"/>
          </a:xfrm>
          <a:prstGeom prst="roundRect">
            <a:avLst>
              <a:gd name="adj" fmla="val 3509"/>
            </a:avLst>
          </a:prstGeom>
          <a:solidFill>
            <a:srgbClr val="12172A"/>
          </a:solidFill>
          <a:ln w="9525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1514475" y="4333875"/>
            <a:ext cx="7721918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F0A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Firebase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1514475" y="4852988"/>
            <a:ext cx="7230523" cy="12782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3538"/>
              </a:lnSpc>
              <a:buNone/>
            </a:pPr>
            <a:r>
              <a:rPr lang="en-US" sz="2100" dirty="0">
                <a:solidFill>
                  <a:srgbClr val="C8CB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Google’s framework for authentication and databases. Password encryption is managed entirely by Google’s systems.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286875" y="3905250"/>
            <a:ext cx="7953375" cy="5429250"/>
          </a:xfrm>
          <a:prstGeom prst="roundRect">
            <a:avLst>
              <a:gd name="adj" fmla="val 3509"/>
            </a:avLst>
          </a:prstGeom>
          <a:solidFill>
            <a:srgbClr val="12172A"/>
          </a:solidFill>
          <a:ln w="9525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7"/>
          <p:cNvSpPr/>
          <p:nvPr/>
        </p:nvSpPr>
        <p:spPr>
          <a:xfrm>
            <a:off x="9753600" y="4333875"/>
            <a:ext cx="7721918" cy="3667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250" b="1" dirty="0">
                <a:solidFill>
                  <a:srgbClr val="F0A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Uvicorn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9753600" y="4852988"/>
            <a:ext cx="7230523" cy="127821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3538"/>
              </a:lnSpc>
              <a:buNone/>
            </a:pPr>
            <a:r>
              <a:rPr lang="en-US" sz="2100" dirty="0">
                <a:solidFill>
                  <a:srgbClr val="C8CB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web server enabling the simultaneous use of graphics engines in Python and JavaScript, alongside API calls.</a:t>
            </a:r>
            <a:endParaRPr lang="en-US" sz="2100" dirty="0"/>
          </a:p>
        </p:txBody>
      </p:sp>
      <p:pic>
        <p:nvPicPr>
          <p:cNvPr id="22" name="Immagine 21">
            <a:extLst>
              <a:ext uri="{FF2B5EF4-FFF2-40B4-BE49-F238E27FC236}">
                <a16:creationId xmlns:a16="http://schemas.microsoft.com/office/drawing/2014/main" id="{7D76D177-BDC8-126C-8A0B-7ECC916190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3910" y="6457023"/>
            <a:ext cx="2551652" cy="2551652"/>
          </a:xfrm>
          <a:prstGeom prst="rect">
            <a:avLst/>
          </a:prstGeom>
        </p:spPr>
      </p:pic>
      <p:pic>
        <p:nvPicPr>
          <p:cNvPr id="24" name="Immagine 23">
            <a:extLst>
              <a:ext uri="{FF2B5EF4-FFF2-40B4-BE49-F238E27FC236}">
                <a16:creationId xmlns:a16="http://schemas.microsoft.com/office/drawing/2014/main" id="{989C6413-3F35-B984-10A6-98AD2F6F6A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88051" y="6457023"/>
            <a:ext cx="2561619" cy="2551652"/>
          </a:xfrm>
          <a:prstGeom prst="rect">
            <a:avLst/>
          </a:prstGeom>
        </p:spPr>
      </p:pic>
      <p:pic>
        <p:nvPicPr>
          <p:cNvPr id="25" name="Immagine 24">
            <a:extLst>
              <a:ext uri="{FF2B5EF4-FFF2-40B4-BE49-F238E27FC236}">
                <a16:creationId xmlns:a16="http://schemas.microsoft.com/office/drawing/2014/main" id="{0E1A5716-D846-B60E-7F69-BB426FAD5AB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346127" y="9366735"/>
            <a:ext cx="795337" cy="79533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71525"/>
            <a:ext cx="2170971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52" dirty="0">
                <a:solidFill>
                  <a:srgbClr val="7EC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PORTING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3192810" y="807244"/>
            <a:ext cx="9525" cy="190500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3373785" y="762000"/>
            <a:ext cx="1810234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AA1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 Interface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828609" y="533400"/>
            <a:ext cx="1924273" cy="414338"/>
          </a:xfrm>
          <a:prstGeom prst="roundRect">
            <a:avLst>
              <a:gd name="adj" fmla="val 50000"/>
            </a:avLst>
          </a:prstGeom>
          <a:ln w="9525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9990534" y="609600"/>
            <a:ext cx="167662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PERCEPTION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1829083" y="533400"/>
            <a:ext cx="1931491" cy="414338"/>
          </a:xfrm>
          <a:prstGeom prst="roundRect">
            <a:avLst>
              <a:gd name="adj" fmla="val 50000"/>
            </a:avLst>
          </a:prstGeom>
          <a:ln w="9525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11991008" y="609600"/>
            <a:ext cx="1683841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RATIONALITY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3836774" y="533400"/>
            <a:ext cx="1256109" cy="414338"/>
          </a:xfrm>
          <a:prstGeom prst="roundRect">
            <a:avLst>
              <a:gd name="adj" fmla="val 50000"/>
            </a:avLst>
          </a:prstGeom>
          <a:ln w="9525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13998699" y="609600"/>
            <a:ext cx="1008459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5169083" y="533400"/>
            <a:ext cx="2071167" cy="414338"/>
          </a:xfrm>
          <a:prstGeom prst="roundRect">
            <a:avLst>
              <a:gd name="adj" fmla="val 50000"/>
            </a:avLst>
          </a:prstGeom>
          <a:solidFill>
            <a:srgbClr val="7EC9E8">
              <a:alpha val="16000"/>
            </a:srgbClr>
          </a:solidFill>
          <a:ln w="9525">
            <a:solidFill>
              <a:srgbClr val="7EC9E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15331008" y="609600"/>
            <a:ext cx="1823517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7EC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PORTING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47750" y="1619250"/>
            <a:ext cx="4606662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5100" b="1" kern="0" spc="-51" dirty="0">
                <a:solidFill>
                  <a:srgbClr val="F5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 Interface</a:t>
            </a:r>
            <a:endParaRPr lang="en-US" sz="5100" dirty="0"/>
          </a:p>
        </p:txBody>
      </p:sp>
      <p:sp>
        <p:nvSpPr>
          <p:cNvPr id="14" name="Text 12"/>
          <p:cNvSpPr/>
          <p:nvPr/>
        </p:nvSpPr>
        <p:spPr>
          <a:xfrm>
            <a:off x="1047750" y="3143250"/>
            <a:ext cx="8044815" cy="13639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8507"/>
              </a:lnSpc>
              <a:buNone/>
            </a:pPr>
            <a:r>
              <a:rPr lang="en-US" sz="2175" dirty="0">
                <a:solidFill>
                  <a:srgbClr val="DFE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 launch, the app calls Firebase Auth to check whether the browser cache holds an auth key. If not, login proceeds through one of two providers:</a:t>
            </a:r>
            <a:endParaRPr lang="en-US" sz="2175" dirty="0"/>
          </a:p>
        </p:txBody>
      </p:sp>
      <p:sp>
        <p:nvSpPr>
          <p:cNvPr id="15" name="Shape 13"/>
          <p:cNvSpPr/>
          <p:nvPr/>
        </p:nvSpPr>
        <p:spPr>
          <a:xfrm>
            <a:off x="1047750" y="4957242"/>
            <a:ext cx="95250" cy="95250"/>
          </a:xfrm>
          <a:prstGeom prst="ellipse">
            <a:avLst/>
          </a:prstGeom>
          <a:solidFill>
            <a:srgbClr val="F0A48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1314450" y="4850085"/>
            <a:ext cx="2674136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5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Email and Password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047750" y="5457304"/>
            <a:ext cx="95250" cy="95250"/>
          </a:xfrm>
          <a:prstGeom prst="ellipse">
            <a:avLst/>
          </a:prstGeom>
          <a:solidFill>
            <a:srgbClr val="F0A48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1314450" y="5350148"/>
            <a:ext cx="2870671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5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Authentication</a:t>
            </a:r>
            <a:endParaRPr lang="en-US" sz="2100" dirty="0"/>
          </a:p>
        </p:txBody>
      </p:sp>
      <p:pic>
        <p:nvPicPr>
          <p:cNvPr id="20" name="Image 0" descr="preencoded.png"/>
          <p:cNvPicPr>
            <a:picLocks noChangeAspect="1"/>
          </p:cNvPicPr>
          <p:nvPr/>
        </p:nvPicPr>
        <p:blipFill>
          <a:blip r:embed="rId3"/>
          <a:srcRect l="-3423" r="-3423"/>
          <a:stretch/>
        </p:blipFill>
        <p:spPr>
          <a:xfrm>
            <a:off x="11777605" y="2400299"/>
            <a:ext cx="4691119" cy="7019925"/>
          </a:xfrm>
          <a:prstGeom prst="rect">
            <a:avLst/>
          </a:prstGeom>
        </p:spPr>
      </p:pic>
      <p:pic>
        <p:nvPicPr>
          <p:cNvPr id="21" name="Immagine 20">
            <a:extLst>
              <a:ext uri="{FF2B5EF4-FFF2-40B4-BE49-F238E27FC236}">
                <a16:creationId xmlns:a16="http://schemas.microsoft.com/office/drawing/2014/main" id="{DBDDD403-FA81-33AA-595F-9824AE8148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46127" y="9366735"/>
            <a:ext cx="795337" cy="795337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71525"/>
            <a:ext cx="2170971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52" dirty="0">
                <a:solidFill>
                  <a:srgbClr val="7EC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PORTING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3192810" y="807244"/>
            <a:ext cx="9525" cy="190500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3373785" y="762000"/>
            <a:ext cx="2034927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AA1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Registration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828609" y="533400"/>
            <a:ext cx="1924273" cy="414338"/>
          </a:xfrm>
          <a:prstGeom prst="roundRect">
            <a:avLst>
              <a:gd name="adj" fmla="val 50000"/>
            </a:avLst>
          </a:prstGeom>
          <a:ln w="9525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9990534" y="609600"/>
            <a:ext cx="167662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PERCEPTION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1829083" y="533400"/>
            <a:ext cx="1931491" cy="414338"/>
          </a:xfrm>
          <a:prstGeom prst="roundRect">
            <a:avLst>
              <a:gd name="adj" fmla="val 50000"/>
            </a:avLst>
          </a:prstGeom>
          <a:ln w="9525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11991008" y="609600"/>
            <a:ext cx="1683841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RATIONALITY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3836774" y="533400"/>
            <a:ext cx="1256109" cy="414338"/>
          </a:xfrm>
          <a:prstGeom prst="roundRect">
            <a:avLst>
              <a:gd name="adj" fmla="val 50000"/>
            </a:avLst>
          </a:prstGeom>
          <a:ln w="9525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13998699" y="609600"/>
            <a:ext cx="1008459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5169083" y="533400"/>
            <a:ext cx="2071167" cy="414338"/>
          </a:xfrm>
          <a:prstGeom prst="roundRect">
            <a:avLst>
              <a:gd name="adj" fmla="val 50000"/>
            </a:avLst>
          </a:prstGeom>
          <a:solidFill>
            <a:srgbClr val="7EC9E8">
              <a:alpha val="16000"/>
            </a:srgbClr>
          </a:solidFill>
          <a:ln w="9525">
            <a:solidFill>
              <a:srgbClr val="7EC9E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15331008" y="609600"/>
            <a:ext cx="1823517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7EC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PORTING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47750" y="1619250"/>
            <a:ext cx="5256349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buNone/>
            </a:pPr>
            <a:r>
              <a:rPr lang="en-US" sz="5100" b="1" kern="0" spc="-51" dirty="0">
                <a:solidFill>
                  <a:srgbClr val="F5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Registration</a:t>
            </a:r>
            <a:endParaRPr lang="en-US" sz="5100" dirty="0"/>
          </a:p>
        </p:txBody>
      </p:sp>
      <p:sp>
        <p:nvSpPr>
          <p:cNvPr id="14" name="Text 12"/>
          <p:cNvSpPr/>
          <p:nvPr/>
        </p:nvSpPr>
        <p:spPr>
          <a:xfrm>
            <a:off x="1047750" y="3143250"/>
            <a:ext cx="8044815" cy="9219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8507"/>
              </a:lnSpc>
              <a:buNone/>
            </a:pPr>
            <a:r>
              <a:rPr lang="en-US" sz="2175" dirty="0">
                <a:solidFill>
                  <a:srgbClr val="DFE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 first login, we ask for first name, last name, gender, and a goal to work toward through meditation.</a:t>
            </a:r>
            <a:endParaRPr lang="en-US" sz="2175" dirty="0"/>
          </a:p>
        </p:txBody>
      </p:sp>
      <p:sp>
        <p:nvSpPr>
          <p:cNvPr id="15" name="Text 13"/>
          <p:cNvSpPr/>
          <p:nvPr/>
        </p:nvSpPr>
        <p:spPr>
          <a:xfrm>
            <a:off x="1047750" y="4331940"/>
            <a:ext cx="8044815" cy="92199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8507"/>
              </a:lnSpc>
              <a:buNone/>
            </a:pPr>
            <a:r>
              <a:rPr lang="en-US" sz="2175" dirty="0">
                <a:solidFill>
                  <a:srgbClr val="DFE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data is sent to Claude to shape a more personalized experience from the very first session.</a:t>
            </a:r>
            <a:endParaRPr lang="en-US" sz="2175" dirty="0"/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/>
          <a:srcRect t="-4390" b="-4390"/>
          <a:stretch/>
        </p:blipFill>
        <p:spPr>
          <a:xfrm>
            <a:off x="11714507" y="2305877"/>
            <a:ext cx="4754218" cy="7114347"/>
          </a:xfrm>
          <a:prstGeom prst="rect">
            <a:avLst/>
          </a:prstGeom>
        </p:spPr>
      </p:pic>
      <p:pic>
        <p:nvPicPr>
          <p:cNvPr id="18" name="Immagine 17">
            <a:extLst>
              <a:ext uri="{FF2B5EF4-FFF2-40B4-BE49-F238E27FC236}">
                <a16:creationId xmlns:a16="http://schemas.microsoft.com/office/drawing/2014/main" id="{B13FC9CB-CFF0-226B-AA87-B6B1526C62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46127" y="9366735"/>
            <a:ext cx="795337" cy="79533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71525"/>
            <a:ext cx="2170971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52" dirty="0">
                <a:solidFill>
                  <a:srgbClr val="7EC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PORTING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3192810" y="807244"/>
            <a:ext cx="9525" cy="190500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3373785" y="762000"/>
            <a:ext cx="2252417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AA1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Interface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828609" y="533400"/>
            <a:ext cx="1924273" cy="414338"/>
          </a:xfrm>
          <a:prstGeom prst="roundRect">
            <a:avLst>
              <a:gd name="adj" fmla="val 50000"/>
            </a:avLst>
          </a:prstGeom>
          <a:ln w="9525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9990534" y="609600"/>
            <a:ext cx="167662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PERCEPTION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1829083" y="533400"/>
            <a:ext cx="1931491" cy="414338"/>
          </a:xfrm>
          <a:prstGeom prst="roundRect">
            <a:avLst>
              <a:gd name="adj" fmla="val 50000"/>
            </a:avLst>
          </a:prstGeom>
          <a:ln w="9525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11991008" y="609600"/>
            <a:ext cx="1683841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RATIONALITY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3836774" y="533400"/>
            <a:ext cx="1256109" cy="414338"/>
          </a:xfrm>
          <a:prstGeom prst="roundRect">
            <a:avLst>
              <a:gd name="adj" fmla="val 50000"/>
            </a:avLst>
          </a:prstGeom>
          <a:ln w="9525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13998699" y="609600"/>
            <a:ext cx="1008459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5169083" y="533400"/>
            <a:ext cx="2071167" cy="414338"/>
          </a:xfrm>
          <a:prstGeom prst="roundRect">
            <a:avLst>
              <a:gd name="adj" fmla="val 50000"/>
            </a:avLst>
          </a:prstGeom>
          <a:solidFill>
            <a:srgbClr val="7EC9E8">
              <a:alpha val="16000"/>
            </a:srgbClr>
          </a:solidFill>
          <a:ln w="9525">
            <a:solidFill>
              <a:srgbClr val="7EC9E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15331008" y="609600"/>
            <a:ext cx="1823517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7EC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PORTING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47750" y="1619250"/>
            <a:ext cx="5811984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5100" b="1" kern="0" spc="-51" dirty="0">
                <a:solidFill>
                  <a:srgbClr val="F5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Interface</a:t>
            </a:r>
            <a:endParaRPr lang="en-US" sz="5100" dirty="0"/>
          </a:p>
        </p:txBody>
      </p:sp>
      <p:sp>
        <p:nvSpPr>
          <p:cNvPr id="14" name="Shape 12"/>
          <p:cNvSpPr/>
          <p:nvPr/>
        </p:nvSpPr>
        <p:spPr>
          <a:xfrm>
            <a:off x="1047750" y="3255169"/>
            <a:ext cx="85725" cy="85725"/>
          </a:xfrm>
          <a:prstGeom prst="ellipse">
            <a:avLst/>
          </a:prstGeom>
          <a:solidFill>
            <a:srgbClr val="F0A48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1285875" y="3143250"/>
            <a:ext cx="2372171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DFE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Account manager</a:t>
            </a:r>
            <a:endParaRPr lang="en-US" sz="2025" dirty="0"/>
          </a:p>
        </p:txBody>
      </p:sp>
      <p:sp>
        <p:nvSpPr>
          <p:cNvPr id="16" name="Shape 14"/>
          <p:cNvSpPr/>
          <p:nvPr/>
        </p:nvSpPr>
        <p:spPr>
          <a:xfrm>
            <a:off x="1047750" y="3774281"/>
            <a:ext cx="85725" cy="85725"/>
          </a:xfrm>
          <a:prstGeom prst="ellipse">
            <a:avLst/>
          </a:prstGeom>
          <a:solidFill>
            <a:srgbClr val="F0A48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7" name="Text 15"/>
          <p:cNvSpPr/>
          <p:nvPr/>
        </p:nvSpPr>
        <p:spPr>
          <a:xfrm>
            <a:off x="1285875" y="3662362"/>
            <a:ext cx="2654818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DFE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Meditation calendar</a:t>
            </a:r>
            <a:endParaRPr lang="en-US" sz="2025" dirty="0"/>
          </a:p>
        </p:txBody>
      </p:sp>
      <p:sp>
        <p:nvSpPr>
          <p:cNvPr id="18" name="Shape 16"/>
          <p:cNvSpPr/>
          <p:nvPr/>
        </p:nvSpPr>
        <p:spPr>
          <a:xfrm>
            <a:off x="1047750" y="4293394"/>
            <a:ext cx="85725" cy="85725"/>
          </a:xfrm>
          <a:prstGeom prst="ellipse">
            <a:avLst/>
          </a:prstGeom>
          <a:solidFill>
            <a:srgbClr val="F0A48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9" name="Text 17"/>
          <p:cNvSpPr/>
          <p:nvPr/>
        </p:nvSpPr>
        <p:spPr>
          <a:xfrm>
            <a:off x="1285875" y="4181475"/>
            <a:ext cx="2349334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DFE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controller</a:t>
            </a:r>
            <a:endParaRPr lang="en-US" sz="2025" dirty="0"/>
          </a:p>
        </p:txBody>
      </p:sp>
      <p:sp>
        <p:nvSpPr>
          <p:cNvPr id="20" name="Shape 18"/>
          <p:cNvSpPr/>
          <p:nvPr/>
        </p:nvSpPr>
        <p:spPr>
          <a:xfrm>
            <a:off x="1047750" y="4812506"/>
            <a:ext cx="85725" cy="85725"/>
          </a:xfrm>
          <a:prstGeom prst="ellipse">
            <a:avLst/>
          </a:prstGeom>
          <a:solidFill>
            <a:srgbClr val="F0A48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1" name="Text 19"/>
          <p:cNvSpPr/>
          <p:nvPr/>
        </p:nvSpPr>
        <p:spPr>
          <a:xfrm>
            <a:off x="1285875" y="4700588"/>
            <a:ext cx="2030179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DFE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Information tab</a:t>
            </a:r>
            <a:endParaRPr lang="en-US" sz="2025" dirty="0"/>
          </a:p>
        </p:txBody>
      </p:sp>
      <p:sp>
        <p:nvSpPr>
          <p:cNvPr id="22" name="Shape 20"/>
          <p:cNvSpPr/>
          <p:nvPr/>
        </p:nvSpPr>
        <p:spPr>
          <a:xfrm>
            <a:off x="1047750" y="5331619"/>
            <a:ext cx="85725" cy="85725"/>
          </a:xfrm>
          <a:prstGeom prst="ellipse">
            <a:avLst/>
          </a:prstGeom>
          <a:solidFill>
            <a:srgbClr val="F0A48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3" name="Text 21"/>
          <p:cNvSpPr/>
          <p:nvPr/>
        </p:nvSpPr>
        <p:spPr>
          <a:xfrm>
            <a:off x="1285875" y="5219700"/>
            <a:ext cx="1576946" cy="3476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025" dirty="0">
                <a:solidFill>
                  <a:srgbClr val="DFE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button</a:t>
            </a:r>
            <a:endParaRPr lang="en-US" sz="2025" dirty="0"/>
          </a:p>
        </p:txBody>
      </p:sp>
      <p:sp>
        <p:nvSpPr>
          <p:cNvPr id="24" name="Text 22"/>
          <p:cNvSpPr/>
          <p:nvPr/>
        </p:nvSpPr>
        <p:spPr>
          <a:xfrm>
            <a:off x="1047750" y="5948363"/>
            <a:ext cx="6705600" cy="42192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4333"/>
              </a:lnSpc>
              <a:buNone/>
            </a:pPr>
            <a:r>
              <a:rPr lang="en-US" sz="1950" dirty="0">
                <a:solidFill>
                  <a:srgbClr val="7D8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Very few buttons. No controls to learn.</a:t>
            </a:r>
            <a:endParaRPr lang="en-US" sz="1950" dirty="0"/>
          </a:p>
        </p:txBody>
      </p:sp>
      <p:pic>
        <p:nvPicPr>
          <p:cNvPr id="26" name="Image 0" descr="preencoded.png"/>
          <p:cNvPicPr>
            <a:picLocks noChangeAspect="1"/>
          </p:cNvPicPr>
          <p:nvPr/>
        </p:nvPicPr>
        <p:blipFill>
          <a:blip r:embed="rId3"/>
          <a:srcRect t="935"/>
          <a:stretch>
            <a:fillRect/>
          </a:stretch>
        </p:blipFill>
        <p:spPr>
          <a:xfrm>
            <a:off x="6859734" y="3143250"/>
            <a:ext cx="10755862" cy="5938060"/>
          </a:xfrm>
          <a:prstGeom prst="rect">
            <a:avLst/>
          </a:prstGeom>
        </p:spPr>
      </p:pic>
      <p:pic>
        <p:nvPicPr>
          <p:cNvPr id="27" name="Immagine 26">
            <a:extLst>
              <a:ext uri="{FF2B5EF4-FFF2-40B4-BE49-F238E27FC236}">
                <a16:creationId xmlns:a16="http://schemas.microsoft.com/office/drawing/2014/main" id="{AAF52E6D-CE18-70A7-4ACF-310825BD4C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46127" y="9366735"/>
            <a:ext cx="795337" cy="79533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71525"/>
            <a:ext cx="2170971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52" dirty="0">
                <a:solidFill>
                  <a:srgbClr val="7EC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PORTING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3192810" y="807244"/>
            <a:ext cx="9525" cy="190500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3373785" y="762000"/>
            <a:ext cx="1864095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AA1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Narration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828609" y="533400"/>
            <a:ext cx="1924273" cy="414338"/>
          </a:xfrm>
          <a:prstGeom prst="roundRect">
            <a:avLst>
              <a:gd name="adj" fmla="val 50000"/>
            </a:avLst>
          </a:prstGeom>
          <a:ln w="9525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9990534" y="609600"/>
            <a:ext cx="167662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PERCEPTION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1829083" y="533400"/>
            <a:ext cx="1931491" cy="414338"/>
          </a:xfrm>
          <a:prstGeom prst="roundRect">
            <a:avLst>
              <a:gd name="adj" fmla="val 50000"/>
            </a:avLst>
          </a:prstGeom>
          <a:ln w="9525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11991008" y="609600"/>
            <a:ext cx="1683841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RATIONALITY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3836774" y="533400"/>
            <a:ext cx="1256109" cy="414338"/>
          </a:xfrm>
          <a:prstGeom prst="roundRect">
            <a:avLst>
              <a:gd name="adj" fmla="val 50000"/>
            </a:avLst>
          </a:prstGeom>
          <a:ln w="9525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13998699" y="609600"/>
            <a:ext cx="1008459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5169083" y="533400"/>
            <a:ext cx="2071167" cy="414338"/>
          </a:xfrm>
          <a:prstGeom prst="roundRect">
            <a:avLst>
              <a:gd name="adj" fmla="val 50000"/>
            </a:avLst>
          </a:prstGeom>
          <a:solidFill>
            <a:srgbClr val="7EC9E8">
              <a:alpha val="16000"/>
            </a:srgbClr>
          </a:solidFill>
          <a:ln w="9525">
            <a:solidFill>
              <a:srgbClr val="7EC9E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15331008" y="609600"/>
            <a:ext cx="1823517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7EC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PORTING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47750" y="1619250"/>
            <a:ext cx="8488658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5100" b="1" kern="0" spc="-51" dirty="0">
                <a:solidFill>
                  <a:srgbClr val="F5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Giving the Mandala a Voice</a:t>
            </a:r>
            <a:endParaRPr lang="en-US" sz="5100" dirty="0"/>
          </a:p>
        </p:txBody>
      </p:sp>
      <p:sp>
        <p:nvSpPr>
          <p:cNvPr id="14" name="Text 12"/>
          <p:cNvSpPr/>
          <p:nvPr/>
        </p:nvSpPr>
        <p:spPr>
          <a:xfrm>
            <a:off x="1047750" y="3143250"/>
            <a:ext cx="16536865" cy="5457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8507"/>
              </a:lnSpc>
              <a:buNone/>
            </a:pPr>
            <a:r>
              <a:rPr lang="en-US" sz="2175" dirty="0">
                <a:solidFill>
                  <a:srgbClr val="DFE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every sequence, the system generates a short text from the particle narrative — and reads it aloud through text-to-speech.</a:t>
            </a:r>
            <a:endParaRPr lang="en-US" sz="2175" dirty="0"/>
          </a:p>
        </p:txBody>
      </p:sp>
      <p:sp>
        <p:nvSpPr>
          <p:cNvPr id="15" name="Shape 13"/>
          <p:cNvSpPr/>
          <p:nvPr/>
        </p:nvSpPr>
        <p:spPr>
          <a:xfrm>
            <a:off x="1047750" y="5651109"/>
            <a:ext cx="95250" cy="95250"/>
          </a:xfrm>
          <a:prstGeom prst="ellipse">
            <a:avLst/>
          </a:prstGeom>
          <a:solidFill>
            <a:srgbClr val="7EC9E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1314450" y="5551096"/>
            <a:ext cx="3915884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F5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Generated fresh, per sequence</a:t>
            </a:r>
            <a:endParaRPr lang="en-US" sz="2025" dirty="0"/>
          </a:p>
        </p:txBody>
      </p:sp>
      <p:sp>
        <p:nvSpPr>
          <p:cNvPr id="17" name="Shape 15"/>
          <p:cNvSpPr/>
          <p:nvPr/>
        </p:nvSpPr>
        <p:spPr>
          <a:xfrm>
            <a:off x="1047750" y="6136884"/>
            <a:ext cx="95250" cy="95250"/>
          </a:xfrm>
          <a:prstGeom prst="ellipse">
            <a:avLst/>
          </a:prstGeom>
          <a:solidFill>
            <a:srgbClr val="7EC9E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1314450" y="6036871"/>
            <a:ext cx="3176647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F5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aloud automatically</a:t>
            </a:r>
            <a:endParaRPr lang="en-US" sz="2025" dirty="0"/>
          </a:p>
        </p:txBody>
      </p:sp>
      <p:sp>
        <p:nvSpPr>
          <p:cNvPr id="19" name="Shape 17"/>
          <p:cNvSpPr/>
          <p:nvPr/>
        </p:nvSpPr>
        <p:spPr>
          <a:xfrm>
            <a:off x="1047750" y="6622659"/>
            <a:ext cx="95250" cy="95250"/>
          </a:xfrm>
          <a:prstGeom prst="ellipse">
            <a:avLst/>
          </a:prstGeom>
          <a:solidFill>
            <a:srgbClr val="7EC9E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20" name="Text 18"/>
          <p:cNvSpPr/>
          <p:nvPr/>
        </p:nvSpPr>
        <p:spPr>
          <a:xfrm>
            <a:off x="1314450" y="6522646"/>
            <a:ext cx="528426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F5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need to open your eyes to follow along</a:t>
            </a:r>
            <a:endParaRPr lang="en-US" sz="2025" dirty="0"/>
          </a:p>
        </p:txBody>
      </p:sp>
      <p:pic>
        <p:nvPicPr>
          <p:cNvPr id="24" name="Immagine 23">
            <a:extLst>
              <a:ext uri="{FF2B5EF4-FFF2-40B4-BE49-F238E27FC236}">
                <a16:creationId xmlns:a16="http://schemas.microsoft.com/office/drawing/2014/main" id="{248EA695-009E-D66A-F5A0-31A2A477754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493" r="791"/>
          <a:stretch>
            <a:fillRect/>
          </a:stretch>
        </p:blipFill>
        <p:spPr>
          <a:xfrm>
            <a:off x="7461234" y="4304376"/>
            <a:ext cx="9832687" cy="4803921"/>
          </a:xfrm>
          <a:prstGeom prst="rect">
            <a:avLst/>
          </a:prstGeom>
        </p:spPr>
      </p:pic>
      <p:pic>
        <p:nvPicPr>
          <p:cNvPr id="25" name="Immagine 24">
            <a:extLst>
              <a:ext uri="{FF2B5EF4-FFF2-40B4-BE49-F238E27FC236}">
                <a16:creationId xmlns:a16="http://schemas.microsoft.com/office/drawing/2014/main" id="{E9D73691-7BBE-5A63-5991-0667B29097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46127" y="9366735"/>
            <a:ext cx="795337" cy="795337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71525"/>
            <a:ext cx="2170971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52" dirty="0">
                <a:solidFill>
                  <a:srgbClr val="7EC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PORTING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3192810" y="807244"/>
            <a:ext cx="9525" cy="190500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Text 2"/>
          <p:cNvSpPr/>
          <p:nvPr/>
        </p:nvSpPr>
        <p:spPr>
          <a:xfrm>
            <a:off x="3373785" y="762000"/>
            <a:ext cx="1881366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dirty="0">
                <a:solidFill>
                  <a:srgbClr val="9AA1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Session History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9828609" y="533400"/>
            <a:ext cx="1924273" cy="414338"/>
          </a:xfrm>
          <a:prstGeom prst="roundRect">
            <a:avLst>
              <a:gd name="adj" fmla="val 50000"/>
            </a:avLst>
          </a:prstGeom>
          <a:ln w="9525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6" name="Text 4"/>
          <p:cNvSpPr/>
          <p:nvPr/>
        </p:nvSpPr>
        <p:spPr>
          <a:xfrm>
            <a:off x="9990534" y="609600"/>
            <a:ext cx="1676623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PERCEPTION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11829083" y="533400"/>
            <a:ext cx="1931491" cy="414338"/>
          </a:xfrm>
          <a:prstGeom prst="roundRect">
            <a:avLst>
              <a:gd name="adj" fmla="val 50000"/>
            </a:avLst>
          </a:prstGeom>
          <a:ln w="9525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11991008" y="609600"/>
            <a:ext cx="1683841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RATIONALITY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13836774" y="533400"/>
            <a:ext cx="1256109" cy="414338"/>
          </a:xfrm>
          <a:prstGeom prst="roundRect">
            <a:avLst>
              <a:gd name="adj" fmla="val 50000"/>
            </a:avLst>
          </a:prstGeom>
          <a:ln w="9525">
            <a:solidFill>
              <a:srgbClr val="FFFFFF">
                <a:alpha val="12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0" name="Text 8"/>
          <p:cNvSpPr/>
          <p:nvPr/>
        </p:nvSpPr>
        <p:spPr>
          <a:xfrm>
            <a:off x="13998699" y="609600"/>
            <a:ext cx="1008459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15169083" y="533400"/>
            <a:ext cx="2071167" cy="414338"/>
          </a:xfrm>
          <a:prstGeom prst="roundRect">
            <a:avLst>
              <a:gd name="adj" fmla="val 50000"/>
            </a:avLst>
          </a:prstGeom>
          <a:solidFill>
            <a:srgbClr val="7EC9E8">
              <a:alpha val="16000"/>
            </a:srgbClr>
          </a:solidFill>
          <a:ln w="9525">
            <a:solidFill>
              <a:srgbClr val="7EC9E8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2" name="Text 10"/>
          <p:cNvSpPr/>
          <p:nvPr/>
        </p:nvSpPr>
        <p:spPr>
          <a:xfrm>
            <a:off x="15331008" y="609600"/>
            <a:ext cx="1823517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90" dirty="0">
                <a:solidFill>
                  <a:srgbClr val="7EC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WEB PORTING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47750" y="1619250"/>
            <a:ext cx="8039189" cy="7810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5100" b="1" kern="0" spc="-51" dirty="0">
                <a:solidFill>
                  <a:srgbClr val="F5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Sessions, Over Time</a:t>
            </a:r>
            <a:endParaRPr lang="en-US" sz="5100" dirty="0"/>
          </a:p>
        </p:txBody>
      </p:sp>
      <p:sp>
        <p:nvSpPr>
          <p:cNvPr id="14" name="Text 12"/>
          <p:cNvSpPr/>
          <p:nvPr/>
        </p:nvSpPr>
        <p:spPr>
          <a:xfrm>
            <a:off x="1047750" y="4461532"/>
            <a:ext cx="9229299" cy="136393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8507"/>
              </a:lnSpc>
              <a:buNone/>
            </a:pPr>
            <a:r>
              <a:rPr lang="en-US" sz="2175" dirty="0">
                <a:solidFill>
                  <a:srgbClr val="DFE2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calendar of past sessions lets you look back. Each one opens onto its own valence/arousal graph, tracing how the emotion moved during that meditation.</a:t>
            </a:r>
            <a:endParaRPr lang="en-US" sz="2175" dirty="0"/>
          </a:p>
        </p:txBody>
      </p:sp>
      <p:sp>
        <p:nvSpPr>
          <p:cNvPr id="15" name="Shape 13"/>
          <p:cNvSpPr/>
          <p:nvPr/>
        </p:nvSpPr>
        <p:spPr>
          <a:xfrm>
            <a:off x="1047750" y="6268380"/>
            <a:ext cx="95250" cy="95250"/>
          </a:xfrm>
          <a:prstGeom prst="ellipse">
            <a:avLst/>
          </a:prstGeom>
          <a:solidFill>
            <a:srgbClr val="7EC9E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6" name="Text 14"/>
          <p:cNvSpPr/>
          <p:nvPr/>
        </p:nvSpPr>
        <p:spPr>
          <a:xfrm>
            <a:off x="1314450" y="6168367"/>
            <a:ext cx="3884042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F5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Calendar of every past session</a:t>
            </a:r>
            <a:endParaRPr lang="en-US" sz="2025" dirty="0"/>
          </a:p>
        </p:txBody>
      </p:sp>
      <p:sp>
        <p:nvSpPr>
          <p:cNvPr id="17" name="Shape 15"/>
          <p:cNvSpPr/>
          <p:nvPr/>
        </p:nvSpPr>
        <p:spPr>
          <a:xfrm>
            <a:off x="1047750" y="6754155"/>
            <a:ext cx="95250" cy="95250"/>
          </a:xfrm>
          <a:prstGeom prst="ellipse">
            <a:avLst/>
          </a:prstGeom>
          <a:solidFill>
            <a:srgbClr val="7EC9E8"/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18" name="Text 16"/>
          <p:cNvSpPr/>
          <p:nvPr/>
        </p:nvSpPr>
        <p:spPr>
          <a:xfrm>
            <a:off x="1314450" y="6654142"/>
            <a:ext cx="4413729" cy="33337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025" b="1" dirty="0">
                <a:solidFill>
                  <a:srgbClr val="F5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Valence/arousal graph, per session</a:t>
            </a:r>
            <a:endParaRPr lang="en-US" sz="2025" dirty="0"/>
          </a:p>
        </p:txBody>
      </p:sp>
      <p:pic>
        <p:nvPicPr>
          <p:cNvPr id="22" name="Immagine 21">
            <a:extLst>
              <a:ext uri="{FF2B5EF4-FFF2-40B4-BE49-F238E27FC236}">
                <a16:creationId xmlns:a16="http://schemas.microsoft.com/office/drawing/2014/main" id="{39223527-CF4F-5C0F-3AB9-10318CAD72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4677" y="2691984"/>
            <a:ext cx="5588044" cy="6266965"/>
          </a:xfrm>
          <a:prstGeom prst="rect">
            <a:avLst/>
          </a:prstGeom>
        </p:spPr>
      </p:pic>
      <p:pic>
        <p:nvPicPr>
          <p:cNvPr id="23" name="Immagine 22">
            <a:extLst>
              <a:ext uri="{FF2B5EF4-FFF2-40B4-BE49-F238E27FC236}">
                <a16:creationId xmlns:a16="http://schemas.microsoft.com/office/drawing/2014/main" id="{24E1E291-59EF-B038-A371-CEA70C3D07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346127" y="9366735"/>
            <a:ext cx="795337" cy="795337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47750" y="771525"/>
            <a:ext cx="213364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252" dirty="0">
                <a:solidFill>
                  <a:srgbClr val="F0A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PROJECT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3158877" y="807244"/>
            <a:ext cx="9525" cy="190500"/>
          </a:xfrm>
          <a:prstGeom prst="rect">
            <a:avLst/>
          </a:prstGeom>
          <a:solidFill>
            <a:srgbClr val="FFFFFF">
              <a:alpha val="15000"/>
            </a:srgbClr>
          </a:solidFill>
          <a:ln/>
        </p:spPr>
        <p:txBody>
          <a:bodyPr/>
          <a:lstStyle/>
          <a:p>
            <a:endParaRPr lang="it-IT"/>
          </a:p>
        </p:txBody>
      </p:sp>
      <p:sp>
        <p:nvSpPr>
          <p:cNvPr id="5" name="Text 3"/>
          <p:cNvSpPr/>
          <p:nvPr/>
        </p:nvSpPr>
        <p:spPr>
          <a:xfrm>
            <a:off x="1047750" y="1619250"/>
            <a:ext cx="16764000" cy="7381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4800" b="1" kern="0" spc="-48" dirty="0">
                <a:solidFill>
                  <a:srgbClr val="F5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Design Challenge: Reading Emotion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1047750" y="2571750"/>
            <a:ext cx="14716125" cy="80962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0645"/>
              </a:lnSpc>
              <a:buNone/>
            </a:pPr>
            <a:r>
              <a:rPr lang="en-US" sz="2025" dirty="0">
                <a:solidFill>
                  <a:srgbClr val="9AA1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sensors were on the table early on — but they would have added hardware and friction for very little gain on what we actually needed.</a:t>
            </a:r>
            <a:endParaRPr lang="en-US" sz="2025" dirty="0"/>
          </a:p>
        </p:txBody>
      </p:sp>
      <p:sp>
        <p:nvSpPr>
          <p:cNvPr id="7" name="Shape 5"/>
          <p:cNvSpPr/>
          <p:nvPr/>
        </p:nvSpPr>
        <p:spPr>
          <a:xfrm>
            <a:off x="1047750" y="4424363"/>
            <a:ext cx="4953000" cy="2071688"/>
          </a:xfrm>
          <a:prstGeom prst="roundRect">
            <a:avLst>
              <a:gd name="adj" fmla="val 9195"/>
            </a:avLst>
          </a:prstGeom>
          <a:solidFill>
            <a:srgbClr val="12172A"/>
          </a:solidFill>
          <a:ln w="9525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8" name="Text 6"/>
          <p:cNvSpPr/>
          <p:nvPr/>
        </p:nvSpPr>
        <p:spPr>
          <a:xfrm>
            <a:off x="1419225" y="4757738"/>
            <a:ext cx="463105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0A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Facial Emotion Recognition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19225" y="5133975"/>
            <a:ext cx="4336352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lnSpc>
                <a:spcPct val="130909"/>
              </a:lnSpc>
              <a:buNone/>
            </a:pPr>
            <a:r>
              <a:rPr lang="en-US" sz="1800" dirty="0">
                <a:solidFill>
                  <a:srgbClr val="C8CB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Heuristic weights on smile, duchenne and frown, following Russell’s emotional face model.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1047750" y="6743700"/>
            <a:ext cx="4953000" cy="2071688"/>
          </a:xfrm>
          <a:prstGeom prst="roundRect">
            <a:avLst>
              <a:gd name="adj" fmla="val 9195"/>
            </a:avLst>
          </a:prstGeom>
          <a:solidFill>
            <a:srgbClr val="12172A"/>
          </a:solidFill>
          <a:ln w="9525">
            <a:solidFill>
              <a:srgbClr val="FFFFFF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1" name="Text 9"/>
          <p:cNvSpPr/>
          <p:nvPr/>
        </p:nvSpPr>
        <p:spPr>
          <a:xfrm>
            <a:off x="1419225" y="7077075"/>
            <a:ext cx="4631055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0A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User’s Own Story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19225" y="7453312"/>
            <a:ext cx="4336352" cy="10668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30909"/>
              </a:lnSpc>
              <a:buNone/>
            </a:pPr>
            <a:r>
              <a:rPr lang="en-US" sz="1800" dirty="0">
                <a:solidFill>
                  <a:srgbClr val="C8CB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Spoken freely, eyes closed — transcribed locally, without a questionnaire.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771352" y="6442770"/>
            <a:ext cx="346040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4" name="Shape 12"/>
          <p:cNvSpPr/>
          <p:nvPr/>
        </p:nvSpPr>
        <p:spPr>
          <a:xfrm>
            <a:off x="7644140" y="5639622"/>
            <a:ext cx="3829050" cy="1988641"/>
          </a:xfrm>
          <a:prstGeom prst="roundRect">
            <a:avLst>
              <a:gd name="adj" fmla="val 9579"/>
            </a:avLst>
          </a:prstGeom>
          <a:solidFill>
            <a:srgbClr val="171D33"/>
          </a:solidFill>
          <a:ln w="9525">
            <a:solidFill>
              <a:srgbClr val="7EC9E8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5" name="Text 13"/>
          <p:cNvSpPr/>
          <p:nvPr/>
        </p:nvSpPr>
        <p:spPr>
          <a:xfrm>
            <a:off x="7777490" y="5972997"/>
            <a:ext cx="356235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7EC9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7890838" y="6334947"/>
            <a:ext cx="3335655" cy="9980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lnSpc>
                <a:spcPct val="122182"/>
              </a:lnSpc>
              <a:buNone/>
            </a:pPr>
            <a:r>
              <a:rPr lang="en-US" sz="1800" dirty="0">
                <a:solidFill>
                  <a:srgbClr val="7D8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large language model, elaborating both signals together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228567" y="6450587"/>
            <a:ext cx="346040" cy="40481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dirty="0">
                <a:solidFill>
                  <a:srgbClr val="5A61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13116580" y="5810845"/>
            <a:ext cx="3829050" cy="1668661"/>
          </a:xfrm>
          <a:prstGeom prst="roundRect">
            <a:avLst>
              <a:gd name="adj" fmla="val 11416"/>
            </a:avLst>
          </a:prstGeom>
          <a:solidFill>
            <a:srgbClr val="171D33"/>
          </a:solidFill>
          <a:ln w="9525">
            <a:solidFill>
              <a:srgbClr val="F0A488">
                <a:alpha val="35000"/>
              </a:srgbClr>
            </a:solidFill>
            <a:prstDash val="solid"/>
          </a:ln>
        </p:spPr>
        <p:txBody>
          <a:bodyPr/>
          <a:lstStyle/>
          <a:p>
            <a:endParaRPr lang="it-IT"/>
          </a:p>
        </p:txBody>
      </p:sp>
      <p:sp>
        <p:nvSpPr>
          <p:cNvPr id="19" name="Text 17"/>
          <p:cNvSpPr/>
          <p:nvPr/>
        </p:nvSpPr>
        <p:spPr>
          <a:xfrm>
            <a:off x="13249930" y="6144220"/>
            <a:ext cx="3562350" cy="323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950" b="1" dirty="0">
                <a:solidFill>
                  <a:srgbClr val="F0A4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Classified Emotion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13363278" y="6506170"/>
            <a:ext cx="3335655" cy="67806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lnSpc>
                <a:spcPct val="122182"/>
              </a:lnSpc>
              <a:buNone/>
            </a:pPr>
            <a:r>
              <a:rPr lang="en-US" sz="1800" dirty="0">
                <a:solidFill>
                  <a:srgbClr val="7D8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Q1–Q4, guiding phrases, mandala and music</a:t>
            </a:r>
            <a:endParaRPr lang="en-US" sz="1800" dirty="0"/>
          </a:p>
        </p:txBody>
      </p:sp>
      <p:pic>
        <p:nvPicPr>
          <p:cNvPr id="21" name="Immagine 20">
            <a:extLst>
              <a:ext uri="{FF2B5EF4-FFF2-40B4-BE49-F238E27FC236}">
                <a16:creationId xmlns:a16="http://schemas.microsoft.com/office/drawing/2014/main" id="{897C64DB-6EBD-B150-F23D-73EEB15195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46127" y="9366735"/>
            <a:ext cx="795337" cy="795337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5070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>
            <a:alphaModFix amt="50000"/>
          </a:blip>
          <a:srcRect/>
          <a:stretch/>
        </p:blipFill>
        <p:spPr>
          <a:xfrm>
            <a:off x="4857750" y="857250"/>
            <a:ext cx="8572500" cy="8572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gradFill rotWithShape="1">
            <a:gsLst>
              <a:gs pos="0">
                <a:srgbClr val="05070D">
                  <a:alpha val="0"/>
                </a:srgbClr>
              </a:gs>
              <a:gs pos="72000">
                <a:srgbClr val="05070D">
                  <a:alpha val="10000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lstStyle/>
          <a:p>
            <a:endParaRPr lang="it-IT"/>
          </a:p>
        </p:txBody>
      </p:sp>
      <p:sp>
        <p:nvSpPr>
          <p:cNvPr id="4" name="Text 1"/>
          <p:cNvSpPr/>
          <p:nvPr/>
        </p:nvSpPr>
        <p:spPr>
          <a:xfrm>
            <a:off x="-914400" y="3238500"/>
            <a:ext cx="20116800" cy="95726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6300" b="1" kern="0" spc="-63" dirty="0">
                <a:solidFill>
                  <a:srgbClr val="F5F6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6300" dirty="0"/>
          </a:p>
        </p:txBody>
      </p:sp>
      <p:sp>
        <p:nvSpPr>
          <p:cNvPr id="5" name="Text 2"/>
          <p:cNvSpPr/>
          <p:nvPr/>
        </p:nvSpPr>
        <p:spPr>
          <a:xfrm>
            <a:off x="4729163" y="4424363"/>
            <a:ext cx="8829675" cy="8953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lnSpc>
                <a:spcPct val="130435"/>
              </a:lnSpc>
              <a:buNone/>
            </a:pPr>
            <a:r>
              <a:rPr lang="en-US" sz="2250" dirty="0">
                <a:solidFill>
                  <a:srgbClr val="9AA1B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personalized meditation experience — from a face, to particles, to a mandala only you can let go of.</a:t>
            </a:r>
            <a:endParaRPr lang="en-US" sz="2250" dirty="0"/>
          </a:p>
        </p:txBody>
      </p:sp>
      <p:sp>
        <p:nvSpPr>
          <p:cNvPr id="6" name="Text 3"/>
          <p:cNvSpPr/>
          <p:nvPr/>
        </p:nvSpPr>
        <p:spPr>
          <a:xfrm>
            <a:off x="-914400" y="8958263"/>
            <a:ext cx="20116800" cy="31908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7D8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Hamin Jang · Alessandro Cupini · Stefano Morano · Aldo Pinelli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047750" y="762000"/>
            <a:ext cx="1974599" cy="30003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504" dirty="0">
                <a:solidFill>
                  <a:srgbClr val="454C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IN‑MOTION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120</TotalTime>
  <Words>2474</Words>
  <Application>Microsoft Macintosh PowerPoint</Application>
  <PresentationFormat>Custom</PresentationFormat>
  <Paragraphs>427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Aldo Pinelli</cp:lastModifiedBy>
  <cp:revision>5</cp:revision>
  <dcterms:created xsi:type="dcterms:W3CDTF">2026-09-08T09:03:20Z</dcterms:created>
  <dcterms:modified xsi:type="dcterms:W3CDTF">2026-09-08T15:55:39Z</dcterms:modified>
</cp:coreProperties>
</file>